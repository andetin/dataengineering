
<file path=[Content_Types].xml><?xml version="1.0" encoding="utf-8"?>
<Types xmlns="http://schemas.openxmlformats.org/package/2006/content-types">
  <Default Extension="xml" ContentType="application/xml"/>
  <Default Extension="xlsx" ContentType="application/vnd.openxmlformats-officedocument.spreadsheetml.sheet"/>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s/slide6.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charts/chart2.xml" ContentType="application/vnd.openxmlformats-officedocument.drawingml.chart+xml"/>
  <Override PartName="/ppt/tableStyles.xml" ContentType="application/vnd.openxmlformats-officedocument.presentationml.tableStyles+xml"/>
  <Override PartName="/docProps/app.xml" ContentType="application/vnd.openxmlformats-officedocument.extended-properties+xml"/>
  <Override PartName="/ppt/notesSlides/notesSlide3.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viewProps.xml" ContentType="application/vnd.openxmlformats-officedocument.presentationml.viewProps+xml"/>
  <Override PartName="/ppt/slideLayouts/slideLayout1.xml" ContentType="application/vnd.openxmlformats-officedocument.presentationml.slideLayout+xml"/>
  <Override PartName="/ppt/charts/chart1.xml" ContentType="application/vnd.openxmlformats-officedocument.drawingml.chart+xml"/>
  <Override PartName="/ppt/notesSlides/notesSlide2.xml" ContentType="application/vnd.openxmlformats-officedocument.presentationml.notesSlide+xml"/>
  <Override PartName="/ppt/slides/slide7.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theme/theme2.xml" ContentType="application/vnd.openxmlformats-officedocument.theme+xml"/>
  <Override PartName="/ppt/notesMasters/notesMaster1.xml" ContentType="application/vnd.openxmlformats-officedocument.presentationml.notesMaster+xml"/>
  <Override PartName="/ppt/slides/slide5.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2"/>
  </p:notesMasterIdLst>
  <p:sldIdLst>
    <p:sldId id="256" r:id="rId4"/>
    <p:sldId id="257" r:id="rId5"/>
    <p:sldId id="258" r:id="rId6"/>
    <p:sldId id="259" r:id="rId7"/>
    <p:sldId id="260" r:id="rId8"/>
    <p:sldId id="261" r:id="rId9"/>
    <p:sldId id="262" r:id="rId10"/>
    <p:sldId id="263" r:id="rId1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886820480" y="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presProps" Target="presProps.xml" /><Relationship Id="rId14" Type="http://schemas.openxmlformats.org/officeDocument/2006/relationships/tableStyles" Target="tableStyles.xml" /><Relationship Id="rId15"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lineChart>
        <c:grouping val="standard"/>
        <c:varyColors val="0"/>
        <c:ser>
          <c:idx val="0"/>
          <c:order val="0"/>
          <c:tx>
            <c:v>Mean write time</c:v>
          </c:tx>
          <c:spPr bwMode="auto">
            <a:prstGeom prst="rect">
              <a:avLst/>
            </a:prstGeom>
            <a:ln w="28575">
              <a:solidFill>
                <a:srgbClr val="002FA7"/>
              </a:solidFill>
            </a:ln>
          </c:spPr>
          <c:marker>
            <c:symbol val="circle"/>
            <c:size val="6"/>
            <c:spPr bwMode="auto">
              <a:prstGeom prst="rect">
                <a:avLst/>
              </a:prstGeom>
              <a:solidFill>
                <a:srgbClr val="002FA7"/>
              </a:solidFill>
            </c:spPr>
          </c:marker>
          <c:cat>
            <c:strRef>
              <c:f>'Chart Data'!$A$2:$A$19</c:f>
              <c:strCache>
                <c:ptCount val="18"/>
                <c:pt idx="0">
                  <c:v>1</c:v>
                </c:pt>
                <c:pt idx="1">
                  <c:v>2</c:v>
                </c:pt>
                <c:pt idx="2">
                  <c:v>4</c:v>
                </c:pt>
                <c:pt idx="3">
                  <c:v>8</c:v>
                </c:pt>
                <c:pt idx="4">
                  <c:v>16</c:v>
                </c:pt>
                <c:pt idx="5">
                  <c:v>32</c:v>
                </c:pt>
                <c:pt idx="6">
                  <c:v>64</c:v>
                </c:pt>
                <c:pt idx="7">
                  <c:v>128</c:v>
                </c:pt>
                <c:pt idx="8">
                  <c:v>256</c:v>
                </c:pt>
                <c:pt idx="9">
                  <c:v>512</c:v>
                </c:pt>
                <c:pt idx="10">
                  <c:v>1K</c:v>
                </c:pt>
                <c:pt idx="11">
                  <c:v>2K</c:v>
                </c:pt>
                <c:pt idx="12">
                  <c:v>4K</c:v>
                </c:pt>
                <c:pt idx="13">
                  <c:v>8K</c:v>
                </c:pt>
                <c:pt idx="14">
                  <c:v>16K</c:v>
                </c:pt>
                <c:pt idx="15">
                  <c:v>32K</c:v>
                </c:pt>
                <c:pt idx="16">
                  <c:v>64K</c:v>
                </c:pt>
                <c:pt idx="17">
                  <c:v>128K</c:v>
                </c:pt>
              </c:strCache>
            </c:strRef>
          </c:cat>
          <c:val>
            <c:numRef>
              <c:f>'Chart Data'!$B$2:$B$19</c:f>
              <c:numCache>
                <c:formatCode>0</c:formatCode>
                <c:ptCount val="18"/>
                <c:pt idx="0">
                  <c:v>1092.1794</c:v>
                </c:pt>
                <c:pt idx="1">
                  <c:v>552.9115</c:v>
                </c:pt>
                <c:pt idx="2">
                  <c:v>275.9011</c:v>
                </c:pt>
                <c:pt idx="3">
                  <c:v>139.0572</c:v>
                </c:pt>
                <c:pt idx="4">
                  <c:v>70.5092</c:v>
                </c:pt>
                <c:pt idx="5">
                  <c:v>36.9868</c:v>
                </c:pt>
                <c:pt idx="6">
                  <c:v>17.8127</c:v>
                </c:pt>
                <c:pt idx="7">
                  <c:v>9.3028</c:v>
                </c:pt>
                <c:pt idx="8">
                  <c:v>5.0387</c:v>
                </c:pt>
                <c:pt idx="9">
                  <c:v>2.8923</c:v>
                </c:pt>
                <c:pt idx="10">
                  <c:v>1.8717</c:v>
                </c:pt>
                <c:pt idx="11">
                  <c:v>1.325</c:v>
                </c:pt>
                <c:pt idx="12">
                  <c:v>0.9689</c:v>
                </c:pt>
                <c:pt idx="13">
                  <c:v>1.0227</c:v>
                </c:pt>
                <c:pt idx="14">
                  <c:v>1.0604</c:v>
                </c:pt>
                <c:pt idx="15">
                  <c:v>1.0506</c:v>
                </c:pt>
                <c:pt idx="16">
                  <c:v>1.0739</c:v>
                </c:pt>
                <c:pt idx="17">
                  <c:v>1.1144</c:v>
                </c:pt>
              </c:numCache>
            </c:numRef>
          </c:val>
          <c:smooth val="0"/>
        </c:ser>
        <c:dLbls>
          <c:showBubbleSize val="0"/>
          <c:showCatName val="0"/>
          <c:showLeaderLines val="0"/>
          <c:showLegendKey val="0"/>
          <c:showPercent val="0"/>
          <c:showSerName val="0"/>
          <c:showVal val="0"/>
          <c:txPr>
            <a:bodyPr anchorCtr="1"/>
            <a:lstStyle/>
            <a:p>
              <a:pPr>
                <a:defRPr>
                  <a:latin typeface="Microsoft JhengHei"/>
                  <a:ea typeface="Microsoft JhengHei"/>
                  <a:cs typeface="Microsoft JhengHei"/>
                </a:defRPr>
              </a:pPr>
              <a:endParaRPr/>
            </a:p>
          </c:txPr>
        </c:dLbls>
        <c:smooth val="0"/>
        <c:axId val="48650112"/>
        <c:axId val="48672768"/>
      </c:lineChart>
      <c:catAx>
        <c:axId val="48650112"/>
        <c:scaling>
          <c:orientation val="minMax"/>
        </c:scaling>
        <c:delete val="0"/>
        <c:axPos val="b"/>
        <c:title>
          <c:tx>
            <c:rich>
              <a:bodyPr/>
              <a:lstStyle/>
              <a:p>
                <a:pPr>
                  <a:defRPr/>
                </a:pPr>
                <a:r>
                  <a:rPr sz="1200">
                    <a:solidFill>
                      <a:srgbClr val="737373"/>
                    </a:solidFill>
                    <a:latin typeface="Microsoft JhengHei"/>
                    <a:ea typeface="Microsoft JhengHei"/>
                    <a:cs typeface="Microsoft JhengHei"/>
                  </a:rPr>
                  <a:t>Block size (bytes; K = KiB; powers of 2)</a:t>
                </a:r>
                <a:endParaRPr/>
              </a:p>
            </c:rich>
          </c:tx>
          <c:layout/>
          <c:overlay val="0"/>
          <c:txPr>
            <a:bodyPr anchorCtr="1"/>
            <a:lstStyle/>
            <a:p>
              <a:pPr>
                <a:defRPr sz="1200">
                  <a:solidFill>
                    <a:srgbClr val="737373"/>
                  </a:solidFill>
                  <a:latin typeface="Microsoft JhengHei"/>
                  <a:ea typeface="Microsoft JhengHei"/>
                  <a:cs typeface="Microsoft JhengHei"/>
                </a:defRPr>
              </a:pPr>
              <a:endParaRPr/>
            </a:p>
          </c:txPr>
        </c:title>
        <c:numFmt formatCode="General"/>
        <c:majorTickMark val="none"/>
        <c:minorTickMark val="none"/>
        <c:spPr bwMode="auto">
          <a:prstGeom prst="rect">
            <a:avLst/>
          </a:prstGeom>
          <a:ln w="9525">
            <a:solidFill>
              <a:srgbClr val="D4D4D2"/>
            </a:solidFill>
          </a:ln>
        </c:spPr>
        <c:txPr>
          <a:bodyPr anchorCtr="1"/>
          <a:lstStyle/>
          <a:p>
            <a:pPr>
              <a:defRPr sz="1000">
                <a:solidFill>
                  <a:srgbClr val="737373"/>
                </a:solidFill>
                <a:latin typeface="Microsoft JhengHei"/>
                <a:ea typeface="Microsoft JhengHei"/>
                <a:cs typeface="Microsoft JhengHei"/>
              </a:defRPr>
            </a:pPr>
            <a:endParaRPr/>
          </a:p>
        </c:txPr>
        <c:crossAx val="48672768"/>
        <c:crosses val="autoZero"/>
        <c:noMultiLvlLbl val="0"/>
      </c:catAx>
      <c:valAx>
        <c:axId val="48672768"/>
        <c:scaling>
          <c:orientation val="minMax"/>
          <c:max val="1200.000000"/>
          <c:min val="0.000000"/>
        </c:scaling>
        <c:delete val="0"/>
        <c:axPos val="l"/>
        <c:majorGridlines>
          <c:spPr bwMode="auto">
            <a:prstGeom prst="rect">
              <a:avLst/>
            </a:prstGeom>
            <a:ln w="9525">
              <a:solidFill>
                <a:srgbClr val="D4D4D2"/>
              </a:solidFill>
            </a:ln>
          </c:spPr>
        </c:majorGridlines>
        <c:title>
          <c:tx>
            <c:rich>
              <a:bodyPr/>
              <a:lstStyle/>
              <a:p>
                <a:pPr>
                  <a:defRPr/>
                </a:pPr>
                <a:r>
                  <a:rPr sz="1200">
                    <a:solidFill>
                      <a:srgbClr val="737373"/>
                    </a:solidFill>
                    <a:latin typeface="Microsoft JhengHei"/>
                    <a:ea typeface="Microsoft JhengHei"/>
                    <a:cs typeface="Microsoft JhengHei"/>
                  </a:rPr>
                  <a:t>Mean write time (ms)</a:t>
                </a:r>
                <a:endParaRPr/>
              </a:p>
            </c:rich>
          </c:tx>
          <c:layout/>
          <c:overlay val="0"/>
          <c:txPr>
            <a:bodyPr anchorCtr="1"/>
            <a:lstStyle/>
            <a:p>
              <a:pPr>
                <a:defRPr sz="1200">
                  <a:solidFill>
                    <a:srgbClr val="737373"/>
                  </a:solidFill>
                  <a:latin typeface="Microsoft JhengHei"/>
                  <a:ea typeface="Microsoft JhengHei"/>
                  <a:cs typeface="Microsoft JhengHei"/>
                </a:defRPr>
              </a:pPr>
              <a:endParaRPr/>
            </a:p>
          </c:txPr>
        </c:title>
        <c:numFmt formatCode="0"/>
        <c:majorTickMark val="none"/>
        <c:minorTickMark val="none"/>
        <c:spPr bwMode="auto">
          <a:prstGeom prst="rect">
            <a:avLst/>
          </a:prstGeom>
          <a:ln w="9525">
            <a:solidFill>
              <a:srgbClr val="D4D4D4"/>
            </a:solidFill>
            <a:prstDash val="solid"/>
          </a:ln>
        </c:spPr>
        <c:txPr>
          <a:bodyPr anchorCtr="1"/>
          <a:lstStyle/>
          <a:p>
            <a:pPr>
              <a:defRPr sz="1050">
                <a:solidFill>
                  <a:srgbClr val="737373"/>
                </a:solidFill>
                <a:latin typeface="Microsoft JhengHei"/>
                <a:ea typeface="Microsoft JhengHei"/>
                <a:cs typeface="Microsoft JhengHei"/>
              </a:defRPr>
            </a:pPr>
            <a:endParaRPr/>
          </a:p>
        </c:txPr>
        <c:crossAx val="48650112"/>
        <c:crosses val="autoZero"/>
        <c:crossBetween val="between"/>
        <c:majorUnit val="200.000000"/>
      </c:valAx>
      <c:spPr bwMode="auto">
        <a:prstGeom prst="rect">
          <a:avLst/>
        </a:prstGeom>
        <a:solidFill>
          <a:srgbClr val="FAFAF8"/>
        </a:solidFill>
      </c:spPr>
    </c:plotArea>
    <c:plotVisOnly val="1"/>
    <c:showDLblsOverMax val="0"/>
  </c:chart>
  <c:spPr bwMode="auto">
    <a:xfrm rot="0">
      <a:off x="666750" y="1524000"/>
      <a:ext cx="10810875" cy="3905250"/>
    </a:xfrm>
    <a:prstGeom prst="rect">
      <a:avLst/>
    </a:prstGeom>
    <a:solidFill>
      <a:srgbClr val="FAFAF8"/>
    </a:solidFill>
  </c:sp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lineChart>
        <c:grouping val="standard"/>
        <c:varyColors val="0"/>
        <c:ser>
          <c:idx val="0"/>
          <c:order val="0"/>
          <c:tx>
            <c:v>Mean write time</c:v>
          </c:tx>
          <c:spPr bwMode="auto">
            <a:prstGeom prst="rect">
              <a:avLst/>
            </a:prstGeom>
            <a:ln w="28575">
              <a:solidFill>
                <a:srgbClr val="002FA7"/>
              </a:solidFill>
            </a:ln>
          </c:spPr>
          <c:marker>
            <c:symbol val="circle"/>
            <c:size val="8"/>
            <c:spPr bwMode="auto">
              <a:prstGeom prst="rect">
                <a:avLst/>
              </a:prstGeom>
              <a:solidFill>
                <a:srgbClr val="002FA7"/>
              </a:solidFill>
            </c:spPr>
          </c:marker>
          <c:cat>
            <c:strRef>
              <c:f>'Chart Data'!$A$2:$A$7</c:f>
              <c:strCache>
                <c:ptCount val="6"/>
                <c:pt idx="0">
                  <c:v>4 KiB</c:v>
                </c:pt>
                <c:pt idx="1">
                  <c:v>8 KiB</c:v>
                </c:pt>
                <c:pt idx="2">
                  <c:v>16 KiB</c:v>
                </c:pt>
                <c:pt idx="3">
                  <c:v>32 KiB</c:v>
                </c:pt>
                <c:pt idx="4">
                  <c:v>64 KiB</c:v>
                </c:pt>
                <c:pt idx="5">
                  <c:v>128 KiB</c:v>
                </c:pt>
              </c:strCache>
            </c:strRef>
          </c:cat>
          <c:val>
            <c:numRef>
              <c:f>'Chart Data'!$B$2:$B$7</c:f>
              <c:numCache>
                <c:formatCode>0.0</c:formatCode>
                <c:ptCount val="6"/>
                <c:pt idx="0">
                  <c:v>0.9689</c:v>
                </c:pt>
                <c:pt idx="1">
                  <c:v>1.0227</c:v>
                </c:pt>
                <c:pt idx="2">
                  <c:v>1.0604</c:v>
                </c:pt>
                <c:pt idx="3">
                  <c:v>1.0506</c:v>
                </c:pt>
                <c:pt idx="4">
                  <c:v>1.0739</c:v>
                </c:pt>
                <c:pt idx="5">
                  <c:v>1.1144</c:v>
                </c:pt>
              </c:numCache>
            </c:numRef>
          </c:val>
          <c:smooth val="0"/>
        </c:ser>
        <c:dLbls>
          <c:showBubbleSize val="0"/>
          <c:showCatName val="0"/>
          <c:showLeaderLines val="0"/>
          <c:showLegendKey val="0"/>
          <c:showPercent val="0"/>
          <c:showSerName val="0"/>
          <c:showVal val="0"/>
          <c:txPr>
            <a:bodyPr anchorCtr="1"/>
            <a:lstStyle/>
            <a:p>
              <a:pPr>
                <a:defRPr>
                  <a:latin typeface="Microsoft JhengHei"/>
                  <a:ea typeface="Microsoft JhengHei"/>
                  <a:cs typeface="Microsoft JhengHei"/>
                </a:defRPr>
              </a:pPr>
              <a:endParaRPr/>
            </a:p>
          </c:txPr>
        </c:dLbls>
        <c:smooth val="0"/>
        <c:axId val="48650112"/>
        <c:axId val="48672768"/>
      </c:lineChart>
      <c:catAx>
        <c:axId val="48650112"/>
        <c:scaling>
          <c:orientation val="minMax"/>
        </c:scaling>
        <c:delete val="0"/>
        <c:axPos val="b"/>
        <c:title>
          <c:tx>
            <c:rich>
              <a:bodyPr/>
              <a:lstStyle/>
              <a:p>
                <a:pPr>
                  <a:defRPr/>
                </a:pPr>
                <a:r>
                  <a:rPr sz="1300">
                    <a:solidFill>
                      <a:srgbClr val="737373"/>
                    </a:solidFill>
                    <a:latin typeface="Microsoft JhengHei"/>
                    <a:ea typeface="Microsoft JhengHei"/>
                    <a:cs typeface="Microsoft JhengHei"/>
                  </a:rPr>
                  <a:t>區塊大小</a:t>
                </a:r>
                <a:endParaRPr/>
              </a:p>
            </c:rich>
          </c:tx>
          <c:layout/>
          <c:overlay val="0"/>
          <c:txPr>
            <a:bodyPr anchorCtr="1"/>
            <a:lstStyle/>
            <a:p>
              <a:pPr>
                <a:defRPr sz="1300">
                  <a:solidFill>
                    <a:srgbClr val="737373"/>
                  </a:solidFill>
                  <a:latin typeface="Microsoft JhengHei"/>
                  <a:ea typeface="Microsoft JhengHei"/>
                  <a:cs typeface="Microsoft JhengHei"/>
                </a:defRPr>
              </a:pPr>
              <a:endParaRPr/>
            </a:p>
          </c:txPr>
        </c:title>
        <c:numFmt formatCode="General"/>
        <c:majorTickMark val="none"/>
        <c:minorTickMark val="none"/>
        <c:spPr bwMode="auto">
          <a:prstGeom prst="rect">
            <a:avLst/>
          </a:prstGeom>
          <a:ln w="9525">
            <a:solidFill>
              <a:srgbClr val="D4D4D2"/>
            </a:solidFill>
          </a:ln>
        </c:spPr>
        <c:txPr>
          <a:bodyPr anchorCtr="1"/>
          <a:lstStyle/>
          <a:p>
            <a:pPr>
              <a:defRPr sz="1300">
                <a:solidFill>
                  <a:srgbClr val="737373"/>
                </a:solidFill>
                <a:latin typeface="Microsoft JhengHei"/>
                <a:ea typeface="Microsoft JhengHei"/>
                <a:cs typeface="Microsoft JhengHei"/>
              </a:defRPr>
            </a:pPr>
            <a:endParaRPr/>
          </a:p>
        </c:txPr>
        <c:crossAx val="48672768"/>
        <c:crosses val="autoZero"/>
        <c:noMultiLvlLbl val="0"/>
      </c:catAx>
      <c:valAx>
        <c:axId val="48672768"/>
        <c:scaling>
          <c:orientation val="minMax"/>
          <c:max val="1.200000"/>
          <c:min val="0.800000"/>
        </c:scaling>
        <c:delete val="0"/>
        <c:axPos val="l"/>
        <c:majorGridlines>
          <c:spPr bwMode="auto">
            <a:prstGeom prst="rect">
              <a:avLst/>
            </a:prstGeom>
            <a:ln w="9525">
              <a:solidFill>
                <a:srgbClr val="D4D4D2"/>
              </a:solidFill>
            </a:ln>
          </c:spPr>
        </c:majorGridlines>
        <c:title>
          <c:tx>
            <c:rich>
              <a:bodyPr/>
              <a:lstStyle/>
              <a:p>
                <a:pPr>
                  <a:defRPr/>
                </a:pPr>
                <a:r>
                  <a:rPr sz="1300">
                    <a:solidFill>
                      <a:srgbClr val="737373"/>
                    </a:solidFill>
                    <a:latin typeface="Microsoft JhengHei"/>
                    <a:ea typeface="Microsoft JhengHei"/>
                    <a:cs typeface="Microsoft JhengHei"/>
                  </a:rPr>
                  <a:t>Mean write time (ms)</a:t>
                </a:r>
                <a:endParaRPr/>
              </a:p>
            </c:rich>
          </c:tx>
          <c:layout/>
          <c:overlay val="0"/>
          <c:txPr>
            <a:bodyPr anchorCtr="1"/>
            <a:lstStyle/>
            <a:p>
              <a:pPr>
                <a:defRPr sz="1300">
                  <a:solidFill>
                    <a:srgbClr val="737373"/>
                  </a:solidFill>
                  <a:latin typeface="Microsoft JhengHei"/>
                  <a:ea typeface="Microsoft JhengHei"/>
                  <a:cs typeface="Microsoft JhengHei"/>
                </a:defRPr>
              </a:pPr>
              <a:endParaRPr/>
            </a:p>
          </c:txPr>
        </c:title>
        <c:numFmt formatCode="0.0"/>
        <c:majorTickMark val="none"/>
        <c:minorTickMark val="none"/>
        <c:spPr bwMode="auto">
          <a:prstGeom prst="rect">
            <a:avLst/>
          </a:prstGeom>
          <a:ln w="9525">
            <a:solidFill>
              <a:srgbClr val="D4D4D4"/>
            </a:solidFill>
            <a:prstDash val="solid"/>
          </a:ln>
        </c:spPr>
        <c:txPr>
          <a:bodyPr anchorCtr="1"/>
          <a:lstStyle/>
          <a:p>
            <a:pPr>
              <a:defRPr sz="1150">
                <a:solidFill>
                  <a:srgbClr val="737373"/>
                </a:solidFill>
                <a:latin typeface="Microsoft JhengHei"/>
                <a:ea typeface="Microsoft JhengHei"/>
                <a:cs typeface="Microsoft JhengHei"/>
              </a:defRPr>
            </a:pPr>
            <a:endParaRPr/>
          </a:p>
        </c:txPr>
        <c:crossAx val="48650112"/>
        <c:crosses val="autoZero"/>
        <c:crossBetween val="between"/>
        <c:majorUnit val="0.100000"/>
      </c:valAx>
      <c:spPr bwMode="auto">
        <a:prstGeom prst="rect">
          <a:avLst/>
        </a:prstGeom>
        <a:solidFill>
          <a:srgbClr val="FAFAF8"/>
        </a:solidFill>
      </c:spPr>
    </c:plotArea>
    <c:plotVisOnly val="1"/>
    <c:showDLblsOverMax val="0"/>
  </c:chart>
  <c:spPr bwMode="auto">
    <a:xfrm rot="0">
      <a:off x="857250" y="1619250"/>
      <a:ext cx="10477500" cy="3733800"/>
    </a:xfrm>
    <a:prstGeom prst="rect">
      <a:avLst/>
    </a:prstGeom>
    <a:solidFill>
      <a:srgbClr val="FAFAF8"/>
    </a:solidFill>
  </c:spPr>
  <c:externalData r:id="rId1">
    <c:autoUpdate val="1"/>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HDD read time</c:v>
          </c:tx>
          <c:spPr bwMode="auto">
            <a:prstGeom prst="rect">
              <a:avLst/>
            </a:prstGeom>
            <a:solidFill>
              <a:srgbClr val="002FA7"/>
            </a:solidFill>
          </c:spPr>
          <c:cat>
            <c:strRef>
              <c:f>'Chart Data'!$A$2:$A$3</c:f>
              <c:strCache>
                <c:ptCount val="2"/>
                <c:pt idx="0">
                  <c:v>Sequential</c:v>
                </c:pt>
                <c:pt idx="1">
                  <c:v>Random</c:v>
                </c:pt>
              </c:strCache>
            </c:strRef>
          </c:cat>
          <c:val>
            <c:numRef>
              <c:f>'Chart Data'!$B$2:$B$3</c:f>
              <c:numCache>
                <c:formatCode>0</c:formatCode>
                <c:ptCount val="2"/>
                <c:pt idx="0">
                  <c:v>51.5349</c:v>
                </c:pt>
                <c:pt idx="1">
                  <c:v>57.9681</c:v>
                </c:pt>
              </c:numCache>
            </c:numRef>
          </c:val>
        </c:ser>
        <c:dLbls>
          <c:dLblPos val="outEnd"/>
          <c:showBubbleSize val="0"/>
          <c:showCatName val="0"/>
          <c:showLeaderLines val="0"/>
          <c:showLegendKey val="0"/>
          <c:showPercent val="0"/>
          <c:showSerName val="0"/>
          <c:showVal val="1"/>
          <c:txPr>
            <a:bodyPr anchorCtr="1"/>
            <a:lstStyle/>
            <a:p>
              <a:pPr>
                <a:defRPr sz="1500" b="1">
                  <a:solidFill>
                    <a:srgbClr val="0A0A0A"/>
                  </a:solidFill>
                  <a:latin typeface="Microsoft JhengHei"/>
                  <a:ea typeface="Microsoft JhengHei"/>
                  <a:cs typeface="Microsoft JhengHei"/>
                </a:defRPr>
              </a:pPr>
              <a:endParaRPr/>
            </a:p>
          </c:txPr>
        </c:dLbls>
        <c:gapWidth val="115"/>
        <c:axId val="48650112"/>
        <c:axId val="48672768"/>
      </c:barChart>
      <c:catAx>
        <c:axId val="48650112"/>
        <c:scaling>
          <c:orientation val="minMax"/>
        </c:scaling>
        <c:delete val="0"/>
        <c:axPos val="b"/>
        <c:title>
          <c:tx>
            <c:rich>
              <a:bodyPr/>
              <a:lstStyle/>
              <a:p>
                <a:pPr>
                  <a:defRPr/>
                </a:pPr>
                <a:r>
                  <a:rPr sz="1300">
                    <a:solidFill>
                      <a:srgbClr val="737373"/>
                    </a:solidFill>
                    <a:latin typeface="Microsoft JhengHei"/>
                    <a:ea typeface="Microsoft JhengHei"/>
                    <a:cs typeface="Microsoft JhengHei"/>
                  </a:rPr>
                  <a:t>Read method</a:t>
                </a:r>
                <a:endParaRPr/>
              </a:p>
            </c:rich>
          </c:tx>
          <c:layout/>
          <c:overlay val="0"/>
          <c:txPr>
            <a:bodyPr anchorCtr="1"/>
            <a:lstStyle/>
            <a:p>
              <a:pPr>
                <a:defRPr sz="1300">
                  <a:solidFill>
                    <a:srgbClr val="737373"/>
                  </a:solidFill>
                  <a:latin typeface="Microsoft JhengHei"/>
                  <a:ea typeface="Microsoft JhengHei"/>
                  <a:cs typeface="Microsoft JhengHei"/>
                </a:defRPr>
              </a:pPr>
              <a:endParaRPr/>
            </a:p>
          </c:txPr>
        </c:title>
        <c:numFmt formatCode="General"/>
        <c:majorTickMark val="none"/>
        <c:minorTickMark val="none"/>
        <c:spPr bwMode="auto">
          <a:prstGeom prst="rect">
            <a:avLst/>
          </a:prstGeom>
          <a:ln w="9525">
            <a:solidFill>
              <a:srgbClr val="D4D4D2"/>
            </a:solidFill>
          </a:ln>
        </c:spPr>
        <c:txPr>
          <a:bodyPr anchorCtr="1"/>
          <a:lstStyle/>
          <a:p>
            <a:pPr>
              <a:defRPr sz="1500">
                <a:solidFill>
                  <a:srgbClr val="0A0A0A"/>
                </a:solidFill>
                <a:latin typeface="Microsoft JhengHei"/>
                <a:ea typeface="Microsoft JhengHei"/>
                <a:cs typeface="Microsoft JhengHei"/>
              </a:defRPr>
            </a:pPr>
            <a:endParaRPr/>
          </a:p>
        </c:txPr>
        <c:crossAx val="48672768"/>
        <c:crosses val="autoZero"/>
        <c:noMultiLvlLbl val="0"/>
      </c:catAx>
      <c:valAx>
        <c:axId val="48672768"/>
        <c:scaling>
          <c:orientation val="minMax"/>
          <c:max val="70.000000"/>
          <c:min val="0.000000"/>
        </c:scaling>
        <c:delete val="0"/>
        <c:axPos val="l"/>
        <c:majorGridlines>
          <c:spPr bwMode="auto">
            <a:prstGeom prst="rect">
              <a:avLst/>
            </a:prstGeom>
            <a:ln w="9525">
              <a:solidFill>
                <a:srgbClr val="D4D4D2"/>
              </a:solidFill>
            </a:ln>
          </c:spPr>
        </c:majorGridlines>
        <c:title>
          <c:tx>
            <c:rich>
              <a:bodyPr/>
              <a:lstStyle/>
              <a:p>
                <a:pPr>
                  <a:defRPr/>
                </a:pPr>
                <a:r>
                  <a:rPr sz="1300">
                    <a:solidFill>
                      <a:srgbClr val="737373"/>
                    </a:solidFill>
                    <a:latin typeface="Microsoft JhengHei"/>
                    <a:ea typeface="Microsoft JhengHei"/>
                    <a:cs typeface="Microsoft JhengHei"/>
                  </a:rPr>
                  <a:t>Execution time (ms)</a:t>
                </a:r>
                <a:endParaRPr/>
              </a:p>
            </c:rich>
          </c:tx>
          <c:layout/>
          <c:overlay val="0"/>
          <c:txPr>
            <a:bodyPr anchorCtr="1"/>
            <a:lstStyle/>
            <a:p>
              <a:pPr>
                <a:defRPr sz="1300">
                  <a:solidFill>
                    <a:srgbClr val="737373"/>
                  </a:solidFill>
                  <a:latin typeface="Microsoft JhengHei"/>
                  <a:ea typeface="Microsoft JhengHei"/>
                  <a:cs typeface="Microsoft JhengHei"/>
                </a:defRPr>
              </a:pPr>
              <a:endParaRPr/>
            </a:p>
          </c:txPr>
        </c:title>
        <c:numFmt formatCode="0"/>
        <c:majorTickMark val="none"/>
        <c:minorTickMark val="none"/>
        <c:spPr bwMode="auto">
          <a:prstGeom prst="rect">
            <a:avLst/>
          </a:prstGeom>
          <a:ln w="9525">
            <a:solidFill>
              <a:srgbClr val="D4D4D4"/>
            </a:solidFill>
            <a:prstDash val="solid"/>
          </a:ln>
        </c:spPr>
        <c:txPr>
          <a:bodyPr anchorCtr="1"/>
          <a:lstStyle/>
          <a:p>
            <a:pPr>
              <a:defRPr sz="1150">
                <a:solidFill>
                  <a:srgbClr val="737373"/>
                </a:solidFill>
                <a:latin typeface="Microsoft JhengHei"/>
                <a:ea typeface="Microsoft JhengHei"/>
                <a:cs typeface="Microsoft JhengHei"/>
              </a:defRPr>
            </a:pPr>
            <a:endParaRPr/>
          </a:p>
        </c:txPr>
        <c:crossAx val="48650112"/>
        <c:crosses val="autoZero"/>
        <c:crossBetween val="between"/>
        <c:majorUnit val="10.000000"/>
      </c:valAx>
      <c:spPr bwMode="auto">
        <a:prstGeom prst="rect">
          <a:avLst/>
        </a:prstGeom>
        <a:solidFill>
          <a:srgbClr val="FAFAF8"/>
        </a:solidFill>
      </c:spPr>
    </c:plotArea>
    <c:plotVisOnly val="1"/>
    <c:showDLblsOverMax val="0"/>
  </c:chart>
  <c:spPr bwMode="auto">
    <a:xfrm rot="0">
      <a:off x="904875" y="1571625"/>
      <a:ext cx="10382250" cy="3762375"/>
    </a:xfrm>
    <a:prstGeom prst="rect">
      <a:avLst/>
    </a:prstGeom>
    <a:solidFill>
      <a:srgbClr val="FAFAF8"/>
    </a:solidFill>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embeddings/_rels/Microsoft_Excel_Worksheet2.xlsx.rels><?xml version="1.0" encoding="UTF-8" standalone="yes"?><Relationships xmlns="http://schemas.openxmlformats.org/package/2006/relationships"></Relationships>
</file>

<file path=ppt/embeddings/_rels/Microsoft_Excel_Worksheet3.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29694202" name="Header Placeholder"/>
          <p:cNvSpPr/>
          <p:nvPr>
            <p:ph type="hdr" sz="quarter"/>
          </p:nvPr>
        </p:nvSpPr>
        <p:spPr bwMode="auto">
          <a:prstGeom prst="rect">
            <a:avLst/>
          </a:prstGeom>
        </p:spPr>
        <p:txBody>
          <a:bodyPr/>
          <a:lstStyle/>
          <a:p>
            <a:pPr>
              <a:defRPr/>
            </a:pPr>
            <a:endParaRPr/>
          </a:p>
        </p:txBody>
      </p:sp>
      <p:sp>
        <p:nvSpPr>
          <p:cNvPr id="2107427436" name="Date Placeholder"/>
          <p:cNvSpPr/>
          <p:nvPr>
            <p:ph type="dt" sz="quarter" idx="1"/>
          </p:nvPr>
        </p:nvSpPr>
        <p:spPr bwMode="auto">
          <a:prstGeom prst="rect">
            <a:avLst/>
          </a:prstGeom>
        </p:spPr>
        <p:txBody>
          <a:bodyPr/>
          <a:lstStyle/>
          <a:p>
            <a:pPr>
              <a:defRPr/>
            </a:pPr>
            <a:endParaRPr/>
          </a:p>
        </p:txBody>
      </p:sp>
      <p:sp>
        <p:nvSpPr>
          <p:cNvPr id="956335883" name="Slide Image Placeholder"/>
          <p:cNvSpPr/>
          <p:nvPr>
            <p:ph type="sldImg" idx="2"/>
          </p:nvPr>
        </p:nvSpPr>
        <p:spPr bwMode="auto">
          <a:prstGeom prst="rect">
            <a:avLst/>
          </a:prstGeom>
        </p:spPr>
        <p:txBody>
          <a:bodyPr/>
          <a:lstStyle/>
          <a:p>
            <a:pPr>
              <a:defRPr/>
            </a:pPr>
            <a:endParaRPr/>
          </a:p>
        </p:txBody>
      </p:sp>
      <p:sp>
        <p:nvSpPr>
          <p:cNvPr id="1342603088" name="Notes Placeholder"/>
          <p:cNvSpPr/>
          <p:nvPr>
            <p:ph type="body" sz="quarter" idx="3"/>
          </p:nvPr>
        </p:nvSpPr>
        <p:spPr bwMode="auto">
          <a:prstGeom prst="rect">
            <a:avLst/>
          </a:prstGeom>
        </p:spPr>
        <p:txBody>
          <a:bodyPr/>
          <a:lstStyle/>
          <a:p>
            <a:pPr>
              <a:defRPr/>
            </a:pPr>
            <a:endParaRPr/>
          </a:p>
        </p:txBody>
      </p:sp>
      <p:sp>
        <p:nvSpPr>
          <p:cNvPr id="424517465" name="Footer Placeholder"/>
          <p:cNvSpPr/>
          <p:nvPr>
            <p:ph type="ftr" sz="quarter" idx="4"/>
          </p:nvPr>
        </p:nvSpPr>
        <p:spPr bwMode="auto">
          <a:prstGeom prst="rect">
            <a:avLst/>
          </a:prstGeom>
        </p:spPr>
        <p:txBody>
          <a:bodyPr/>
          <a:lstStyle/>
          <a:p>
            <a:pPr>
              <a:defRPr/>
            </a:pPr>
            <a:endParaRPr/>
          </a:p>
        </p:txBody>
      </p:sp>
      <p:sp>
        <p:nvSpPr>
          <p:cNvPr id="422490718"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4243350" name="Slide Image Placeholder 1"/>
          <p:cNvSpPr>
            <a:spLocks noGrp="1"/>
          </p:cNvSpPr>
          <p:nvPr>
            <p:ph type="sldImg" idx="0"/>
          </p:nvPr>
        </p:nvSpPr>
        <p:spPr bwMode="auto"/>
      </p:sp>
      <p:sp>
        <p:nvSpPr>
          <p:cNvPr id="454223509" name="Notes Placeholder 2"/>
          <p:cNvSpPr>
            <a:spLocks noGrp="1"/>
          </p:cNvSpPr>
          <p:nvPr>
            <p:ph type="body" idx="1"/>
          </p:nvPr>
        </p:nvSpPr>
        <p:spPr bwMode="auto"/>
        <p:txBody>
          <a:bodyPr/>
          <a:lstStyle/>
          <a:p>
            <a:pPr>
              <a:defRPr/>
            </a:pPr>
            <a:r>
              <a:rPr/>
              <a:t>This report focuses on the HDD results in homework1_hdd_result/run. The final slide compares them with the earlier SSD run. Sources: both sets of experiment CSV files and homework1.pdf. No name or student ID was provided, so none is shown.</a:t>
            </a:r>
            <a:endParaRPr/>
          </a:p>
        </p:txBody>
      </p:sp>
      <p:sp>
        <p:nvSpPr>
          <p:cNvPr id="159503117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335213" name="Slide Image Placeholder 1"/>
          <p:cNvSpPr>
            <a:spLocks noGrp="1"/>
          </p:cNvSpPr>
          <p:nvPr>
            <p:ph type="sldImg" idx="0"/>
          </p:nvPr>
        </p:nvSpPr>
        <p:spPr bwMode="auto"/>
      </p:sp>
      <p:sp>
        <p:nvSpPr>
          <p:cNvPr id="1135989037" name="Notes Placeholder 2"/>
          <p:cNvSpPr>
            <a:spLocks noGrp="1"/>
          </p:cNvSpPr>
          <p:nvPr>
            <p:ph type="body" idx="1"/>
          </p:nvPr>
        </p:nvSpPr>
        <p:spPr bwMode="auto"/>
        <p:txBody>
          <a:bodyPr/>
          <a:lstStyle/>
          <a:p>
            <a:pPr>
              <a:defRPr/>
            </a:pPr>
            <a:r>
              <a:rPr/>
              <a:t>Sources: homework1.pdf, experiment2.c, and the experiment1_results.csv and experiment2_results.csv files for both runs. Each HDD block size has 256 measurements; charts use arithmetic means. Experiment 2 has one measurement per read method.</a:t>
            </a:r>
            <a:endParaRPr/>
          </a:p>
        </p:txBody>
      </p:sp>
      <p:sp>
        <p:nvSpPr>
          <p:cNvPr id="109719438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6017986" name="Slide Image Placeholder 1"/>
          <p:cNvSpPr>
            <a:spLocks noGrp="1"/>
          </p:cNvSpPr>
          <p:nvPr>
            <p:ph type="sldImg" idx="0"/>
          </p:nvPr>
        </p:nvSpPr>
        <p:spPr bwMode="auto"/>
      </p:sp>
      <p:sp>
        <p:nvSpPr>
          <p:cNvPr id="1642917866" name="Notes Placeholder 2"/>
          <p:cNvSpPr>
            <a:spLocks noGrp="1"/>
          </p:cNvSpPr>
          <p:nvPr>
            <p:ph type="body" idx="1"/>
          </p:nvPr>
        </p:nvSpPr>
        <p:spPr bwMode="auto"/>
        <p:txBody>
          <a:bodyPr/>
          <a:lstStyle/>
          <a:p>
            <a:pPr>
              <a:defRPr/>
            </a:pPr>
            <a:r>
              <a:rPr/>
              <a:t>Source: homework1_hdd_result/run/experiment1_results.csv. Each of the 18 block sizes has 256 measurements. The x-axis uses powers-of-two categories, spaced evenly to represent log2 block size; the y-axis is linear in milliseconds. Small blocks take much longer, making differences above 4 KiB hard to see here. The next slide zooms in on that range.</a:t>
            </a:r>
            <a:endParaRPr/>
          </a:p>
        </p:txBody>
      </p:sp>
      <p:sp>
        <p:nvSpPr>
          <p:cNvPr id="61684416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1573039" name="Slide Image Placeholder 1"/>
          <p:cNvSpPr>
            <a:spLocks noGrp="1"/>
          </p:cNvSpPr>
          <p:nvPr>
            <p:ph type="sldImg" idx="0"/>
          </p:nvPr>
        </p:nvSpPr>
        <p:spPr bwMode="auto"/>
      </p:sp>
      <p:sp>
        <p:nvSpPr>
          <p:cNvPr id="1489759486" name="Notes Placeholder 2"/>
          <p:cNvSpPr>
            <a:spLocks noGrp="1"/>
          </p:cNvSpPr>
          <p:nvPr>
            <p:ph type="body" idx="1"/>
          </p:nvPr>
        </p:nvSpPr>
        <p:spPr bwMode="auto"/>
        <p:txBody>
          <a:bodyPr/>
          <a:lstStyle/>
          <a:p>
            <a:pPr>
              <a:defRPr/>
            </a:pPr>
            <a:r>
              <a:rPr/>
              <a:t>Source: homework1_hdd_result/run/experiment1_results.csv. The y-axis is zoomed to 0.8–1.2 ms to show small differences among larger blocks. The 4 KiB mean is the lowest; the mean rises slightly by 128 KiB. The improvement levels off rather than continuing to fall.</a:t>
            </a:r>
            <a:endParaRPr/>
          </a:p>
        </p:txBody>
      </p:sp>
      <p:sp>
        <p:nvSpPr>
          <p:cNvPr id="45779594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458457" name="Slide Image Placeholder 1"/>
          <p:cNvSpPr>
            <a:spLocks noGrp="1"/>
          </p:cNvSpPr>
          <p:nvPr>
            <p:ph type="sldImg" idx="0"/>
          </p:nvPr>
        </p:nvSpPr>
        <p:spPr bwMode="auto"/>
      </p:sp>
      <p:sp>
        <p:nvSpPr>
          <p:cNvPr id="1605975803" name="Notes Placeholder 2"/>
          <p:cNvSpPr>
            <a:spLocks noGrp="1"/>
          </p:cNvSpPr>
          <p:nvPr>
            <p:ph type="body" idx="1"/>
          </p:nvPr>
        </p:nvSpPr>
        <p:spPr bwMode="auto"/>
        <p:txBody>
          <a:bodyPr/>
          <a:lstStyle/>
          <a:p>
            <a:pPr>
              <a:defRPr/>
            </a:pPr>
            <a:r>
              <a:rPr/>
              <a:t>Calculation: 262,144 bytes per phase divided by block size. A 1-byte block corresponds to 262,144 calls; 4 KiB corresponds to 64; 128 KiB corresponds to 2. The write loop handles short writes, so a very small number of runs could make more system calls. This slide explains why larger blocks are generally faster, as required by homework1.pdf.</a:t>
            </a:r>
            <a:endParaRPr/>
          </a:p>
        </p:txBody>
      </p:sp>
      <p:sp>
        <p:nvSpPr>
          <p:cNvPr id="98970265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2793022" name="Slide Image Placeholder 1"/>
          <p:cNvSpPr>
            <a:spLocks noGrp="1"/>
          </p:cNvSpPr>
          <p:nvPr>
            <p:ph type="sldImg" idx="0"/>
          </p:nvPr>
        </p:nvSpPr>
        <p:spPr bwMode="auto"/>
      </p:sp>
      <p:sp>
        <p:nvSpPr>
          <p:cNvPr id="104066927" name="Notes Placeholder 2"/>
          <p:cNvSpPr>
            <a:spLocks noGrp="1"/>
          </p:cNvSpPr>
          <p:nvPr>
            <p:ph type="body" idx="1"/>
          </p:nvPr>
        </p:nvSpPr>
        <p:spPr bwMode="auto"/>
        <p:txBody>
          <a:bodyPr/>
          <a:lstStyle/>
          <a:p>
            <a:pPr>
              <a:defRPr/>
            </a:pPr>
            <a:r>
              <a:rPr lang="en-US" sz="1200" b="0" i="0" u="none" strike="noStrike" cap="none" spc="0">
                <a:solidFill>
                  <a:srgbClr val="000000"/>
                </a:solidFill>
                <a:latin typeface="Calibri"/>
                <a:ea typeface="Calibri"/>
                <a:cs typeface="Calibri"/>
              </a:rPr>
              <a:t>"Experiment 2 compares the two reading patterns. Both tests move the same amount of data — 256 megabytes. Sequential reading finishes in 51.5 milliseconds. Random reading — 1,024 reads of 256 KB scattered with lseek() — takes 58.0 milliseconds. So random reading is about 12.5 percent slower."</a:t>
            </a:r>
            <a:endParaRPr/>
          </a:p>
        </p:txBody>
      </p:sp>
      <p:sp>
        <p:nvSpPr>
          <p:cNvPr id="99380264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9181443" name="Slide Image Placeholder 1"/>
          <p:cNvSpPr>
            <a:spLocks noGrp="1"/>
          </p:cNvSpPr>
          <p:nvPr>
            <p:ph type="sldImg" idx="0"/>
          </p:nvPr>
        </p:nvSpPr>
        <p:spPr bwMode="auto"/>
      </p:sp>
      <p:sp>
        <p:nvSpPr>
          <p:cNvPr id="296251850" name="Notes Placeholder 2"/>
          <p:cNvSpPr>
            <a:spLocks noGrp="1"/>
          </p:cNvSpPr>
          <p:nvPr>
            <p:ph type="body" idx="1"/>
          </p:nvPr>
        </p:nvSpPr>
        <p:spPr bwMode="auto"/>
        <p:txBody>
          <a:bodyPr/>
          <a:lstStyle/>
          <a:p>
            <a:pPr>
              <a:defRPr/>
            </a:pPr>
            <a:r>
              <a:rPr lang="en-US" sz="1200" b="0" i="0" u="none" strike="noStrike" cap="none" spc="0">
                <a:solidFill>
                  <a:srgbClr val="000000"/>
                </a:solidFill>
                <a:latin typeface="Calibri"/>
                <a:ea typeface="Calibri"/>
                <a:cs typeface="Calibri"/>
              </a:rPr>
              <a:t>"Why is random slower? Two reasons. First, sequential access lets the kernel's read-ahead work: it predicts the next blocks and fetches them before we ask. Random jumps break that prediction every time. Second, each random read requires an extra lseek() to reposition the file offset, adding syscall and bookkeeping cost.</a:t>
            </a:r>
            <a:endParaRPr/>
          </a:p>
          <a:p>
            <a:pPr>
              <a:defRPr/>
            </a:pP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But here's an important observation for our conclusions: 5,209 megabytes per second is far faster than any hard drive — so the data was clearly being served from the page cache, because we had just written that file. The 12.5% gap mostly reflects seek and syscall overhead, not physical disk movement. On a cold hard disk, random access would be dramatically worse — seek times measured in milliseconds instead of nanoseconds. This is exactly why cache state must always be stated in storage benchmarks."</a:t>
            </a:r>
            <a:endParaRPr/>
          </a:p>
        </p:txBody>
      </p:sp>
      <p:sp>
        <p:nvSpPr>
          <p:cNvPr id="84573688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1819644" name="Slide Image Placeholder 1"/>
          <p:cNvSpPr>
            <a:spLocks noGrp="1"/>
          </p:cNvSpPr>
          <p:nvPr>
            <p:ph type="sldImg" idx="0"/>
          </p:nvPr>
        </p:nvSpPr>
        <p:spPr bwMode="auto"/>
      </p:sp>
      <p:sp>
        <p:nvSpPr>
          <p:cNvPr id="52732874" name="Notes Placeholder 2"/>
          <p:cNvSpPr>
            <a:spLocks noGrp="1"/>
          </p:cNvSpPr>
          <p:nvPr>
            <p:ph type="body" idx="1"/>
          </p:nvPr>
        </p:nvSpPr>
        <p:spPr bwMode="auto"/>
        <p:txBody>
          <a:bodyPr/>
          <a:lstStyle/>
          <a:p>
            <a:pPr>
              <a:defRPr/>
            </a:pPr>
            <a:r>
              <a:rPr lang="en-US" sz="1200" b="0" i="0" u="none" strike="noStrike" cap="none" spc="0">
                <a:solidFill>
                  <a:srgbClr val="000000"/>
                </a:solidFill>
                <a:latin typeface="Calibri"/>
                <a:ea typeface="Calibri"/>
                <a:cs typeface="Calibri"/>
              </a:rPr>
              <a:t>"So, what should a practitioner take away?</a:t>
            </a: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One: choose block sizes of at least 4 KB — ideally the page size. Smaller blocks waste CPU on syscalls; larger blocks add nothing.</a:t>
            </a:r>
            <a:endParaRPr lang="en-US" sz="1200" b="0" i="0" u="none" strike="noStrike" cap="none" spc="0">
              <a:solidFill>
                <a:srgbClr val="000000"/>
              </a:solidFill>
              <a:latin typeface="Calibri"/>
              <a:cs typeface="Calibri"/>
            </a:endParaRPr>
          </a:p>
          <a:p>
            <a:pPr>
              <a:defRPr/>
            </a:pPr>
            <a:endParaRPr lang="en-US" sz="1200" b="0" i="0" u="none" strike="noStrike" cap="none" spc="0">
              <a:solidFill>
                <a:srgbClr val="000000"/>
              </a:solidFill>
              <a:latin typeface="Calibri"/>
              <a:ea typeface="Calibri"/>
              <a:cs typeface="Calibri"/>
            </a:endParaRPr>
          </a:p>
          <a:p>
            <a:pPr>
              <a:defRPr/>
            </a:pPr>
            <a:r>
              <a:rPr lang="en-US" sz="1200" b="0" i="0" u="none" strike="noStrike" cap="none" spc="0">
                <a:solidFill>
                  <a:srgbClr val="000000"/>
                </a:solidFill>
                <a:latin typeface="Calibri"/>
                <a:ea typeface="Calibri"/>
                <a:cs typeface="Calibri"/>
              </a:rPr>
              <a:t>Two: sequential access is cheaper than random, so design systems around streaming and appending, and batch small writes into buffers.</a:t>
            </a:r>
            <a:endParaRPr lang="en-US" sz="1200" b="0" i="0" u="none" strike="noStrike" cap="none" spc="0">
              <a:solidFill>
                <a:srgbClr val="000000"/>
              </a:solidFill>
              <a:latin typeface="Times New Roman"/>
              <a:cs typeface="Times New Roman"/>
            </a:endParaRPr>
          </a:p>
          <a:p>
            <a:pPr>
              <a:defRPr/>
            </a:pPr>
            <a:endParaRPr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Three: throughput rises from 0.24 MB/s at 1-byte blocks to about 270 MB/s at 4 KB — a direct result of making fewer, better-amortized system calls.</a:t>
            </a:r>
            <a:endParaRPr lang="en-US" sz="1200" b="0" i="0" u="none" strike="noStrike" cap="none" spc="0">
              <a:solidFill>
                <a:srgbClr val="000000"/>
              </a:solidFill>
              <a:latin typeface="Calibri"/>
              <a:ea typeface="Calibri"/>
              <a:cs typeface="Calibri"/>
            </a:endParaRPr>
          </a:p>
          <a:p>
            <a:pPr>
              <a:defRPr/>
            </a:pPr>
            <a:endParaRPr lang="en-US" sz="1200" b="0" i="0" u="none" strike="noStrike" cap="none" spc="0">
              <a:solidFill>
                <a:srgbClr val="000000"/>
              </a:solidFill>
              <a:latin typeface="Calibri"/>
              <a:cs typeface="Calibri"/>
            </a:endParaRPr>
          </a:p>
          <a:p>
            <a:pPr>
              <a:defRPr/>
            </a:pPr>
            <a:r>
              <a:rPr lang="en-US" sz="1200" b="0" i="0" u="none" strike="noStrike" cap="none" spc="0">
                <a:solidFill>
                  <a:srgbClr val="000000"/>
                </a:solidFill>
                <a:latin typeface="Calibri"/>
                <a:ea typeface="Calibri"/>
                <a:cs typeface="Calibri"/>
              </a:rPr>
              <a:t>And four: the gains saturate. Beyond the page size, you're limited by the data path, not the API — bigger is not always better."</a:t>
            </a:r>
            <a:endParaRPr/>
          </a:p>
        </p:txBody>
      </p:sp>
      <p:sp>
        <p:nvSpPr>
          <p:cNvPr id="2088520977"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 /></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2.xml" /></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3.xml" /></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02FA7"/>
        </a:solidFill>
      </p:bgPr>
    </p:bg>
    <p:spTree>
      <p:nvGrpSpPr>
        <p:cNvPr id="1" name=""/>
        <p:cNvGrpSpPr/>
        <p:nvPr/>
      </p:nvGrpSpPr>
      <p:grpSpPr bwMode="auto">
        <a:xfrm>
          <a:off x="0" y="0"/>
          <a:ext cx="0" cy="0"/>
          <a:chOff x="0" y="0"/>
          <a:chExt cx="0" cy="0"/>
        </a:xfrm>
      </p:grpSpPr>
      <p:sp>
        <p:nvSpPr>
          <p:cNvPr id="757771531" name=""/>
          <p:cNvSpPr>
            <a:spLocks noGrp="1"/>
          </p:cNvSpPr>
          <p:nvPr/>
        </p:nvSpPr>
        <p:spPr bwMode="auto">
          <a:xfrm>
            <a:off x="781050" y="685800"/>
            <a:ext cx="10477500" cy="304800"/>
          </a:xfrm>
          <a:prstGeom prst="rect">
            <a:avLst/>
          </a:prstGeom>
          <a:noFill/>
          <a:ln w="0">
            <a:noFill/>
          </a:ln>
        </p:spPr>
        <p:txBody>
          <a:bodyPr anchor="ctr">
            <a:noAutofit/>
          </a:bodyPr>
          <a:lstStyle/>
          <a:p>
            <a:pPr>
              <a:defRPr sz="1300" b="1">
                <a:solidFill>
                  <a:srgbClr val="FFFFFF"/>
                </a:solidFill>
                <a:latin typeface="Microsoft JhengHei"/>
                <a:ea typeface="Microsoft JhengHei"/>
                <a:cs typeface="Microsoft JhengHei"/>
              </a:defRPr>
            </a:pPr>
            <a:r>
              <a:rPr sz="1300" b="1">
                <a:solidFill>
                  <a:srgbClr val="FFFFFF"/>
                </a:solidFill>
                <a:latin typeface="Microsoft JhengHei"/>
                <a:ea typeface="Microsoft JhengHei"/>
                <a:cs typeface="Microsoft JhengHei"/>
              </a:rPr>
              <a:t>HW1 · HDD PERFORMANCE TEST</a:t>
            </a:r>
            <a:endParaRPr/>
          </a:p>
        </p:txBody>
      </p:sp>
      <p:sp>
        <p:nvSpPr>
          <p:cNvPr id="1602731533" name=""/>
          <p:cNvSpPr>
            <a:spLocks noGrp="1"/>
          </p:cNvSpPr>
          <p:nvPr/>
        </p:nvSpPr>
        <p:spPr bwMode="auto">
          <a:xfrm>
            <a:off x="781050" y="1600200"/>
            <a:ext cx="10287000" cy="2000250"/>
          </a:xfrm>
          <a:prstGeom prst="rect">
            <a:avLst/>
          </a:prstGeom>
          <a:noFill/>
          <a:ln w="0">
            <a:noFill/>
          </a:ln>
        </p:spPr>
        <p:txBody>
          <a:bodyPr anchor="ctr">
            <a:noAutofit/>
          </a:bodyPr>
          <a:lstStyle/>
          <a:p>
            <a:pPr>
              <a:defRPr sz="5550" b="0">
                <a:solidFill>
                  <a:srgbClr val="FFFFFF"/>
                </a:solidFill>
                <a:latin typeface="Microsoft JhengHei"/>
                <a:ea typeface="Microsoft JhengHei"/>
                <a:cs typeface="Microsoft JhengHei"/>
              </a:defRPr>
            </a:pPr>
            <a:r>
              <a:rPr sz="5550" b="0">
                <a:solidFill>
                  <a:srgbClr val="FFFFFF"/>
                </a:solidFill>
                <a:latin typeface="Microsoft JhengHei"/>
                <a:ea typeface="Microsoft JhengHei"/>
                <a:cs typeface="Microsoft JhengHei"/>
              </a:rPr>
              <a:t>Storage I/O</a:t>
            </a:r>
            <a:endParaRPr/>
          </a:p>
          <a:p>
            <a:pPr>
              <a:defRPr sz="5550" b="0">
                <a:solidFill>
                  <a:srgbClr val="FFFFFF"/>
                </a:solidFill>
                <a:latin typeface="Microsoft JhengHei"/>
                <a:ea typeface="Microsoft JhengHei"/>
                <a:cs typeface="Microsoft JhengHei"/>
              </a:defRPr>
            </a:pPr>
            <a:r>
              <a:rPr sz="5550" b="0">
                <a:solidFill>
                  <a:srgbClr val="FFFFFF"/>
                </a:solidFill>
                <a:latin typeface="Microsoft JhengHei"/>
                <a:ea typeface="Microsoft JhengHei"/>
                <a:cs typeface="Microsoft JhengHei"/>
              </a:rPr>
              <a:t>Performance Test</a:t>
            </a:r>
            <a:endParaRPr/>
          </a:p>
        </p:txBody>
      </p:sp>
      <p:sp>
        <p:nvSpPr>
          <p:cNvPr id="1821312153" name=""/>
          <p:cNvSpPr>
            <a:spLocks noGrp="1"/>
          </p:cNvSpPr>
          <p:nvPr/>
        </p:nvSpPr>
        <p:spPr bwMode="auto">
          <a:xfrm>
            <a:off x="819150" y="4000500"/>
            <a:ext cx="10001250" cy="457200"/>
          </a:xfrm>
          <a:prstGeom prst="rect">
            <a:avLst/>
          </a:prstGeom>
          <a:noFill/>
          <a:ln w="0">
            <a:noFill/>
          </a:ln>
        </p:spPr>
        <p:txBody>
          <a:bodyPr anchor="ctr">
            <a:noAutofit/>
          </a:bodyPr>
          <a:lstStyle/>
          <a:p>
            <a:pPr>
              <a:defRPr sz="2200" b="0">
                <a:solidFill>
                  <a:srgbClr val="FFFFFF"/>
                </a:solidFill>
                <a:latin typeface="Microsoft JhengHei"/>
                <a:ea typeface="Microsoft JhengHei"/>
                <a:cs typeface="Microsoft JhengHei"/>
              </a:defRPr>
            </a:pPr>
            <a:r>
              <a:rPr sz="2200" b="0">
                <a:solidFill>
                  <a:srgbClr val="FFFFFF"/>
                </a:solidFill>
                <a:latin typeface="Microsoft JhengHei"/>
                <a:ea typeface="Microsoft JhengHei"/>
                <a:cs typeface="Microsoft JhengHei"/>
              </a:rPr>
              <a:t>Block Writes | Sequential Reads | Random Reads</a:t>
            </a:r>
            <a:endParaRPr/>
          </a:p>
        </p:txBody>
      </p:sp>
      <p:sp>
        <p:nvSpPr>
          <p:cNvPr id="1438237461" name=""/>
          <p:cNvSpPr>
            <a:spLocks noGrp="1"/>
          </p:cNvSpPr>
          <p:nvPr/>
        </p:nvSpPr>
        <p:spPr bwMode="auto">
          <a:xfrm>
            <a:off x="819150" y="5619750"/>
            <a:ext cx="10287000" cy="381000"/>
          </a:xfrm>
          <a:prstGeom prst="rect">
            <a:avLst/>
          </a:prstGeom>
          <a:noFill/>
          <a:ln w="0">
            <a:noFill/>
          </a:ln>
        </p:spPr>
        <p:txBody>
          <a:bodyPr anchor="ctr">
            <a:noAutofit/>
          </a:bodyPr>
          <a:lstStyle/>
          <a:p>
            <a:pPr>
              <a:defRPr sz="1450" b="0">
                <a:solidFill>
                  <a:srgbClr val="FFFFFF"/>
                </a:solidFill>
                <a:latin typeface="Microsoft JhengHei"/>
                <a:ea typeface="Microsoft JhengHei"/>
                <a:cs typeface="Microsoft JhengHei"/>
              </a:defRPr>
            </a:pPr>
            <a:r>
              <a:rPr sz="1450" b="0">
                <a:solidFill>
                  <a:srgbClr val="FFFFFF"/>
                </a:solidFill>
                <a:latin typeface="Microsoft JhengHei"/>
                <a:ea typeface="Microsoft JhengHei"/>
                <a:cs typeface="Microsoft JhengHei"/>
              </a:rPr>
              <a:t>HDD results are the focus. SSD data appears on one comparison slide.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8"/>
        </a:solidFill>
      </p:bgPr>
    </p:bg>
    <p:spTree>
      <p:nvGrpSpPr>
        <p:cNvPr id="1" name=""/>
        <p:cNvGrpSpPr/>
        <p:nvPr/>
      </p:nvGrpSpPr>
      <p:grpSpPr bwMode="auto">
        <a:xfrm>
          <a:off x="0" y="0"/>
          <a:ext cx="0" cy="0"/>
          <a:chOff x="0" y="0"/>
          <a:chExt cx="0" cy="0"/>
        </a:xfrm>
      </p:grpSpPr>
      <p:sp>
        <p:nvSpPr>
          <p:cNvPr id="535434434" name=""/>
          <p:cNvSpPr>
            <a:spLocks noGrp="1"/>
          </p:cNvSpPr>
          <p:nvPr/>
        </p:nvSpPr>
        <p:spPr bwMode="auto">
          <a:xfrm>
            <a:off x="666750" y="304800"/>
            <a:ext cx="10668000" cy="257175"/>
          </a:xfrm>
          <a:prstGeom prst="rect">
            <a:avLst/>
          </a:prstGeom>
          <a:noFill/>
          <a:ln w="0">
            <a:noFill/>
          </a:ln>
        </p:spPr>
        <p:txBody>
          <a:bodyPr anchor="ctr">
            <a:noAutofit/>
          </a:bodyPr>
          <a:lstStyle/>
          <a:p>
            <a:pPr>
              <a:defRPr sz="1150" b="1">
                <a:solidFill>
                  <a:srgbClr val="737373"/>
                </a:solidFill>
                <a:latin typeface="Microsoft JhengHei"/>
                <a:ea typeface="Microsoft JhengHei"/>
                <a:cs typeface="Microsoft JhengHei"/>
              </a:defRPr>
            </a:pPr>
            <a:r>
              <a:rPr sz="1150" b="1">
                <a:solidFill>
                  <a:srgbClr val="737373"/>
                </a:solidFill>
                <a:latin typeface="Microsoft JhengHei"/>
                <a:ea typeface="Microsoft JhengHei"/>
                <a:cs typeface="Microsoft JhengHei"/>
              </a:rPr>
              <a:t>HDD · EXPERIMENT DESIGN</a:t>
            </a:r>
            <a:endParaRPr/>
          </a:p>
        </p:txBody>
      </p:sp>
      <p:sp>
        <p:nvSpPr>
          <p:cNvPr id="818527007" name=""/>
          <p:cNvSpPr>
            <a:spLocks noGrp="1"/>
          </p:cNvSpPr>
          <p:nvPr/>
        </p:nvSpPr>
        <p:spPr bwMode="auto">
          <a:xfrm>
            <a:off x="666750" y="609600"/>
            <a:ext cx="10810875" cy="647700"/>
          </a:xfrm>
          <a:prstGeom prst="rect">
            <a:avLst/>
          </a:prstGeom>
          <a:noFill/>
          <a:ln w="0">
            <a:noFill/>
          </a:ln>
        </p:spPr>
        <p:txBody>
          <a:bodyPr anchor="ctr">
            <a:noAutofit/>
          </a:bodyPr>
          <a:lstStyle/>
          <a:p>
            <a:pPr>
              <a:defRPr sz="3300" b="0">
                <a:solidFill>
                  <a:srgbClr val="0A0A0A"/>
                </a:solidFill>
                <a:latin typeface="Microsoft JhengHei"/>
                <a:ea typeface="Microsoft JhengHei"/>
                <a:cs typeface="Microsoft JhengHei"/>
              </a:defRPr>
            </a:pPr>
            <a:r>
              <a:rPr sz="3300" b="0">
                <a:solidFill>
                  <a:srgbClr val="0A0A0A"/>
                </a:solidFill>
                <a:latin typeface="Microsoft JhengHei"/>
                <a:ea typeface="Microsoft JhengHei"/>
                <a:cs typeface="Microsoft JhengHei"/>
              </a:rPr>
              <a:t>Test Data and Measurement Method</a:t>
            </a:r>
            <a:endParaRPr/>
          </a:p>
        </p:txBody>
      </p:sp>
      <p:sp>
        <p:nvSpPr>
          <p:cNvPr id="1384722980" name=""/>
          <p:cNvSpPr>
            <a:spLocks noGrp="1"/>
          </p:cNvSpPr>
          <p:nvPr/>
        </p:nvSpPr>
        <p:spPr bwMode="auto">
          <a:xfrm>
            <a:off x="800100" y="1885950"/>
            <a:ext cx="3048000" cy="266700"/>
          </a:xfrm>
          <a:prstGeom prst="rect">
            <a:avLst/>
          </a:prstGeom>
          <a:noFill/>
          <a:ln w="0">
            <a:noFill/>
          </a:ln>
        </p:spPr>
        <p:txBody>
          <a:bodyPr anchor="ctr">
            <a:noAutofit/>
          </a:bodyPr>
          <a:lstStyle/>
          <a:p>
            <a:pPr>
              <a:defRPr sz="1200" b="1">
                <a:solidFill>
                  <a:srgbClr val="737373"/>
                </a:solidFill>
                <a:latin typeface="Microsoft JhengHei"/>
                <a:ea typeface="Microsoft JhengHei"/>
                <a:cs typeface="Microsoft JhengHei"/>
              </a:defRPr>
            </a:pPr>
            <a:r>
              <a:rPr sz="1200" b="1">
                <a:solidFill>
                  <a:srgbClr val="737373"/>
                </a:solidFill>
                <a:latin typeface="Microsoft JhengHei"/>
                <a:ea typeface="Microsoft JhengHei"/>
                <a:cs typeface="Microsoft JhengHei"/>
              </a:rPr>
              <a:t>Data written per phase</a:t>
            </a:r>
            <a:endParaRPr/>
          </a:p>
        </p:txBody>
      </p:sp>
      <p:sp>
        <p:nvSpPr>
          <p:cNvPr id="21162956" name=""/>
          <p:cNvSpPr>
            <a:spLocks noGrp="1"/>
          </p:cNvSpPr>
          <p:nvPr/>
        </p:nvSpPr>
        <p:spPr bwMode="auto">
          <a:xfrm>
            <a:off x="800100" y="2266950"/>
            <a:ext cx="3143250" cy="742950"/>
          </a:xfrm>
          <a:prstGeom prst="rect">
            <a:avLst/>
          </a:prstGeom>
          <a:noFill/>
          <a:ln w="0">
            <a:noFill/>
          </a:ln>
        </p:spPr>
        <p:txBody>
          <a:bodyPr anchor="ctr">
            <a:noAutofit/>
          </a:bodyPr>
          <a:lstStyle/>
          <a:p>
            <a:pPr>
              <a:defRPr sz="4050" b="0">
                <a:solidFill>
                  <a:srgbClr val="002FA7"/>
                </a:solidFill>
                <a:latin typeface="Microsoft JhengHei"/>
                <a:ea typeface="Microsoft JhengHei"/>
                <a:cs typeface="Microsoft JhengHei"/>
              </a:defRPr>
            </a:pPr>
            <a:r>
              <a:rPr sz="4050" b="0">
                <a:solidFill>
                  <a:srgbClr val="002FA7"/>
                </a:solidFill>
                <a:latin typeface="Microsoft JhengHei"/>
                <a:ea typeface="Microsoft JhengHei"/>
                <a:cs typeface="Microsoft JhengHei"/>
              </a:rPr>
              <a:t>256 KiB</a:t>
            </a:r>
            <a:endParaRPr/>
          </a:p>
        </p:txBody>
      </p:sp>
      <p:sp>
        <p:nvSpPr>
          <p:cNvPr id="1884021354" name=""/>
          <p:cNvSpPr>
            <a:spLocks noGrp="1"/>
          </p:cNvSpPr>
          <p:nvPr/>
        </p:nvSpPr>
        <p:spPr bwMode="auto">
          <a:xfrm>
            <a:off x="800100" y="3095625"/>
            <a:ext cx="3048000" cy="438149"/>
          </a:xfrm>
          <a:prstGeom prst="rect">
            <a:avLst/>
          </a:prstGeom>
          <a:noFill/>
          <a:ln w="0">
            <a:noFill/>
          </a:ln>
        </p:spPr>
        <p:txBody>
          <a:bodyPr anchor="ctr">
            <a:noAutofit/>
          </a:bodyPr>
          <a:lstStyle/>
          <a:p>
            <a:pPr>
              <a:defRPr sz="1600" b="0">
                <a:solidFill>
                  <a:srgbClr val="0A0A0A"/>
                </a:solidFill>
                <a:latin typeface="Microsoft JhengHei"/>
                <a:ea typeface="Microsoft JhengHei"/>
                <a:cs typeface="Microsoft JhengHei"/>
              </a:defRPr>
            </a:pPr>
            <a:r>
              <a:rPr sz="1600" b="0">
                <a:solidFill>
                  <a:srgbClr val="0A0A0A"/>
                </a:solidFill>
                <a:latin typeface="Microsoft JhengHei"/>
                <a:ea typeface="Microsoft JhengHei"/>
                <a:cs typeface="Microsoft JhengHei"/>
              </a:rPr>
              <a:t>Repeating byte pattern: 1–255</a:t>
            </a:r>
            <a:endParaRPr/>
          </a:p>
        </p:txBody>
      </p:sp>
      <p:sp>
        <p:nvSpPr>
          <p:cNvPr id="991585365" name=""/>
          <p:cNvSpPr>
            <a:spLocks noGrp="1"/>
          </p:cNvSpPr>
          <p:nvPr/>
        </p:nvSpPr>
        <p:spPr bwMode="auto">
          <a:xfrm>
            <a:off x="4429125" y="1885950"/>
            <a:ext cx="3048000" cy="266700"/>
          </a:xfrm>
          <a:prstGeom prst="rect">
            <a:avLst/>
          </a:prstGeom>
          <a:noFill/>
          <a:ln w="0">
            <a:noFill/>
          </a:ln>
        </p:spPr>
        <p:txBody>
          <a:bodyPr anchor="ctr">
            <a:noAutofit/>
          </a:bodyPr>
          <a:lstStyle/>
          <a:p>
            <a:pPr>
              <a:defRPr sz="1200" b="1">
                <a:solidFill>
                  <a:srgbClr val="737373"/>
                </a:solidFill>
                <a:latin typeface="Microsoft JhengHei"/>
                <a:ea typeface="Microsoft JhengHei"/>
                <a:cs typeface="Microsoft JhengHei"/>
              </a:defRPr>
            </a:pPr>
            <a:r>
              <a:rPr sz="1200" b="1">
                <a:solidFill>
                  <a:srgbClr val="737373"/>
                </a:solidFill>
                <a:latin typeface="Microsoft JhengHei"/>
                <a:ea typeface="Microsoft JhengHei"/>
                <a:cs typeface="Microsoft JhengHei"/>
              </a:rPr>
              <a:t>Write block sizes</a:t>
            </a:r>
            <a:endParaRPr/>
          </a:p>
        </p:txBody>
      </p:sp>
      <p:sp>
        <p:nvSpPr>
          <p:cNvPr id="287647822" name=""/>
          <p:cNvSpPr>
            <a:spLocks noGrp="1"/>
          </p:cNvSpPr>
          <p:nvPr/>
        </p:nvSpPr>
        <p:spPr bwMode="auto">
          <a:xfrm>
            <a:off x="4429125" y="2266950"/>
            <a:ext cx="3143250" cy="742950"/>
          </a:xfrm>
          <a:prstGeom prst="rect">
            <a:avLst/>
          </a:prstGeom>
          <a:noFill/>
          <a:ln w="0">
            <a:noFill/>
          </a:ln>
        </p:spPr>
        <p:txBody>
          <a:bodyPr anchor="ctr">
            <a:noAutofit/>
          </a:bodyPr>
          <a:lstStyle/>
          <a:p>
            <a:pPr>
              <a:defRPr sz="4050" b="0">
                <a:solidFill>
                  <a:srgbClr val="002FA7"/>
                </a:solidFill>
                <a:latin typeface="Microsoft JhengHei"/>
                <a:ea typeface="Microsoft JhengHei"/>
                <a:cs typeface="Microsoft JhengHei"/>
              </a:defRPr>
            </a:pPr>
            <a:r>
              <a:rPr sz="4050" b="0">
                <a:solidFill>
                  <a:srgbClr val="002FA7"/>
                </a:solidFill>
                <a:latin typeface="Microsoft JhengHei"/>
                <a:ea typeface="Microsoft JhengHei"/>
                <a:cs typeface="Microsoft JhengHei"/>
              </a:rPr>
              <a:t>18</a:t>
            </a:r>
            <a:endParaRPr/>
          </a:p>
        </p:txBody>
      </p:sp>
      <p:sp>
        <p:nvSpPr>
          <p:cNvPr id="430840563" name=""/>
          <p:cNvSpPr>
            <a:spLocks noGrp="1"/>
          </p:cNvSpPr>
          <p:nvPr/>
        </p:nvSpPr>
        <p:spPr bwMode="auto">
          <a:xfrm>
            <a:off x="4429125" y="3095625"/>
            <a:ext cx="3048000" cy="438149"/>
          </a:xfrm>
          <a:prstGeom prst="rect">
            <a:avLst/>
          </a:prstGeom>
          <a:noFill/>
          <a:ln w="0">
            <a:noFill/>
          </a:ln>
        </p:spPr>
        <p:txBody>
          <a:bodyPr anchor="ctr">
            <a:noAutofit/>
          </a:bodyPr>
          <a:lstStyle/>
          <a:p>
            <a:pPr>
              <a:defRPr sz="1600" b="0">
                <a:solidFill>
                  <a:srgbClr val="0A0A0A"/>
                </a:solidFill>
                <a:latin typeface="Microsoft JhengHei"/>
                <a:ea typeface="Microsoft JhengHei"/>
                <a:cs typeface="Microsoft JhengHei"/>
              </a:defRPr>
            </a:pPr>
            <a:r>
              <a:rPr sz="1600" b="0">
                <a:solidFill>
                  <a:srgbClr val="0A0A0A"/>
                </a:solidFill>
                <a:latin typeface="Microsoft JhengHei"/>
                <a:ea typeface="Microsoft JhengHei"/>
                <a:cs typeface="Microsoft JhengHei"/>
              </a:rPr>
              <a:t>From 1 B to 128 KiB</a:t>
            </a:r>
            <a:endParaRPr/>
          </a:p>
        </p:txBody>
      </p:sp>
      <p:sp>
        <p:nvSpPr>
          <p:cNvPr id="1953988401" name=""/>
          <p:cNvSpPr>
            <a:spLocks noGrp="1"/>
          </p:cNvSpPr>
          <p:nvPr/>
        </p:nvSpPr>
        <p:spPr bwMode="auto">
          <a:xfrm>
            <a:off x="8058150" y="1885950"/>
            <a:ext cx="3048000" cy="266700"/>
          </a:xfrm>
          <a:prstGeom prst="rect">
            <a:avLst/>
          </a:prstGeom>
          <a:noFill/>
          <a:ln w="0">
            <a:noFill/>
          </a:ln>
        </p:spPr>
        <p:txBody>
          <a:bodyPr anchor="ctr">
            <a:noAutofit/>
          </a:bodyPr>
          <a:lstStyle/>
          <a:p>
            <a:pPr>
              <a:defRPr sz="1200" b="1">
                <a:solidFill>
                  <a:srgbClr val="737373"/>
                </a:solidFill>
                <a:latin typeface="Microsoft JhengHei"/>
                <a:ea typeface="Microsoft JhengHei"/>
                <a:cs typeface="Microsoft JhengHei"/>
              </a:defRPr>
            </a:pPr>
            <a:r>
              <a:rPr sz="1200" b="1">
                <a:solidFill>
                  <a:srgbClr val="737373"/>
                </a:solidFill>
                <a:latin typeface="Microsoft JhengHei"/>
                <a:ea typeface="Microsoft JhengHei"/>
                <a:cs typeface="Microsoft JhengHei"/>
              </a:rPr>
              <a:t>Runs per block size</a:t>
            </a:r>
            <a:endParaRPr/>
          </a:p>
        </p:txBody>
      </p:sp>
      <p:sp>
        <p:nvSpPr>
          <p:cNvPr id="943951040" name=""/>
          <p:cNvSpPr>
            <a:spLocks noGrp="1"/>
          </p:cNvSpPr>
          <p:nvPr/>
        </p:nvSpPr>
        <p:spPr bwMode="auto">
          <a:xfrm>
            <a:off x="8058150" y="2266950"/>
            <a:ext cx="3143250" cy="742950"/>
          </a:xfrm>
          <a:prstGeom prst="rect">
            <a:avLst/>
          </a:prstGeom>
          <a:noFill/>
          <a:ln w="0">
            <a:noFill/>
          </a:ln>
        </p:spPr>
        <p:txBody>
          <a:bodyPr anchor="ctr">
            <a:noAutofit/>
          </a:bodyPr>
          <a:lstStyle/>
          <a:p>
            <a:pPr>
              <a:defRPr sz="4050" b="0">
                <a:solidFill>
                  <a:srgbClr val="002FA7"/>
                </a:solidFill>
                <a:latin typeface="Microsoft JhengHei"/>
                <a:ea typeface="Microsoft JhengHei"/>
                <a:cs typeface="Microsoft JhengHei"/>
              </a:defRPr>
            </a:pPr>
            <a:r>
              <a:rPr sz="4050" b="0">
                <a:solidFill>
                  <a:srgbClr val="002FA7"/>
                </a:solidFill>
                <a:latin typeface="Microsoft JhengHei"/>
                <a:ea typeface="Microsoft JhengHei"/>
                <a:cs typeface="Microsoft JhengHei"/>
              </a:rPr>
              <a:t>256×</a:t>
            </a:r>
            <a:endParaRPr/>
          </a:p>
        </p:txBody>
      </p:sp>
      <p:sp>
        <p:nvSpPr>
          <p:cNvPr id="1878038585" name=""/>
          <p:cNvSpPr>
            <a:spLocks noGrp="1"/>
          </p:cNvSpPr>
          <p:nvPr/>
        </p:nvSpPr>
        <p:spPr bwMode="auto">
          <a:xfrm>
            <a:off x="8058150" y="3095625"/>
            <a:ext cx="3048000" cy="438149"/>
          </a:xfrm>
          <a:prstGeom prst="rect">
            <a:avLst/>
          </a:prstGeom>
          <a:noFill/>
          <a:ln w="0">
            <a:noFill/>
          </a:ln>
        </p:spPr>
        <p:txBody>
          <a:bodyPr anchor="ctr">
            <a:noAutofit/>
          </a:bodyPr>
          <a:lstStyle/>
          <a:p>
            <a:pPr>
              <a:defRPr sz="1600" b="0">
                <a:solidFill>
                  <a:srgbClr val="0A0A0A"/>
                </a:solidFill>
                <a:latin typeface="Microsoft JhengHei"/>
                <a:ea typeface="Microsoft JhengHei"/>
                <a:cs typeface="Microsoft JhengHei"/>
              </a:defRPr>
            </a:pPr>
            <a:r>
              <a:rPr sz="1600" b="0">
                <a:solidFill>
                  <a:srgbClr val="0A0A0A"/>
                </a:solidFill>
                <a:latin typeface="Microsoft JhengHei"/>
                <a:ea typeface="Microsoft JhengHei"/>
                <a:cs typeface="Microsoft JhengHei"/>
              </a:rPr>
              <a:t>Mean time across runs</a:t>
            </a:r>
            <a:endParaRPr/>
          </a:p>
        </p:txBody>
      </p:sp>
      <p:sp>
        <p:nvSpPr>
          <p:cNvPr id="115633495" name=""/>
          <p:cNvSpPr>
            <a:spLocks noGrp="1"/>
          </p:cNvSpPr>
          <p:nvPr/>
        </p:nvSpPr>
        <p:spPr bwMode="auto">
          <a:xfrm>
            <a:off x="800100" y="4114800"/>
            <a:ext cx="1905000" cy="361950"/>
          </a:xfrm>
          <a:prstGeom prst="rect">
            <a:avLst/>
          </a:prstGeom>
          <a:noFill/>
          <a:ln w="0">
            <a:noFill/>
          </a:ln>
        </p:spPr>
        <p:txBody>
          <a:bodyPr anchor="ctr">
            <a:noAutofit/>
          </a:bodyPr>
          <a:lstStyle/>
          <a:p>
            <a:pPr>
              <a:defRPr sz="1900" b="1">
                <a:solidFill>
                  <a:srgbClr val="002FA7"/>
                </a:solidFill>
                <a:latin typeface="Microsoft JhengHei"/>
                <a:ea typeface="Microsoft JhengHei"/>
                <a:cs typeface="Microsoft JhengHei"/>
              </a:defRPr>
            </a:pPr>
            <a:r>
              <a:rPr sz="1900" b="1">
                <a:solidFill>
                  <a:srgbClr val="002FA7"/>
                </a:solidFill>
                <a:latin typeface="Microsoft JhengHei"/>
                <a:ea typeface="Microsoft JhengHei"/>
                <a:cs typeface="Microsoft JhengHei"/>
              </a:rPr>
              <a:t>READ TEST</a:t>
            </a:r>
            <a:endParaRPr/>
          </a:p>
        </p:txBody>
      </p:sp>
      <p:sp>
        <p:nvSpPr>
          <p:cNvPr id="2141908211" name=""/>
          <p:cNvSpPr>
            <a:spLocks noGrp="1"/>
          </p:cNvSpPr>
          <p:nvPr/>
        </p:nvSpPr>
        <p:spPr bwMode="auto">
          <a:xfrm>
            <a:off x="800100" y="4572000"/>
            <a:ext cx="10572750" cy="400050"/>
          </a:xfrm>
          <a:prstGeom prst="rect">
            <a:avLst/>
          </a:prstGeom>
          <a:noFill/>
          <a:ln w="0">
            <a:noFill/>
          </a:ln>
        </p:spPr>
        <p:txBody>
          <a:bodyPr anchor="ctr">
            <a:noAutofit/>
          </a:bodyPr>
          <a:lstStyle/>
          <a:p>
            <a:pPr>
              <a:defRPr sz="1650" b="0">
                <a:solidFill>
                  <a:srgbClr val="0A0A0A"/>
                </a:solidFill>
                <a:latin typeface="Microsoft JhengHei"/>
                <a:ea typeface="Microsoft JhengHei"/>
                <a:cs typeface="Microsoft JhengHei"/>
              </a:defRPr>
            </a:pPr>
            <a:r>
              <a:rPr sz="1650" b="0">
                <a:solidFill>
                  <a:srgbClr val="0A0A0A"/>
                </a:solidFill>
                <a:latin typeface="Microsoft JhengHei"/>
                <a:ea typeface="Microsoft JhengHei"/>
                <a:cs typeface="Microsoft JhengHei"/>
              </a:rPr>
              <a:t>File 19: 256 MiB  ·  Sequential: one full pass  ·  Random: 1,024 × 256 KiB</a:t>
            </a:r>
            <a:endParaRPr/>
          </a:p>
        </p:txBody>
      </p:sp>
      <p:sp>
        <p:nvSpPr>
          <p:cNvPr id="79248246" name=""/>
          <p:cNvSpPr>
            <a:spLocks noGrp="1"/>
          </p:cNvSpPr>
          <p:nvPr/>
        </p:nvSpPr>
        <p:spPr bwMode="auto">
          <a:xfrm>
            <a:off x="800100" y="5381625"/>
            <a:ext cx="10572750" cy="342900"/>
          </a:xfrm>
          <a:prstGeom prst="rect">
            <a:avLst/>
          </a:prstGeom>
          <a:noFill/>
          <a:ln w="0">
            <a:noFill/>
          </a:ln>
        </p:spPr>
        <p:txBody>
          <a:bodyPr anchor="ctr">
            <a:noAutofit/>
          </a:bodyPr>
          <a:lstStyle/>
          <a:p>
            <a:pPr>
              <a:defRPr sz="1350" b="0">
                <a:solidFill>
                  <a:srgbClr val="737373"/>
                </a:solidFill>
                <a:latin typeface="Microsoft JhengHei"/>
                <a:ea typeface="Microsoft JhengHei"/>
                <a:cs typeface="Microsoft JhengHei"/>
              </a:defRPr>
            </a:pPr>
            <a:r>
              <a:rPr sz="1350" b="0">
                <a:solidFill>
                  <a:srgbClr val="737373"/>
                </a:solidFill>
                <a:latin typeface="Microsoft JhengHei"/>
                <a:ea typeface="Microsoft JhengHei"/>
                <a:cs typeface="Microsoft JhengHei"/>
              </a:rPr>
              <a:t>Timing excludes open() and close(). Experiment 2 measured each read method once.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8"/>
        </a:solidFill>
      </p:bgPr>
    </p:bg>
    <p:spTree>
      <p:nvGrpSpPr>
        <p:cNvPr id="1" name=""/>
        <p:cNvGrpSpPr/>
        <p:nvPr/>
      </p:nvGrpSpPr>
      <p:grpSpPr bwMode="auto">
        <a:xfrm>
          <a:off x="0" y="0"/>
          <a:ext cx="0" cy="0"/>
          <a:chOff x="0" y="0"/>
          <a:chExt cx="0" cy="0"/>
        </a:xfrm>
      </p:grpSpPr>
      <p:sp>
        <p:nvSpPr>
          <p:cNvPr id="461849321" name=""/>
          <p:cNvSpPr>
            <a:spLocks noGrp="1"/>
          </p:cNvSpPr>
          <p:nvPr/>
        </p:nvSpPr>
        <p:spPr bwMode="auto">
          <a:xfrm>
            <a:off x="666750" y="304800"/>
            <a:ext cx="10668000" cy="257175"/>
          </a:xfrm>
          <a:prstGeom prst="rect">
            <a:avLst/>
          </a:prstGeom>
          <a:noFill/>
          <a:ln w="0">
            <a:noFill/>
          </a:ln>
        </p:spPr>
        <p:txBody>
          <a:bodyPr anchor="ctr">
            <a:noAutofit/>
          </a:bodyPr>
          <a:lstStyle/>
          <a:p>
            <a:pPr>
              <a:defRPr sz="1150" b="1">
                <a:solidFill>
                  <a:srgbClr val="737373"/>
                </a:solidFill>
                <a:latin typeface="Microsoft JhengHei"/>
                <a:ea typeface="Microsoft JhengHei"/>
                <a:cs typeface="Microsoft JhengHei"/>
              </a:defRPr>
            </a:pPr>
            <a:r>
              <a:rPr sz="1150" b="1">
                <a:solidFill>
                  <a:srgbClr val="737373"/>
                </a:solidFill>
                <a:latin typeface="Microsoft JhengHei"/>
                <a:ea typeface="Microsoft JhengHei"/>
                <a:cs typeface="Microsoft JhengHei"/>
              </a:rPr>
              <a:t>EXPERIMENT 1 · HDD · 18 BLOCK SIZES · 256 RUNS EACH</a:t>
            </a:r>
            <a:endParaRPr/>
          </a:p>
        </p:txBody>
      </p:sp>
      <p:sp>
        <p:nvSpPr>
          <p:cNvPr id="207994957" name=""/>
          <p:cNvSpPr>
            <a:spLocks noGrp="1"/>
          </p:cNvSpPr>
          <p:nvPr/>
        </p:nvSpPr>
        <p:spPr bwMode="auto">
          <a:xfrm>
            <a:off x="666750" y="609600"/>
            <a:ext cx="10810875" cy="647700"/>
          </a:xfrm>
          <a:prstGeom prst="rect">
            <a:avLst/>
          </a:prstGeom>
          <a:noFill/>
          <a:ln w="0">
            <a:noFill/>
          </a:ln>
        </p:spPr>
        <p:txBody>
          <a:bodyPr anchor="ctr">
            <a:noAutofit/>
          </a:bodyPr>
          <a:lstStyle/>
          <a:p>
            <a:pPr>
              <a:defRPr sz="3300" b="0">
                <a:solidFill>
                  <a:srgbClr val="0A0A0A"/>
                </a:solidFill>
                <a:latin typeface="Microsoft JhengHei"/>
                <a:ea typeface="Microsoft JhengHei"/>
                <a:cs typeface="Microsoft JhengHei"/>
              </a:defRPr>
            </a:pPr>
            <a:r>
              <a:rPr sz="3300" b="0">
                <a:solidFill>
                  <a:srgbClr val="0A0A0A"/>
                </a:solidFill>
                <a:latin typeface="Microsoft JhengHei"/>
                <a:ea typeface="Microsoft JhengHei"/>
                <a:cs typeface="Microsoft JhengHei"/>
              </a:rPr>
              <a:t>Mean write time drops sharply as blocks get larger</a:t>
            </a:r>
            <a:endParaRPr/>
          </a:p>
        </p:txBody>
      </p:sp>
      <p:graphicFrame>
        <p:nvGraphicFramePr>
          <p:cNvPr id="1639858785" name="Chart"/>
          <p:cNvGraphicFramePr>
            <a:graphicFrameLocks xmlns:a="http://schemas.openxmlformats.org/drawingml/2006/main"/>
          </p:cNvGraphicFramePr>
          <p:nvPr/>
        </p:nvGraphicFramePr>
        <p:xfrm rot="0">
          <a:off x="666750" y="1524000"/>
          <a:ext cx="10810875"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2008831464" name=""/>
          <p:cNvSpPr>
            <a:spLocks noGrp="1"/>
          </p:cNvSpPr>
          <p:nvPr/>
        </p:nvSpPr>
        <p:spPr bwMode="auto">
          <a:xfrm>
            <a:off x="838200" y="5810250"/>
            <a:ext cx="10382250" cy="400050"/>
          </a:xfrm>
          <a:prstGeom prst="rect">
            <a:avLst/>
          </a:prstGeom>
          <a:noFill/>
          <a:ln w="0">
            <a:noFill/>
          </a:ln>
        </p:spPr>
        <p:txBody>
          <a:bodyPr anchor="ctr">
            <a:noAutofit/>
          </a:bodyPr>
          <a:lstStyle/>
          <a:p>
            <a:pPr>
              <a:defRPr sz="1600" b="1">
                <a:solidFill>
                  <a:srgbClr val="002FA7"/>
                </a:solidFill>
                <a:latin typeface="Microsoft JhengHei"/>
                <a:ea typeface="Microsoft JhengHei"/>
                <a:cs typeface="Microsoft JhengHei"/>
              </a:defRPr>
            </a:pPr>
            <a:r>
              <a:rPr sz="1600" b="1">
                <a:solidFill>
                  <a:srgbClr val="002FA7"/>
                </a:solidFill>
                <a:latin typeface="Microsoft JhengHei"/>
                <a:ea typeface="Microsoft JhengHei"/>
                <a:cs typeface="Microsoft JhengHei"/>
              </a:rPr>
              <a:t>1 B: 1092.2 ms  |  4 KiB: 0.969 ms  |  128 KiB: 1.114 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8"/>
        </a:solidFill>
      </p:bgPr>
    </p:bg>
    <p:spTree>
      <p:nvGrpSpPr>
        <p:cNvPr id="1" name=""/>
        <p:cNvGrpSpPr/>
        <p:nvPr/>
      </p:nvGrpSpPr>
      <p:grpSpPr bwMode="auto">
        <a:xfrm>
          <a:off x="0" y="0"/>
          <a:ext cx="0" cy="0"/>
          <a:chOff x="0" y="0"/>
          <a:chExt cx="0" cy="0"/>
        </a:xfrm>
      </p:grpSpPr>
      <p:sp>
        <p:nvSpPr>
          <p:cNvPr id="1298167358" name=""/>
          <p:cNvSpPr>
            <a:spLocks noGrp="1"/>
          </p:cNvSpPr>
          <p:nvPr/>
        </p:nvSpPr>
        <p:spPr bwMode="auto">
          <a:xfrm>
            <a:off x="666750" y="304800"/>
            <a:ext cx="10668000" cy="257175"/>
          </a:xfrm>
          <a:prstGeom prst="rect">
            <a:avLst/>
          </a:prstGeom>
          <a:noFill/>
          <a:ln w="0">
            <a:noFill/>
          </a:ln>
        </p:spPr>
        <p:txBody>
          <a:bodyPr anchor="ctr">
            <a:noAutofit/>
          </a:bodyPr>
          <a:lstStyle/>
          <a:p>
            <a:pPr>
              <a:defRPr sz="1150" b="1">
                <a:solidFill>
                  <a:srgbClr val="737373"/>
                </a:solidFill>
                <a:latin typeface="Microsoft JhengHei"/>
                <a:ea typeface="Microsoft JhengHei"/>
                <a:cs typeface="Microsoft JhengHei"/>
              </a:defRPr>
            </a:pPr>
            <a:r>
              <a:rPr sz="1150" b="1">
                <a:solidFill>
                  <a:srgbClr val="737373"/>
                </a:solidFill>
                <a:latin typeface="Microsoft JhengHei"/>
                <a:ea typeface="Microsoft JhengHei"/>
                <a:cs typeface="Microsoft JhengHei"/>
              </a:rPr>
              <a:t>EXPERIMENT 1 · ZOOMED VIEW · HDD MEANS</a:t>
            </a:r>
            <a:endParaRPr/>
          </a:p>
        </p:txBody>
      </p:sp>
      <p:sp>
        <p:nvSpPr>
          <p:cNvPr id="1158342126" name=""/>
          <p:cNvSpPr>
            <a:spLocks noGrp="1"/>
          </p:cNvSpPr>
          <p:nvPr/>
        </p:nvSpPr>
        <p:spPr bwMode="auto">
          <a:xfrm>
            <a:off x="666750" y="609600"/>
            <a:ext cx="10810875" cy="647700"/>
          </a:xfrm>
          <a:prstGeom prst="rect">
            <a:avLst/>
          </a:prstGeom>
          <a:noFill/>
          <a:ln w="0">
            <a:noFill/>
          </a:ln>
        </p:spPr>
        <p:txBody>
          <a:bodyPr anchor="ctr">
            <a:noAutofit/>
          </a:bodyPr>
          <a:lstStyle/>
          <a:p>
            <a:pPr>
              <a:defRPr sz="3300" b="0">
                <a:solidFill>
                  <a:srgbClr val="0A0A0A"/>
                </a:solidFill>
                <a:latin typeface="Microsoft JhengHei"/>
                <a:ea typeface="Microsoft JhengHei"/>
                <a:cs typeface="Microsoft JhengHei"/>
              </a:defRPr>
            </a:pPr>
            <a:r>
              <a:rPr sz="3300" b="0">
                <a:solidFill>
                  <a:srgbClr val="0A0A0A"/>
                </a:solidFill>
                <a:latin typeface="Microsoft JhengHei"/>
                <a:ea typeface="Microsoft JhengHei"/>
                <a:cs typeface="Microsoft JhengHei"/>
              </a:rPr>
              <a:t>Write time stays near 1 ms beyond 4 KiB</a:t>
            </a:r>
            <a:endParaRPr/>
          </a:p>
        </p:txBody>
      </p:sp>
      <p:graphicFrame>
        <p:nvGraphicFramePr>
          <p:cNvPr id="1908176407" name="Chart"/>
          <p:cNvGraphicFramePr>
            <a:graphicFrameLocks xmlns:a="http://schemas.openxmlformats.org/drawingml/2006/main"/>
          </p:cNvGraphicFramePr>
          <p:nvPr/>
        </p:nvGraphicFramePr>
        <p:xfrm rot="0">
          <a:off x="857250" y="1619250"/>
          <a:ext cx="10477500" cy="3733800"/>
        </p:xfrm>
        <a:graphic>
          <a:graphicData uri="http://schemas.openxmlformats.org/drawingml/2006/chart">
            <c:chart xmlns:c="http://schemas.openxmlformats.org/drawingml/2006/chart" xmlns:r="http://schemas.openxmlformats.org/officeDocument/2006/relationships" r:id="rId3"/>
          </a:graphicData>
        </a:graphic>
      </p:graphicFrame>
      <p:sp>
        <p:nvSpPr>
          <p:cNvPr id="336379143" name=""/>
          <p:cNvSpPr>
            <a:spLocks noGrp="1"/>
          </p:cNvSpPr>
          <p:nvPr/>
        </p:nvSpPr>
        <p:spPr bwMode="auto">
          <a:xfrm>
            <a:off x="895350" y="5772150"/>
            <a:ext cx="10382250" cy="400050"/>
          </a:xfrm>
          <a:prstGeom prst="rect">
            <a:avLst/>
          </a:prstGeom>
          <a:noFill/>
          <a:ln w="0">
            <a:noFill/>
          </a:ln>
        </p:spPr>
        <p:txBody>
          <a:bodyPr anchor="ctr">
            <a:noAutofit/>
          </a:bodyPr>
          <a:lstStyle/>
          <a:p>
            <a:pPr>
              <a:defRPr sz="1650" b="1">
                <a:solidFill>
                  <a:srgbClr val="002FA7"/>
                </a:solidFill>
                <a:latin typeface="Microsoft JhengHei"/>
                <a:ea typeface="Microsoft JhengHei"/>
                <a:cs typeface="Microsoft JhengHei"/>
              </a:defRPr>
            </a:pPr>
            <a:r>
              <a:rPr sz="1650" b="1">
                <a:solidFill>
                  <a:srgbClr val="002FA7"/>
                </a:solidFill>
                <a:latin typeface="Microsoft JhengHei"/>
                <a:ea typeface="Microsoft JhengHei"/>
                <a:cs typeface="Microsoft JhengHei"/>
              </a:rPr>
              <a:t>Lowest mean: 4 KiB = 0.969 ms  |  128 KiB = 1.114 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8"/>
        </a:solidFill>
      </p:bgPr>
    </p:bg>
    <p:spTree>
      <p:nvGrpSpPr>
        <p:cNvPr id="1" name=""/>
        <p:cNvGrpSpPr/>
        <p:nvPr/>
      </p:nvGrpSpPr>
      <p:grpSpPr bwMode="auto">
        <a:xfrm>
          <a:off x="0" y="0"/>
          <a:ext cx="0" cy="0"/>
          <a:chOff x="0" y="0"/>
          <a:chExt cx="0" cy="0"/>
        </a:xfrm>
      </p:grpSpPr>
      <p:sp>
        <p:nvSpPr>
          <p:cNvPr id="598552924" name=""/>
          <p:cNvSpPr>
            <a:spLocks noGrp="1"/>
          </p:cNvSpPr>
          <p:nvPr/>
        </p:nvSpPr>
        <p:spPr bwMode="auto">
          <a:xfrm>
            <a:off x="666750" y="304800"/>
            <a:ext cx="10668000" cy="257175"/>
          </a:xfrm>
          <a:prstGeom prst="rect">
            <a:avLst/>
          </a:prstGeom>
          <a:noFill/>
          <a:ln w="0">
            <a:noFill/>
          </a:ln>
        </p:spPr>
        <p:txBody>
          <a:bodyPr anchor="ctr">
            <a:noAutofit/>
          </a:bodyPr>
          <a:lstStyle/>
          <a:p>
            <a:pPr>
              <a:defRPr sz="1150" b="1">
                <a:solidFill>
                  <a:srgbClr val="737373"/>
                </a:solidFill>
                <a:latin typeface="Microsoft JhengHei"/>
                <a:ea typeface="Microsoft JhengHei"/>
                <a:cs typeface="Microsoft JhengHei"/>
              </a:defRPr>
            </a:pPr>
            <a:r>
              <a:rPr sz="1150" b="1">
                <a:solidFill>
                  <a:srgbClr val="737373"/>
                </a:solidFill>
                <a:latin typeface="Microsoft JhengHei"/>
                <a:ea typeface="Microsoft JhengHei"/>
                <a:cs typeface="Microsoft JhengHei"/>
              </a:rPr>
              <a:t>ANALYSIS · FIXED WRITE SIZE: 256 KiB</a:t>
            </a:r>
            <a:endParaRPr/>
          </a:p>
        </p:txBody>
      </p:sp>
      <p:sp>
        <p:nvSpPr>
          <p:cNvPr id="66810982" name=""/>
          <p:cNvSpPr>
            <a:spLocks noGrp="1"/>
          </p:cNvSpPr>
          <p:nvPr/>
        </p:nvSpPr>
        <p:spPr bwMode="auto">
          <a:xfrm>
            <a:off x="666750" y="609600"/>
            <a:ext cx="10810875" cy="647700"/>
          </a:xfrm>
          <a:prstGeom prst="rect">
            <a:avLst/>
          </a:prstGeom>
          <a:noFill/>
          <a:ln w="0">
            <a:noFill/>
          </a:ln>
        </p:spPr>
        <p:txBody>
          <a:bodyPr anchor="ctr">
            <a:noAutofit/>
          </a:bodyPr>
          <a:lstStyle/>
          <a:p>
            <a:pPr>
              <a:defRPr sz="3300" b="0">
                <a:solidFill>
                  <a:srgbClr val="0A0A0A"/>
                </a:solidFill>
                <a:latin typeface="Microsoft JhengHei"/>
                <a:ea typeface="Microsoft JhengHei"/>
                <a:cs typeface="Microsoft JhengHei"/>
              </a:defRPr>
            </a:pPr>
            <a:r>
              <a:rPr sz="3300" b="0">
                <a:solidFill>
                  <a:srgbClr val="0A0A0A"/>
                </a:solidFill>
                <a:latin typeface="Microsoft JhengHei"/>
                <a:ea typeface="Microsoft JhengHei"/>
                <a:cs typeface="Microsoft JhengHei"/>
              </a:rPr>
              <a:t>Larger blocks require fewer write() calls</a:t>
            </a:r>
            <a:endParaRPr/>
          </a:p>
        </p:txBody>
      </p:sp>
      <p:sp>
        <p:nvSpPr>
          <p:cNvPr id="1386533821" name=""/>
          <p:cNvSpPr>
            <a:spLocks noGrp="1"/>
          </p:cNvSpPr>
          <p:nvPr/>
        </p:nvSpPr>
        <p:spPr bwMode="auto">
          <a:xfrm>
            <a:off x="800100" y="1933575"/>
            <a:ext cx="3238500" cy="285750"/>
          </a:xfrm>
          <a:prstGeom prst="rect">
            <a:avLst/>
          </a:prstGeom>
          <a:noFill/>
          <a:ln w="0">
            <a:noFill/>
          </a:ln>
        </p:spPr>
        <p:txBody>
          <a:bodyPr anchor="ctr">
            <a:noAutofit/>
          </a:bodyPr>
          <a:lstStyle/>
          <a:p>
            <a:pPr>
              <a:defRPr sz="1200" b="1">
                <a:solidFill>
                  <a:srgbClr val="737373"/>
                </a:solidFill>
                <a:latin typeface="Microsoft JhengHei"/>
                <a:ea typeface="Microsoft JhengHei"/>
                <a:cs typeface="Microsoft JhengHei"/>
              </a:defRPr>
            </a:pPr>
            <a:r>
              <a:rPr sz="1200" b="1">
                <a:solidFill>
                  <a:srgbClr val="737373"/>
                </a:solidFill>
                <a:latin typeface="Microsoft JhengHei"/>
                <a:ea typeface="Microsoft JhengHei"/>
                <a:cs typeface="Microsoft JhengHei"/>
              </a:rPr>
              <a:t>1 B BLOCK</a:t>
            </a:r>
            <a:endParaRPr/>
          </a:p>
        </p:txBody>
      </p:sp>
      <p:sp>
        <p:nvSpPr>
          <p:cNvPr id="2131976558" name=""/>
          <p:cNvSpPr>
            <a:spLocks noGrp="1"/>
          </p:cNvSpPr>
          <p:nvPr/>
        </p:nvSpPr>
        <p:spPr bwMode="auto">
          <a:xfrm>
            <a:off x="800100" y="2457450"/>
            <a:ext cx="3333750" cy="742950"/>
          </a:xfrm>
          <a:prstGeom prst="rect">
            <a:avLst/>
          </a:prstGeom>
          <a:noFill/>
          <a:ln w="0">
            <a:noFill/>
          </a:ln>
        </p:spPr>
        <p:txBody>
          <a:bodyPr anchor="ctr">
            <a:noAutofit/>
          </a:bodyPr>
          <a:lstStyle/>
          <a:p>
            <a:pPr>
              <a:defRPr sz="3600" b="0">
                <a:solidFill>
                  <a:srgbClr val="0A0A0A"/>
                </a:solidFill>
                <a:latin typeface="Microsoft JhengHei"/>
                <a:ea typeface="Microsoft JhengHei"/>
                <a:cs typeface="Microsoft JhengHei"/>
              </a:defRPr>
            </a:pPr>
            <a:r>
              <a:rPr sz="3600" b="0">
                <a:solidFill>
                  <a:srgbClr val="0A0A0A"/>
                </a:solidFill>
                <a:latin typeface="Microsoft JhengHei"/>
                <a:ea typeface="Microsoft JhengHei"/>
                <a:cs typeface="Microsoft JhengHei"/>
              </a:rPr>
              <a:t>262,144</a:t>
            </a:r>
            <a:endParaRPr/>
          </a:p>
        </p:txBody>
      </p:sp>
      <p:sp>
        <p:nvSpPr>
          <p:cNvPr id="781832329" name=""/>
          <p:cNvSpPr>
            <a:spLocks noGrp="1"/>
          </p:cNvSpPr>
          <p:nvPr/>
        </p:nvSpPr>
        <p:spPr bwMode="auto">
          <a:xfrm>
            <a:off x="800100" y="3238500"/>
            <a:ext cx="3048000" cy="266700"/>
          </a:xfrm>
          <a:prstGeom prst="rect">
            <a:avLst/>
          </a:prstGeom>
          <a:noFill/>
          <a:ln w="0">
            <a:noFill/>
          </a:ln>
        </p:spPr>
        <p:txBody>
          <a:bodyPr anchor="ctr">
            <a:noAutofit/>
          </a:bodyPr>
          <a:lstStyle/>
          <a:p>
            <a:pPr>
              <a:defRPr sz="1350" b="1">
                <a:solidFill>
                  <a:srgbClr val="737373"/>
                </a:solidFill>
                <a:latin typeface="Microsoft JhengHei"/>
                <a:ea typeface="Microsoft JhengHei"/>
                <a:cs typeface="Microsoft JhengHei"/>
              </a:defRPr>
            </a:pPr>
            <a:r>
              <a:rPr sz="1350" b="1">
                <a:solidFill>
                  <a:srgbClr val="737373"/>
                </a:solidFill>
                <a:latin typeface="Microsoft JhengHei"/>
                <a:ea typeface="Microsoft JhengHei"/>
                <a:cs typeface="Microsoft JhengHei"/>
              </a:rPr>
              <a:t>write() calls</a:t>
            </a:r>
            <a:endParaRPr/>
          </a:p>
        </p:txBody>
      </p:sp>
      <p:sp>
        <p:nvSpPr>
          <p:cNvPr id="202409131" name=""/>
          <p:cNvSpPr>
            <a:spLocks noGrp="1"/>
          </p:cNvSpPr>
          <p:nvPr/>
        </p:nvSpPr>
        <p:spPr bwMode="auto">
          <a:xfrm>
            <a:off x="800100" y="3771900"/>
            <a:ext cx="3095625" cy="514350"/>
          </a:xfrm>
          <a:prstGeom prst="rect">
            <a:avLst/>
          </a:prstGeom>
          <a:noFill/>
          <a:ln w="0">
            <a:noFill/>
          </a:ln>
        </p:spPr>
        <p:txBody>
          <a:bodyPr anchor="ctr">
            <a:noAutofit/>
          </a:bodyPr>
          <a:lstStyle/>
          <a:p>
            <a:pPr>
              <a:defRPr sz="1500" b="0">
                <a:solidFill>
                  <a:srgbClr val="0A0A0A"/>
                </a:solidFill>
                <a:latin typeface="Microsoft JhengHei"/>
                <a:ea typeface="Microsoft JhengHei"/>
                <a:cs typeface="Microsoft JhengHei"/>
              </a:defRPr>
            </a:pPr>
            <a:r>
              <a:rPr sz="1500" b="0">
                <a:solidFill>
                  <a:srgbClr val="0A0A0A"/>
                </a:solidFill>
                <a:latin typeface="Microsoft JhengHei"/>
                <a:ea typeface="Microsoft JhengHei"/>
                <a:cs typeface="Microsoft JhengHei"/>
              </a:rPr>
              <a:t>One call per byte</a:t>
            </a:r>
            <a:endParaRPr/>
          </a:p>
        </p:txBody>
      </p:sp>
      <p:sp>
        <p:nvSpPr>
          <p:cNvPr id="2038785295" name=""/>
          <p:cNvSpPr>
            <a:spLocks noGrp="1"/>
          </p:cNvSpPr>
          <p:nvPr/>
        </p:nvSpPr>
        <p:spPr bwMode="auto">
          <a:xfrm>
            <a:off x="4438650" y="1933575"/>
            <a:ext cx="3238500" cy="285750"/>
          </a:xfrm>
          <a:prstGeom prst="rect">
            <a:avLst/>
          </a:prstGeom>
          <a:noFill/>
          <a:ln w="0">
            <a:noFill/>
          </a:ln>
        </p:spPr>
        <p:txBody>
          <a:bodyPr anchor="ctr">
            <a:noAutofit/>
          </a:bodyPr>
          <a:lstStyle/>
          <a:p>
            <a:pPr>
              <a:defRPr sz="1200" b="1">
                <a:solidFill>
                  <a:srgbClr val="737373"/>
                </a:solidFill>
                <a:latin typeface="Microsoft JhengHei"/>
                <a:ea typeface="Microsoft JhengHei"/>
                <a:cs typeface="Microsoft JhengHei"/>
              </a:defRPr>
            </a:pPr>
            <a:r>
              <a:rPr sz="1200" b="1">
                <a:solidFill>
                  <a:srgbClr val="737373"/>
                </a:solidFill>
                <a:latin typeface="Microsoft JhengHei"/>
                <a:ea typeface="Microsoft JhengHei"/>
                <a:cs typeface="Microsoft JhengHei"/>
              </a:rPr>
              <a:t>4 KiB BLOCK</a:t>
            </a:r>
            <a:endParaRPr/>
          </a:p>
        </p:txBody>
      </p:sp>
      <p:sp>
        <p:nvSpPr>
          <p:cNvPr id="1087339177" name=""/>
          <p:cNvSpPr>
            <a:spLocks noGrp="1"/>
          </p:cNvSpPr>
          <p:nvPr/>
        </p:nvSpPr>
        <p:spPr bwMode="auto">
          <a:xfrm>
            <a:off x="4438650" y="2457450"/>
            <a:ext cx="3333750" cy="742950"/>
          </a:xfrm>
          <a:prstGeom prst="rect">
            <a:avLst/>
          </a:prstGeom>
          <a:noFill/>
          <a:ln w="0">
            <a:noFill/>
          </a:ln>
        </p:spPr>
        <p:txBody>
          <a:bodyPr anchor="ctr">
            <a:noAutofit/>
          </a:bodyPr>
          <a:lstStyle/>
          <a:p>
            <a:pPr>
              <a:defRPr sz="3600" b="0">
                <a:solidFill>
                  <a:srgbClr val="002FA7"/>
                </a:solidFill>
                <a:latin typeface="Microsoft JhengHei"/>
                <a:ea typeface="Microsoft JhengHei"/>
                <a:cs typeface="Microsoft JhengHei"/>
              </a:defRPr>
            </a:pPr>
            <a:r>
              <a:rPr sz="3600" b="0">
                <a:solidFill>
                  <a:srgbClr val="002FA7"/>
                </a:solidFill>
                <a:latin typeface="Microsoft JhengHei"/>
                <a:ea typeface="Microsoft JhengHei"/>
                <a:cs typeface="Microsoft JhengHei"/>
              </a:rPr>
              <a:t>64</a:t>
            </a:r>
            <a:endParaRPr/>
          </a:p>
        </p:txBody>
      </p:sp>
      <p:sp>
        <p:nvSpPr>
          <p:cNvPr id="104952314" name=""/>
          <p:cNvSpPr>
            <a:spLocks noGrp="1"/>
          </p:cNvSpPr>
          <p:nvPr/>
        </p:nvSpPr>
        <p:spPr bwMode="auto">
          <a:xfrm>
            <a:off x="4438650" y="3238500"/>
            <a:ext cx="3048000" cy="266700"/>
          </a:xfrm>
          <a:prstGeom prst="rect">
            <a:avLst/>
          </a:prstGeom>
          <a:noFill/>
          <a:ln w="0">
            <a:noFill/>
          </a:ln>
        </p:spPr>
        <p:txBody>
          <a:bodyPr anchor="ctr">
            <a:noAutofit/>
          </a:bodyPr>
          <a:lstStyle/>
          <a:p>
            <a:pPr>
              <a:defRPr sz="1350" b="1">
                <a:solidFill>
                  <a:srgbClr val="737373"/>
                </a:solidFill>
                <a:latin typeface="Microsoft JhengHei"/>
                <a:ea typeface="Microsoft JhengHei"/>
                <a:cs typeface="Microsoft JhengHei"/>
              </a:defRPr>
            </a:pPr>
            <a:r>
              <a:rPr sz="1350" b="1">
                <a:solidFill>
                  <a:srgbClr val="737373"/>
                </a:solidFill>
                <a:latin typeface="Microsoft JhengHei"/>
                <a:ea typeface="Microsoft JhengHei"/>
                <a:cs typeface="Microsoft JhengHei"/>
              </a:rPr>
              <a:t>write() calls</a:t>
            </a:r>
            <a:endParaRPr/>
          </a:p>
        </p:txBody>
      </p:sp>
      <p:sp>
        <p:nvSpPr>
          <p:cNvPr id="868399901" name=""/>
          <p:cNvSpPr>
            <a:spLocks noGrp="1"/>
          </p:cNvSpPr>
          <p:nvPr/>
        </p:nvSpPr>
        <p:spPr bwMode="auto">
          <a:xfrm>
            <a:off x="4438650" y="3771900"/>
            <a:ext cx="3095625" cy="514350"/>
          </a:xfrm>
          <a:prstGeom prst="rect">
            <a:avLst/>
          </a:prstGeom>
          <a:noFill/>
          <a:ln w="0">
            <a:noFill/>
          </a:ln>
        </p:spPr>
        <p:txBody>
          <a:bodyPr anchor="ctr">
            <a:noAutofit/>
          </a:bodyPr>
          <a:lstStyle/>
          <a:p>
            <a:pPr>
              <a:defRPr sz="1500" b="0">
                <a:solidFill>
                  <a:srgbClr val="0A0A0A"/>
                </a:solidFill>
                <a:latin typeface="Microsoft JhengHei"/>
                <a:ea typeface="Microsoft JhengHei"/>
                <a:cs typeface="Microsoft JhengHei"/>
              </a:defRPr>
            </a:pPr>
            <a:r>
              <a:rPr sz="1500" b="0">
                <a:solidFill>
                  <a:srgbClr val="0A0A0A"/>
                </a:solidFill>
                <a:latin typeface="Microsoft JhengHei"/>
                <a:ea typeface="Microsoft JhengHei"/>
                <a:cs typeface="Microsoft JhengHei"/>
              </a:rPr>
              <a:t>4,096× fewer calls</a:t>
            </a:r>
            <a:endParaRPr/>
          </a:p>
        </p:txBody>
      </p:sp>
      <p:sp>
        <p:nvSpPr>
          <p:cNvPr id="792538559" name=""/>
          <p:cNvSpPr>
            <a:spLocks noGrp="1"/>
          </p:cNvSpPr>
          <p:nvPr/>
        </p:nvSpPr>
        <p:spPr bwMode="auto">
          <a:xfrm>
            <a:off x="8077200" y="1933575"/>
            <a:ext cx="3238500" cy="285750"/>
          </a:xfrm>
          <a:prstGeom prst="rect">
            <a:avLst/>
          </a:prstGeom>
          <a:noFill/>
          <a:ln w="0">
            <a:noFill/>
          </a:ln>
        </p:spPr>
        <p:txBody>
          <a:bodyPr anchor="ctr">
            <a:noAutofit/>
          </a:bodyPr>
          <a:lstStyle/>
          <a:p>
            <a:pPr>
              <a:defRPr sz="1200" b="1">
                <a:solidFill>
                  <a:srgbClr val="737373"/>
                </a:solidFill>
                <a:latin typeface="Microsoft JhengHei"/>
                <a:ea typeface="Microsoft JhengHei"/>
                <a:cs typeface="Microsoft JhengHei"/>
              </a:defRPr>
            </a:pPr>
            <a:r>
              <a:rPr sz="1200" b="1">
                <a:solidFill>
                  <a:srgbClr val="737373"/>
                </a:solidFill>
                <a:latin typeface="Microsoft JhengHei"/>
                <a:ea typeface="Microsoft JhengHei"/>
                <a:cs typeface="Microsoft JhengHei"/>
              </a:rPr>
              <a:t>128 KiB BLOCK</a:t>
            </a:r>
            <a:endParaRPr/>
          </a:p>
        </p:txBody>
      </p:sp>
      <p:sp>
        <p:nvSpPr>
          <p:cNvPr id="1656301503" name=""/>
          <p:cNvSpPr>
            <a:spLocks noGrp="1"/>
          </p:cNvSpPr>
          <p:nvPr/>
        </p:nvSpPr>
        <p:spPr bwMode="auto">
          <a:xfrm>
            <a:off x="8077200" y="2457450"/>
            <a:ext cx="3333750" cy="742950"/>
          </a:xfrm>
          <a:prstGeom prst="rect">
            <a:avLst/>
          </a:prstGeom>
          <a:noFill/>
          <a:ln w="0">
            <a:noFill/>
          </a:ln>
        </p:spPr>
        <p:txBody>
          <a:bodyPr anchor="ctr">
            <a:noAutofit/>
          </a:bodyPr>
          <a:lstStyle/>
          <a:p>
            <a:pPr>
              <a:defRPr sz="3600" b="0">
                <a:solidFill>
                  <a:srgbClr val="0A0A0A"/>
                </a:solidFill>
                <a:latin typeface="Microsoft JhengHei"/>
                <a:ea typeface="Microsoft JhengHei"/>
                <a:cs typeface="Microsoft JhengHei"/>
              </a:defRPr>
            </a:pPr>
            <a:r>
              <a:rPr sz="3600" b="0">
                <a:solidFill>
                  <a:srgbClr val="0A0A0A"/>
                </a:solidFill>
                <a:latin typeface="Microsoft JhengHei"/>
                <a:ea typeface="Microsoft JhengHei"/>
                <a:cs typeface="Microsoft JhengHei"/>
              </a:rPr>
              <a:t>2</a:t>
            </a:r>
            <a:endParaRPr/>
          </a:p>
        </p:txBody>
      </p:sp>
      <p:sp>
        <p:nvSpPr>
          <p:cNvPr id="487940706" name=""/>
          <p:cNvSpPr>
            <a:spLocks noGrp="1"/>
          </p:cNvSpPr>
          <p:nvPr/>
        </p:nvSpPr>
        <p:spPr bwMode="auto">
          <a:xfrm>
            <a:off x="8077200" y="3238500"/>
            <a:ext cx="3048000" cy="266700"/>
          </a:xfrm>
          <a:prstGeom prst="rect">
            <a:avLst/>
          </a:prstGeom>
          <a:noFill/>
          <a:ln w="0">
            <a:noFill/>
          </a:ln>
        </p:spPr>
        <p:txBody>
          <a:bodyPr anchor="ctr">
            <a:noAutofit/>
          </a:bodyPr>
          <a:lstStyle/>
          <a:p>
            <a:pPr>
              <a:defRPr sz="1350" b="1">
                <a:solidFill>
                  <a:srgbClr val="737373"/>
                </a:solidFill>
                <a:latin typeface="Microsoft JhengHei"/>
                <a:ea typeface="Microsoft JhengHei"/>
                <a:cs typeface="Microsoft JhengHei"/>
              </a:defRPr>
            </a:pPr>
            <a:r>
              <a:rPr sz="1350" b="1">
                <a:solidFill>
                  <a:srgbClr val="737373"/>
                </a:solidFill>
                <a:latin typeface="Microsoft JhengHei"/>
                <a:ea typeface="Microsoft JhengHei"/>
                <a:cs typeface="Microsoft JhengHei"/>
              </a:rPr>
              <a:t>write() calls</a:t>
            </a:r>
            <a:endParaRPr/>
          </a:p>
        </p:txBody>
      </p:sp>
      <p:sp>
        <p:nvSpPr>
          <p:cNvPr id="564758664" name=""/>
          <p:cNvSpPr>
            <a:spLocks noGrp="1"/>
          </p:cNvSpPr>
          <p:nvPr/>
        </p:nvSpPr>
        <p:spPr bwMode="auto">
          <a:xfrm>
            <a:off x="8077200" y="3771900"/>
            <a:ext cx="3095625" cy="514350"/>
          </a:xfrm>
          <a:prstGeom prst="rect">
            <a:avLst/>
          </a:prstGeom>
          <a:noFill/>
          <a:ln w="0">
            <a:noFill/>
          </a:ln>
        </p:spPr>
        <p:txBody>
          <a:bodyPr anchor="ctr">
            <a:noAutofit/>
          </a:bodyPr>
          <a:lstStyle/>
          <a:p>
            <a:pPr>
              <a:defRPr sz="1500" b="0">
                <a:solidFill>
                  <a:srgbClr val="0A0A0A"/>
                </a:solidFill>
                <a:latin typeface="Microsoft JhengHei"/>
                <a:ea typeface="Microsoft JhengHei"/>
                <a:cs typeface="Microsoft JhengHei"/>
              </a:defRPr>
            </a:pPr>
            <a:r>
              <a:rPr sz="1500" b="0">
                <a:solidFill>
                  <a:srgbClr val="0A0A0A"/>
                </a:solidFill>
                <a:latin typeface="Microsoft JhengHei"/>
                <a:ea typeface="Microsoft JhengHei"/>
                <a:cs typeface="Microsoft JhengHei"/>
              </a:rPr>
              <a:t>Lowest call and loop overhead</a:t>
            </a:r>
            <a:endParaRPr/>
          </a:p>
        </p:txBody>
      </p:sp>
      <p:sp>
        <p:nvSpPr>
          <p:cNvPr id="1978155052" name=""/>
          <p:cNvSpPr>
            <a:spLocks noGrp="1"/>
          </p:cNvSpPr>
          <p:nvPr/>
        </p:nvSpPr>
        <p:spPr bwMode="auto">
          <a:xfrm>
            <a:off x="800100" y="5095875"/>
            <a:ext cx="10477500" cy="590549"/>
          </a:xfrm>
          <a:prstGeom prst="rect">
            <a:avLst/>
          </a:prstGeom>
          <a:noFill/>
          <a:ln w="0">
            <a:noFill/>
          </a:ln>
        </p:spPr>
        <p:txBody>
          <a:bodyPr anchor="ctr">
            <a:noAutofit/>
          </a:bodyPr>
          <a:lstStyle/>
          <a:p>
            <a:pPr>
              <a:defRPr sz="1800" b="0">
                <a:solidFill>
                  <a:srgbClr val="002FA7"/>
                </a:solidFill>
                <a:latin typeface="Microsoft JhengHei"/>
                <a:ea typeface="Microsoft JhengHei"/>
                <a:cs typeface="Microsoft JhengHei"/>
              </a:defRPr>
            </a:pPr>
            <a:r>
              <a:rPr sz="1800" b="0">
                <a:solidFill>
                  <a:srgbClr val="002FA7"/>
                </a:solidFill>
                <a:latin typeface="Microsoft JhengHei"/>
                <a:ea typeface="Microsoft JhengHei"/>
                <a:cs typeface="Microsoft JhengHei"/>
              </a:rPr>
              <a:t>Fewer calls reduce the cumulative cost of kernel transitions, function calls, and loop management.</a:t>
            </a:r>
            <a:endParaRPr/>
          </a:p>
        </p:txBody>
      </p:sp>
      <p:sp>
        <p:nvSpPr>
          <p:cNvPr id="635356325" name=""/>
          <p:cNvSpPr>
            <a:spLocks noGrp="1"/>
          </p:cNvSpPr>
          <p:nvPr/>
        </p:nvSpPr>
        <p:spPr bwMode="auto">
          <a:xfrm>
            <a:off x="800100" y="5848350"/>
            <a:ext cx="10382250" cy="381000"/>
          </a:xfrm>
          <a:prstGeom prst="rect">
            <a:avLst/>
          </a:prstGeom>
          <a:noFill/>
          <a:ln w="0">
            <a:noFill/>
          </a:ln>
        </p:spPr>
        <p:txBody>
          <a:bodyPr anchor="ctr">
            <a:noAutofit/>
          </a:bodyPr>
          <a:lstStyle/>
          <a:p>
            <a:pPr>
              <a:defRPr sz="1350" b="0">
                <a:solidFill>
                  <a:srgbClr val="737373"/>
                </a:solidFill>
                <a:latin typeface="Microsoft JhengHei"/>
                <a:ea typeface="Microsoft JhengHei"/>
                <a:cs typeface="Microsoft JhengHei"/>
              </a:defRPr>
            </a:pPr>
            <a:r>
              <a:rPr sz="1350" b="0">
                <a:solidFill>
                  <a:srgbClr val="737373"/>
                </a:solidFill>
                <a:latin typeface="Microsoft JhengHei"/>
                <a:ea typeface="Microsoft JhengHei"/>
                <a:cs typeface="Microsoft JhengHei"/>
              </a:rPr>
              <a:t>Beyond about 4 KiB, I/O and file-system overhead account for more of the time, so larger blocks add little benefit.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8"/>
        </a:solidFill>
      </p:bgPr>
    </p:bg>
    <p:spTree>
      <p:nvGrpSpPr>
        <p:cNvPr id="1" name=""/>
        <p:cNvGrpSpPr/>
        <p:nvPr/>
      </p:nvGrpSpPr>
      <p:grpSpPr bwMode="auto">
        <a:xfrm>
          <a:off x="0" y="0"/>
          <a:ext cx="0" cy="0"/>
          <a:chOff x="0" y="0"/>
          <a:chExt cx="0" cy="0"/>
        </a:xfrm>
      </p:grpSpPr>
      <p:sp>
        <p:nvSpPr>
          <p:cNvPr id="142349413" name=""/>
          <p:cNvSpPr>
            <a:spLocks noGrp="1"/>
          </p:cNvSpPr>
          <p:nvPr/>
        </p:nvSpPr>
        <p:spPr bwMode="auto">
          <a:xfrm>
            <a:off x="666750" y="304800"/>
            <a:ext cx="10668000" cy="257175"/>
          </a:xfrm>
          <a:prstGeom prst="rect">
            <a:avLst/>
          </a:prstGeom>
          <a:noFill/>
          <a:ln w="0">
            <a:noFill/>
          </a:ln>
        </p:spPr>
        <p:txBody>
          <a:bodyPr anchor="ctr">
            <a:noAutofit/>
          </a:bodyPr>
          <a:lstStyle/>
          <a:p>
            <a:pPr>
              <a:defRPr sz="1150" b="1">
                <a:solidFill>
                  <a:srgbClr val="737373"/>
                </a:solidFill>
                <a:latin typeface="Microsoft JhengHei"/>
                <a:ea typeface="Microsoft JhengHei"/>
                <a:cs typeface="Microsoft JhengHei"/>
              </a:defRPr>
            </a:pPr>
            <a:r>
              <a:rPr sz="1150" b="1">
                <a:solidFill>
                  <a:srgbClr val="737373"/>
                </a:solidFill>
                <a:latin typeface="Microsoft JhengHei"/>
                <a:ea typeface="Microsoft JhengHei"/>
                <a:cs typeface="Microsoft JhengHei"/>
              </a:rPr>
              <a:t>EXPERIMENT 2 · 256 MiB READ IN BOTH TESTS</a:t>
            </a:r>
            <a:endParaRPr/>
          </a:p>
        </p:txBody>
      </p:sp>
      <p:sp>
        <p:nvSpPr>
          <p:cNvPr id="911210191" name=""/>
          <p:cNvSpPr>
            <a:spLocks noGrp="1"/>
          </p:cNvSpPr>
          <p:nvPr/>
        </p:nvSpPr>
        <p:spPr bwMode="auto">
          <a:xfrm>
            <a:off x="666750" y="609600"/>
            <a:ext cx="10810875" cy="647700"/>
          </a:xfrm>
          <a:prstGeom prst="rect">
            <a:avLst/>
          </a:prstGeom>
          <a:noFill/>
          <a:ln w="0">
            <a:noFill/>
          </a:ln>
        </p:spPr>
        <p:txBody>
          <a:bodyPr anchor="ctr">
            <a:noAutofit/>
          </a:bodyPr>
          <a:lstStyle/>
          <a:p>
            <a:pPr>
              <a:defRPr sz="3300" b="0">
                <a:solidFill>
                  <a:srgbClr val="0A0A0A"/>
                </a:solidFill>
                <a:latin typeface="Microsoft JhengHei"/>
                <a:ea typeface="Microsoft JhengHei"/>
                <a:cs typeface="Microsoft JhengHei"/>
              </a:defRPr>
            </a:pPr>
            <a:r>
              <a:rPr sz="3300" b="0">
                <a:solidFill>
                  <a:srgbClr val="0A0A0A"/>
                </a:solidFill>
                <a:latin typeface="Microsoft JhengHei"/>
                <a:ea typeface="Microsoft JhengHei"/>
                <a:cs typeface="Microsoft JhengHei"/>
              </a:rPr>
              <a:t>Random reads took longer in this HDD run</a:t>
            </a:r>
            <a:endParaRPr/>
          </a:p>
        </p:txBody>
      </p:sp>
      <p:graphicFrame>
        <p:nvGraphicFramePr>
          <p:cNvPr id="346192511" name="Chart"/>
          <p:cNvGraphicFramePr>
            <a:graphicFrameLocks xmlns:a="http://schemas.openxmlformats.org/drawingml/2006/main"/>
          </p:cNvGraphicFramePr>
          <p:nvPr/>
        </p:nvGraphicFramePr>
        <p:xfrm rot="0">
          <a:off x="904875" y="1571625"/>
          <a:ext cx="10382250" cy="3762375"/>
        </p:xfrm>
        <a:graphic>
          <a:graphicData uri="http://schemas.openxmlformats.org/drawingml/2006/chart">
            <c:chart xmlns:c="http://schemas.openxmlformats.org/drawingml/2006/chart" xmlns:r="http://schemas.openxmlformats.org/officeDocument/2006/relationships" r:id="rId3"/>
          </a:graphicData>
        </a:graphic>
      </p:graphicFrame>
      <p:sp>
        <p:nvSpPr>
          <p:cNvPr id="1737823294" name=""/>
          <p:cNvSpPr>
            <a:spLocks noGrp="1"/>
          </p:cNvSpPr>
          <p:nvPr/>
        </p:nvSpPr>
        <p:spPr bwMode="auto">
          <a:xfrm>
            <a:off x="876299" y="5676900"/>
            <a:ext cx="10477500" cy="400050"/>
          </a:xfrm>
          <a:prstGeom prst="rect">
            <a:avLst/>
          </a:prstGeom>
          <a:noFill/>
          <a:ln w="0">
            <a:noFill/>
          </a:ln>
        </p:spPr>
        <p:txBody>
          <a:bodyPr anchor="ctr">
            <a:noAutofit/>
          </a:bodyPr>
          <a:lstStyle/>
          <a:p>
            <a:pPr>
              <a:defRPr sz="1750" b="1">
                <a:solidFill>
                  <a:srgbClr val="002FA7"/>
                </a:solidFill>
                <a:latin typeface="Microsoft JhengHei"/>
                <a:ea typeface="Microsoft JhengHei"/>
                <a:cs typeface="Microsoft JhengHei"/>
              </a:defRPr>
            </a:pPr>
            <a:r>
              <a:rPr sz="1750" b="1">
                <a:solidFill>
                  <a:srgbClr val="002FA7"/>
                </a:solidFill>
                <a:latin typeface="Microsoft JhengHei"/>
                <a:ea typeface="Microsoft JhengHei"/>
                <a:cs typeface="Microsoft JhengHei"/>
              </a:rPr>
              <a:t>Sequential: 51.53 ms  |  Random: 57.97 ms  |  Random was 12.5% slower</a:t>
            </a:r>
            <a:endParaRPr/>
          </a:p>
        </p:txBody>
      </p:sp>
      <p:sp>
        <p:nvSpPr>
          <p:cNvPr id="534439007" name=""/>
          <p:cNvSpPr>
            <a:spLocks noGrp="1"/>
          </p:cNvSpPr>
          <p:nvPr/>
        </p:nvSpPr>
        <p:spPr bwMode="auto">
          <a:xfrm>
            <a:off x="895350" y="6162675"/>
            <a:ext cx="10382250" cy="285750"/>
          </a:xfrm>
          <a:prstGeom prst="rect">
            <a:avLst/>
          </a:prstGeom>
          <a:noFill/>
          <a:ln w="0">
            <a:noFill/>
          </a:ln>
        </p:spPr>
        <p:txBody>
          <a:bodyPr anchor="ctr">
            <a:noAutofit/>
          </a:bodyPr>
          <a:lstStyle/>
          <a:p>
            <a:pPr>
              <a:defRPr sz="1300" b="0">
                <a:solidFill>
                  <a:srgbClr val="737373"/>
                </a:solidFill>
                <a:latin typeface="Microsoft JhengHei"/>
                <a:ea typeface="Microsoft JhengHei"/>
                <a:cs typeface="Microsoft JhengHei"/>
              </a:defRPr>
            </a:pPr>
            <a:r>
              <a:rPr sz="1300" b="0">
                <a:solidFill>
                  <a:srgbClr val="737373"/>
                </a:solidFill>
                <a:latin typeface="Microsoft JhengHei"/>
                <a:ea typeface="Microsoft JhengHei"/>
                <a:cs typeface="Microsoft JhengHei"/>
              </a:rPr>
              <a:t>One run per method; sequential ran first. Cache and test order may affect results.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8"/>
        </a:solidFill>
      </p:bgPr>
    </p:bg>
    <p:spTree>
      <p:nvGrpSpPr>
        <p:cNvPr id="1" name=""/>
        <p:cNvGrpSpPr/>
        <p:nvPr/>
      </p:nvGrpSpPr>
      <p:grpSpPr bwMode="auto">
        <a:xfrm>
          <a:off x="0" y="0"/>
          <a:ext cx="0" cy="0"/>
          <a:chOff x="0" y="0"/>
          <a:chExt cx="0" cy="0"/>
        </a:xfrm>
      </p:grpSpPr>
      <p:sp>
        <p:nvSpPr>
          <p:cNvPr id="1729596726" name=""/>
          <p:cNvSpPr>
            <a:spLocks noGrp="1"/>
          </p:cNvSpPr>
          <p:nvPr/>
        </p:nvSpPr>
        <p:spPr bwMode="auto">
          <a:xfrm>
            <a:off x="666750" y="304800"/>
            <a:ext cx="10668000" cy="257175"/>
          </a:xfrm>
          <a:prstGeom prst="rect">
            <a:avLst/>
          </a:prstGeom>
          <a:noFill/>
          <a:ln w="0">
            <a:noFill/>
          </a:ln>
        </p:spPr>
        <p:txBody>
          <a:bodyPr anchor="ctr">
            <a:noAutofit/>
          </a:bodyPr>
          <a:lstStyle/>
          <a:p>
            <a:pPr>
              <a:defRPr sz="1150" b="1">
                <a:solidFill>
                  <a:srgbClr val="737373"/>
                </a:solidFill>
                <a:latin typeface="Microsoft JhengHei"/>
                <a:ea typeface="Microsoft JhengHei"/>
                <a:cs typeface="Microsoft JhengHei"/>
              </a:defRPr>
            </a:pPr>
            <a:r>
              <a:rPr sz="1150" b="1">
                <a:solidFill>
                  <a:srgbClr val="737373"/>
                </a:solidFill>
                <a:latin typeface="Microsoft JhengHei"/>
                <a:ea typeface="Microsoft JhengHei"/>
                <a:cs typeface="Microsoft JhengHei"/>
              </a:rPr>
              <a:t>EXPERIMENT 2 · INTERPRETATION</a:t>
            </a:r>
            <a:endParaRPr/>
          </a:p>
        </p:txBody>
      </p:sp>
      <p:sp>
        <p:nvSpPr>
          <p:cNvPr id="1139021776" name=""/>
          <p:cNvSpPr>
            <a:spLocks noGrp="1"/>
          </p:cNvSpPr>
          <p:nvPr/>
        </p:nvSpPr>
        <p:spPr bwMode="auto">
          <a:xfrm>
            <a:off x="666750" y="609600"/>
            <a:ext cx="10810875" cy="647700"/>
          </a:xfrm>
          <a:prstGeom prst="rect">
            <a:avLst/>
          </a:prstGeom>
          <a:noFill/>
          <a:ln w="0">
            <a:noFill/>
          </a:ln>
        </p:spPr>
        <p:txBody>
          <a:bodyPr anchor="ctr">
            <a:noAutofit/>
          </a:bodyPr>
          <a:lstStyle/>
          <a:p>
            <a:pPr>
              <a:defRPr sz="3300" b="0">
                <a:solidFill>
                  <a:srgbClr val="0A0A0A"/>
                </a:solidFill>
                <a:latin typeface="Microsoft JhengHei"/>
                <a:ea typeface="Microsoft JhengHei"/>
                <a:cs typeface="Microsoft JhengHei"/>
              </a:defRPr>
            </a:pPr>
            <a:r>
              <a:rPr sz="3300" b="0">
                <a:solidFill>
                  <a:srgbClr val="0A0A0A"/>
                </a:solidFill>
                <a:latin typeface="Microsoft JhengHei"/>
                <a:ea typeface="Microsoft JhengHei"/>
                <a:cs typeface="Microsoft JhengHei"/>
              </a:rPr>
              <a:t>Sequential and Random Access</a:t>
            </a:r>
            <a:endParaRPr/>
          </a:p>
        </p:txBody>
      </p:sp>
      <p:sp>
        <p:nvSpPr>
          <p:cNvPr id="390812231" name=""/>
          <p:cNvSpPr>
            <a:spLocks noGrp="1"/>
          </p:cNvSpPr>
          <p:nvPr/>
        </p:nvSpPr>
        <p:spPr bwMode="auto">
          <a:xfrm>
            <a:off x="781050" y="1771650"/>
            <a:ext cx="3905250" cy="495300"/>
          </a:xfrm>
          <a:prstGeom prst="rect">
            <a:avLst/>
          </a:prstGeom>
          <a:noFill/>
          <a:ln w="0">
            <a:noFill/>
          </a:ln>
        </p:spPr>
        <p:txBody>
          <a:bodyPr anchor="ctr">
            <a:noAutofit/>
          </a:bodyPr>
          <a:lstStyle/>
          <a:p>
            <a:pPr>
              <a:defRPr sz="2350" b="0">
                <a:solidFill>
                  <a:srgbClr val="002FA7"/>
                </a:solidFill>
                <a:latin typeface="Microsoft JhengHei"/>
                <a:ea typeface="Microsoft JhengHei"/>
                <a:cs typeface="Microsoft JhengHei"/>
              </a:defRPr>
            </a:pPr>
            <a:r>
              <a:rPr sz="2350" b="0">
                <a:solidFill>
                  <a:srgbClr val="002FA7"/>
                </a:solidFill>
                <a:latin typeface="Microsoft JhengHei"/>
                <a:ea typeface="Microsoft JhengHei"/>
                <a:cs typeface="Microsoft JhengHei"/>
              </a:rPr>
              <a:t>Sequential Reads</a:t>
            </a:r>
            <a:endParaRPr/>
          </a:p>
        </p:txBody>
      </p:sp>
      <p:sp>
        <p:nvSpPr>
          <p:cNvPr id="1003748464" name=""/>
          <p:cNvSpPr>
            <a:spLocks noGrp="1"/>
          </p:cNvSpPr>
          <p:nvPr/>
        </p:nvSpPr>
        <p:spPr bwMode="auto">
          <a:xfrm>
            <a:off x="800100" y="2343150"/>
            <a:ext cx="4714875" cy="933450"/>
          </a:xfrm>
          <a:prstGeom prst="rect">
            <a:avLst/>
          </a:prstGeom>
          <a:noFill/>
          <a:ln w="0">
            <a:noFill/>
          </a:ln>
        </p:spPr>
        <p:txBody>
          <a:bodyPr anchor="ctr">
            <a:noAutofit/>
          </a:bodyPr>
          <a:lstStyle/>
          <a:p>
            <a:pPr>
              <a:defRPr sz="1750" b="0">
                <a:solidFill>
                  <a:srgbClr val="0A0A0A"/>
                </a:solidFill>
                <a:latin typeface="Microsoft JhengHei"/>
                <a:ea typeface="Microsoft JhengHei"/>
                <a:cs typeface="Microsoft JhengHei"/>
              </a:defRPr>
            </a:pPr>
            <a:r>
              <a:rPr sz="1750" b="0">
                <a:solidFill>
                  <a:srgbClr val="0A0A0A"/>
                </a:solidFill>
                <a:latin typeface="Microsoft JhengHei"/>
                <a:ea typeface="Microsoft JhengHei"/>
                <a:cs typeface="Microsoft JhengHei"/>
              </a:rPr>
              <a:t>Data is read from nearby locations, supporting sustained transfer. The operating system may also prefetch upcoming data.</a:t>
            </a:r>
            <a:endParaRPr/>
          </a:p>
        </p:txBody>
      </p:sp>
      <p:sp>
        <p:nvSpPr>
          <p:cNvPr id="1427690324" name=""/>
          <p:cNvSpPr>
            <a:spLocks noGrp="1"/>
          </p:cNvSpPr>
          <p:nvPr/>
        </p:nvSpPr>
        <p:spPr bwMode="auto">
          <a:xfrm>
            <a:off x="6400800" y="1771650"/>
            <a:ext cx="3905250" cy="495300"/>
          </a:xfrm>
          <a:prstGeom prst="rect">
            <a:avLst/>
          </a:prstGeom>
          <a:noFill/>
          <a:ln w="0">
            <a:noFill/>
          </a:ln>
        </p:spPr>
        <p:txBody>
          <a:bodyPr anchor="ctr">
            <a:noAutofit/>
          </a:bodyPr>
          <a:lstStyle/>
          <a:p>
            <a:pPr>
              <a:defRPr sz="2350" b="0">
                <a:solidFill>
                  <a:srgbClr val="002FA7"/>
                </a:solidFill>
                <a:latin typeface="Microsoft JhengHei"/>
                <a:ea typeface="Microsoft JhengHei"/>
                <a:cs typeface="Microsoft JhengHei"/>
              </a:defRPr>
            </a:pPr>
            <a:r>
              <a:rPr sz="2350" b="0">
                <a:solidFill>
                  <a:srgbClr val="002FA7"/>
                </a:solidFill>
                <a:latin typeface="Microsoft JhengHei"/>
                <a:ea typeface="Microsoft JhengHei"/>
                <a:cs typeface="Microsoft JhengHei"/>
              </a:rPr>
              <a:t>Random Reads</a:t>
            </a:r>
            <a:endParaRPr/>
          </a:p>
        </p:txBody>
      </p:sp>
      <p:sp>
        <p:nvSpPr>
          <p:cNvPr id="7765537" name=""/>
          <p:cNvSpPr>
            <a:spLocks noGrp="1"/>
          </p:cNvSpPr>
          <p:nvPr/>
        </p:nvSpPr>
        <p:spPr bwMode="auto">
          <a:xfrm>
            <a:off x="6419850" y="2343150"/>
            <a:ext cx="4762500" cy="933450"/>
          </a:xfrm>
          <a:prstGeom prst="rect">
            <a:avLst/>
          </a:prstGeom>
          <a:noFill/>
          <a:ln w="0">
            <a:noFill/>
          </a:ln>
        </p:spPr>
        <p:txBody>
          <a:bodyPr anchor="ctr">
            <a:noAutofit/>
          </a:bodyPr>
          <a:lstStyle/>
          <a:p>
            <a:pPr>
              <a:defRPr sz="1750" b="0">
                <a:solidFill>
                  <a:srgbClr val="0A0A0A"/>
                </a:solidFill>
                <a:latin typeface="Microsoft JhengHei"/>
                <a:ea typeface="Microsoft JhengHei"/>
                <a:cs typeface="Microsoft JhengHei"/>
              </a:defRPr>
            </a:pPr>
            <a:r>
              <a:rPr sz="1750" b="0">
                <a:solidFill>
                  <a:srgbClr val="0A0A0A"/>
                </a:solidFill>
                <a:latin typeface="Microsoft JhengHei"/>
                <a:ea typeface="Microsoft JhengHei"/>
                <a:cs typeface="Microsoft JhengHei"/>
              </a:rPr>
              <a:t>Requests jump between locations. If data must come from the platters, head seeks can add latency.</a:t>
            </a:r>
            <a:endParaRPr/>
          </a:p>
        </p:txBody>
      </p:sp>
      <p:sp>
        <p:nvSpPr>
          <p:cNvPr id="1229875180" name=""/>
          <p:cNvSpPr>
            <a:spLocks noGrp="1"/>
          </p:cNvSpPr>
          <p:nvPr/>
        </p:nvSpPr>
        <p:spPr bwMode="auto">
          <a:xfrm>
            <a:off x="800100" y="4057650"/>
            <a:ext cx="10382250" cy="1333500"/>
          </a:xfrm>
          <a:prstGeom prst="rect">
            <a:avLst/>
          </a:prstGeom>
          <a:noFill/>
          <a:ln w="0">
            <a:noFill/>
          </a:ln>
        </p:spPr>
        <p:txBody>
          <a:bodyPr anchor="ctr">
            <a:noAutofit/>
          </a:bodyPr>
          <a:lstStyle/>
          <a:p>
            <a:pPr>
              <a:defRPr sz="1800" b="0">
                <a:solidFill>
                  <a:srgbClr val="0A0A0A"/>
                </a:solidFill>
                <a:latin typeface="Microsoft JhengHei"/>
                <a:ea typeface="Microsoft JhengHei"/>
                <a:cs typeface="Microsoft JhengHei"/>
              </a:defRPr>
            </a:pPr>
            <a:r>
              <a:rPr sz="1800" b="0">
                <a:solidFill>
                  <a:srgbClr val="0A0A0A"/>
                </a:solidFill>
                <a:latin typeface="Microsoft JhengHei"/>
                <a:ea typeface="Microsoft JhengHei"/>
                <a:cs typeface="Microsoft JhengHei"/>
              </a:rPr>
              <a:t>In this HDD run, random reads took 57.97 ms, 12.5% longer than the 51.53 ms sequential read. Sequential ran first and each method was measured once. File caching may have reduced or changed the gap. Alternate test order and repeat the measurements for a more reliable comparison.</a:t>
            </a:r>
            <a:endParaRPr/>
          </a:p>
        </p:txBody>
      </p:sp>
      <p:sp>
        <p:nvSpPr>
          <p:cNvPr id="1589095077" name=""/>
          <p:cNvSpPr>
            <a:spLocks noGrp="1"/>
          </p:cNvSpPr>
          <p:nvPr/>
        </p:nvSpPr>
        <p:spPr bwMode="auto">
          <a:xfrm>
            <a:off x="800100" y="5695950"/>
            <a:ext cx="10382250" cy="476250"/>
          </a:xfrm>
          <a:prstGeom prst="rect">
            <a:avLst/>
          </a:prstGeom>
          <a:noFill/>
          <a:ln w="0">
            <a:noFill/>
          </a:ln>
        </p:spPr>
        <p:txBody>
          <a:bodyPr anchor="ctr">
            <a:noAutofit/>
          </a:bodyPr>
          <a:lstStyle/>
          <a:p>
            <a:pPr>
              <a:defRPr sz="1500" b="1">
                <a:solidFill>
                  <a:srgbClr val="002FA7"/>
                </a:solidFill>
                <a:latin typeface="Microsoft JhengHei"/>
                <a:ea typeface="Microsoft JhengHei"/>
                <a:cs typeface="Microsoft JhengHei"/>
              </a:defRPr>
            </a:pPr>
            <a:r>
              <a:rPr sz="1500" b="1">
                <a:solidFill>
                  <a:srgbClr val="002FA7"/>
                </a:solidFill>
                <a:latin typeface="Microsoft JhengHei"/>
                <a:ea typeface="Microsoft JhengHei"/>
                <a:cs typeface="Microsoft JhengHei"/>
              </a:rPr>
              <a:t>Design implication: reduce random I/O, combine small requests, or choose storage suited to the access pattern.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8"/>
        </a:solidFill>
      </p:bgPr>
    </p:bg>
    <p:spTree>
      <p:nvGrpSpPr>
        <p:cNvPr id="1" name=""/>
        <p:cNvGrpSpPr/>
        <p:nvPr/>
      </p:nvGrpSpPr>
      <p:grpSpPr bwMode="auto">
        <a:xfrm>
          <a:off x="0" y="0"/>
          <a:ext cx="0" cy="0"/>
          <a:chOff x="0" y="0"/>
          <a:chExt cx="0" cy="0"/>
        </a:xfrm>
      </p:grpSpPr>
      <p:sp>
        <p:nvSpPr>
          <p:cNvPr id="1679338131" name=""/>
          <p:cNvSpPr>
            <a:spLocks noGrp="1"/>
          </p:cNvSpPr>
          <p:nvPr/>
        </p:nvSpPr>
        <p:spPr bwMode="auto">
          <a:xfrm>
            <a:off x="666750" y="304800"/>
            <a:ext cx="10668000" cy="257175"/>
          </a:xfrm>
          <a:prstGeom prst="rect">
            <a:avLst/>
          </a:prstGeom>
          <a:noFill/>
          <a:ln w="0">
            <a:noFill/>
          </a:ln>
        </p:spPr>
        <p:txBody>
          <a:bodyPr anchor="ctr">
            <a:noAutofit/>
          </a:bodyPr>
          <a:lstStyle/>
          <a:p>
            <a:pPr>
              <a:defRPr sz="1150" b="1">
                <a:solidFill>
                  <a:srgbClr val="737373"/>
                </a:solidFill>
                <a:latin typeface="Microsoft JhengHei"/>
                <a:ea typeface="Microsoft JhengHei"/>
                <a:cs typeface="Microsoft JhengHei"/>
              </a:defRPr>
            </a:pPr>
            <a:r>
              <a:rPr sz="1150" b="1">
                <a:solidFill>
                  <a:srgbClr val="737373"/>
                </a:solidFill>
                <a:latin typeface="Microsoft JhengHei"/>
                <a:ea typeface="Microsoft JhengHei"/>
                <a:cs typeface="Microsoft JhengHei"/>
              </a:rPr>
              <a:t>HDD RESULTS · SUMMARY</a:t>
            </a:r>
            <a:endParaRPr/>
          </a:p>
        </p:txBody>
      </p:sp>
      <p:sp>
        <p:nvSpPr>
          <p:cNvPr id="1405656893" name=""/>
          <p:cNvSpPr>
            <a:spLocks noGrp="1"/>
          </p:cNvSpPr>
          <p:nvPr/>
        </p:nvSpPr>
        <p:spPr bwMode="auto">
          <a:xfrm>
            <a:off x="666750" y="609600"/>
            <a:ext cx="10810875" cy="647700"/>
          </a:xfrm>
          <a:prstGeom prst="rect">
            <a:avLst/>
          </a:prstGeom>
          <a:noFill/>
          <a:ln w="0">
            <a:noFill/>
          </a:ln>
        </p:spPr>
        <p:txBody>
          <a:bodyPr anchor="ctr">
            <a:noAutofit/>
          </a:bodyPr>
          <a:lstStyle/>
          <a:p>
            <a:pPr>
              <a:defRPr sz="3300" b="0">
                <a:solidFill>
                  <a:srgbClr val="0A0A0A"/>
                </a:solidFill>
                <a:latin typeface="Microsoft JhengHei"/>
                <a:ea typeface="Microsoft JhengHei"/>
                <a:cs typeface="Microsoft JhengHei"/>
              </a:defRPr>
            </a:pPr>
            <a:r>
              <a:rPr sz="3300" b="0">
                <a:solidFill>
                  <a:srgbClr val="0A0A0A"/>
                </a:solidFill>
                <a:latin typeface="Microsoft JhengHei"/>
                <a:ea typeface="Microsoft JhengHei"/>
                <a:cs typeface="Microsoft JhengHei"/>
              </a:rPr>
              <a:t>What have we learned?</a:t>
            </a:r>
            <a:endParaRPr/>
          </a:p>
        </p:txBody>
      </p:sp>
      <p:sp>
        <p:nvSpPr>
          <p:cNvPr id="1412737837" name=""/>
          <p:cNvSpPr>
            <a:spLocks noGrp="1"/>
          </p:cNvSpPr>
          <p:nvPr/>
        </p:nvSpPr>
        <p:spPr bwMode="auto">
          <a:xfrm>
            <a:off x="762000" y="1666875"/>
            <a:ext cx="1000125" cy="590549"/>
          </a:xfrm>
          <a:prstGeom prst="rect">
            <a:avLst/>
          </a:prstGeom>
          <a:noFill/>
          <a:ln w="0">
            <a:noFill/>
          </a:ln>
        </p:spPr>
        <p:txBody>
          <a:bodyPr anchor="ctr">
            <a:noAutofit/>
          </a:bodyPr>
          <a:lstStyle/>
          <a:p>
            <a:pPr>
              <a:defRPr sz="3250" b="0">
                <a:solidFill>
                  <a:srgbClr val="002FA7"/>
                </a:solidFill>
                <a:latin typeface="Microsoft JhengHei"/>
                <a:ea typeface="Microsoft JhengHei"/>
                <a:cs typeface="Microsoft JhengHei"/>
              </a:defRPr>
            </a:pPr>
            <a:r>
              <a:rPr sz="3250" b="0">
                <a:solidFill>
                  <a:srgbClr val="002FA7"/>
                </a:solidFill>
                <a:latin typeface="Microsoft JhengHei"/>
                <a:ea typeface="Microsoft JhengHei"/>
                <a:cs typeface="Microsoft JhengHei"/>
              </a:rPr>
              <a:t>01</a:t>
            </a:r>
            <a:endParaRPr/>
          </a:p>
        </p:txBody>
      </p:sp>
      <p:sp>
        <p:nvSpPr>
          <p:cNvPr id="1726448640" name=""/>
          <p:cNvSpPr>
            <a:spLocks noGrp="1"/>
          </p:cNvSpPr>
          <p:nvPr/>
        </p:nvSpPr>
        <p:spPr bwMode="auto">
          <a:xfrm>
            <a:off x="1828800" y="1676400"/>
            <a:ext cx="4095750" cy="419100"/>
          </a:xfrm>
          <a:prstGeom prst="rect">
            <a:avLst/>
          </a:prstGeom>
          <a:noFill/>
          <a:ln w="0">
            <a:noFill/>
          </a:ln>
        </p:spPr>
        <p:txBody>
          <a:bodyPr anchor="ctr">
            <a:noAutofit/>
          </a:bodyPr>
          <a:lstStyle/>
          <a:p>
            <a:pPr>
              <a:defRPr sz="2050" b="0">
                <a:solidFill>
                  <a:srgbClr val="0A0A0A"/>
                </a:solidFill>
                <a:latin typeface="Microsoft JhengHei"/>
                <a:ea typeface="Microsoft JhengHei"/>
                <a:cs typeface="Microsoft JhengHei"/>
              </a:defRPr>
            </a:pPr>
            <a:r>
              <a:rPr sz="2050" b="0">
                <a:solidFill>
                  <a:srgbClr val="0A0A0A"/>
                </a:solidFill>
                <a:latin typeface="Microsoft JhengHei"/>
                <a:ea typeface="Microsoft JhengHei"/>
                <a:cs typeface="Microsoft JhengHei"/>
              </a:rPr>
              <a:t>Larger blocks reduce calls</a:t>
            </a:r>
            <a:endParaRPr/>
          </a:p>
        </p:txBody>
      </p:sp>
      <p:sp>
        <p:nvSpPr>
          <p:cNvPr id="974886314" name=""/>
          <p:cNvSpPr>
            <a:spLocks noGrp="1"/>
          </p:cNvSpPr>
          <p:nvPr/>
        </p:nvSpPr>
        <p:spPr bwMode="auto">
          <a:xfrm>
            <a:off x="762000" y="3086100"/>
            <a:ext cx="1000125" cy="590549"/>
          </a:xfrm>
          <a:prstGeom prst="rect">
            <a:avLst/>
          </a:prstGeom>
          <a:noFill/>
          <a:ln w="0">
            <a:noFill/>
          </a:ln>
        </p:spPr>
        <p:txBody>
          <a:bodyPr anchor="ctr">
            <a:noAutofit/>
          </a:bodyPr>
          <a:lstStyle/>
          <a:p>
            <a:pPr>
              <a:defRPr sz="3250" b="0">
                <a:solidFill>
                  <a:srgbClr val="002FA7"/>
                </a:solidFill>
                <a:latin typeface="Microsoft JhengHei"/>
                <a:ea typeface="Microsoft JhengHei"/>
                <a:cs typeface="Microsoft JhengHei"/>
              </a:defRPr>
            </a:pPr>
            <a:r>
              <a:rPr sz="3250" b="0">
                <a:solidFill>
                  <a:srgbClr val="002FA7"/>
                </a:solidFill>
                <a:latin typeface="Microsoft JhengHei"/>
                <a:ea typeface="Microsoft JhengHei"/>
                <a:cs typeface="Microsoft JhengHei"/>
              </a:rPr>
              <a:t>02</a:t>
            </a:r>
            <a:endParaRPr/>
          </a:p>
        </p:txBody>
      </p:sp>
      <p:sp>
        <p:nvSpPr>
          <p:cNvPr id="361412626" name=""/>
          <p:cNvSpPr>
            <a:spLocks noGrp="1"/>
          </p:cNvSpPr>
          <p:nvPr/>
        </p:nvSpPr>
        <p:spPr bwMode="auto">
          <a:xfrm>
            <a:off x="1828800" y="3095625"/>
            <a:ext cx="4095750" cy="419100"/>
          </a:xfrm>
          <a:prstGeom prst="rect">
            <a:avLst/>
          </a:prstGeom>
          <a:noFill/>
          <a:ln w="0">
            <a:noFill/>
          </a:ln>
        </p:spPr>
        <p:txBody>
          <a:bodyPr anchor="ctr">
            <a:noAutofit/>
          </a:bodyPr>
          <a:lstStyle/>
          <a:p>
            <a:pPr>
              <a:defRPr sz="2050" b="0">
                <a:solidFill>
                  <a:srgbClr val="0A0A0A"/>
                </a:solidFill>
                <a:latin typeface="Microsoft JhengHei"/>
                <a:ea typeface="Microsoft JhengHei"/>
                <a:cs typeface="Microsoft JhengHei"/>
              </a:defRPr>
            </a:pPr>
            <a:r>
              <a:rPr sz="2050" b="0">
                <a:solidFill>
                  <a:srgbClr val="0A0A0A"/>
                </a:solidFill>
                <a:latin typeface="Microsoft JhengHei"/>
                <a:ea typeface="Microsoft JhengHei"/>
                <a:cs typeface="Microsoft JhengHei"/>
              </a:rPr>
              <a:t>Read method matters</a:t>
            </a:r>
            <a:endParaRPr/>
          </a:p>
        </p:txBody>
      </p:sp>
      <p:sp>
        <p:nvSpPr>
          <p:cNvPr id="1046157778" name=""/>
          <p:cNvSpPr>
            <a:spLocks noGrp="1"/>
          </p:cNvSpPr>
          <p:nvPr/>
        </p:nvSpPr>
        <p:spPr bwMode="auto">
          <a:xfrm>
            <a:off x="762000" y="4495800"/>
            <a:ext cx="1000125" cy="590549"/>
          </a:xfrm>
          <a:prstGeom prst="rect">
            <a:avLst/>
          </a:prstGeom>
          <a:noFill/>
          <a:ln w="0">
            <a:noFill/>
          </a:ln>
        </p:spPr>
        <p:txBody>
          <a:bodyPr anchor="ctr">
            <a:noAutofit/>
          </a:bodyPr>
          <a:lstStyle/>
          <a:p>
            <a:pPr>
              <a:defRPr sz="3250" b="0">
                <a:solidFill>
                  <a:srgbClr val="002FA7"/>
                </a:solidFill>
                <a:latin typeface="Microsoft JhengHei"/>
                <a:ea typeface="Microsoft JhengHei"/>
                <a:cs typeface="Microsoft JhengHei"/>
              </a:defRPr>
            </a:pPr>
            <a:r>
              <a:rPr sz="3250" b="0">
                <a:solidFill>
                  <a:srgbClr val="002FA7"/>
                </a:solidFill>
                <a:latin typeface="Microsoft JhengHei"/>
                <a:ea typeface="Microsoft JhengHei"/>
                <a:cs typeface="Microsoft JhengHei"/>
              </a:rPr>
              <a:t>03</a:t>
            </a:r>
            <a:endParaRPr/>
          </a:p>
        </p:txBody>
      </p:sp>
      <p:sp>
        <p:nvSpPr>
          <p:cNvPr id="1120418077" name=""/>
          <p:cNvSpPr>
            <a:spLocks noGrp="1"/>
          </p:cNvSpPr>
          <p:nvPr/>
        </p:nvSpPr>
        <p:spPr bwMode="auto">
          <a:xfrm flipH="0" flipV="0">
            <a:off x="1828800" y="4505324"/>
            <a:ext cx="4910772" cy="419099"/>
          </a:xfrm>
          <a:prstGeom prst="rect">
            <a:avLst/>
          </a:prstGeom>
          <a:noFill/>
          <a:ln w="0">
            <a:noFill/>
          </a:ln>
        </p:spPr>
        <p:txBody>
          <a:bodyPr anchor="ctr">
            <a:noAutofit/>
          </a:bodyPr>
          <a:lstStyle/>
          <a:p>
            <a:pPr>
              <a:defRPr sz="2050" b="0">
                <a:solidFill>
                  <a:srgbClr val="0A0A0A"/>
                </a:solidFill>
                <a:latin typeface="Microsoft JhengHei"/>
                <a:ea typeface="Microsoft JhengHei"/>
                <a:cs typeface="Microsoft JhengHei"/>
              </a:defRPr>
            </a:pPr>
            <a:r>
              <a:rPr sz="2050" b="0">
                <a:solidFill>
                  <a:srgbClr val="0A0A0A"/>
                </a:solidFill>
                <a:latin typeface="Microsoft JhengHei"/>
                <a:ea typeface="Microsoft JhengHei"/>
                <a:cs typeface="Microsoft JhengHei"/>
              </a:rPr>
              <a:t>System calls should be minimized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8</Slides>
  <Notes>8</Notes>
  <HiddenSlides>0</HiddenSlides>
  <MMClips>2</MMClips>
  <ScaleCrop>0</ScaleCrop>
  <HeadingPairs>
    <vt:vector size="4" baseType="variant">
      <vt:variant>
        <vt:lpstr>Theme</vt:lpstr>
      </vt:variant>
      <vt:variant>
        <vt:i4>1</vt:i4>
      </vt:variant>
      <vt:variant>
        <vt:lpstr>Slide Titles</vt:lpstr>
      </vt:variant>
      <vt:variant>
        <vt:i4>8</vt:i4>
      </vt:variant>
    </vt:vector>
  </HeadingPairs>
  <TitlesOfParts>
    <vt:vector size="9" baseType="lpstr">
      <vt:lpstr>Theme 1</vt:lpstr>
      <vt:lpstr>Slide 1</vt:lpstr>
      <vt:lpstr>Slide 2</vt:lpstr>
      <vt:lpstr>Slide 3</vt:lpstr>
      <vt:lpstr>Slide 4</vt:lpstr>
      <vt:lpstr>Slide 5</vt:lpstr>
      <vt:lpstr>Slide 6</vt:lpstr>
      <vt:lpstr>Slide 7</vt:lpstr>
      <vt:lpstr>Slide 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2026-10-07T19:12:23Z</dcterms:modified>
</cp:coreProperties>
</file>