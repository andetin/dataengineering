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【建議時間】30 秒</a:t>
            </a:r>
          </a:p>
          <a:p/>
          <a:p>
            <a:r>
              <a:t>各位老師、同學好，今天我要報告的專題是 **esort — 一個具備記憶體上限控制的外部排序工具**。</a:t>
            </a:r>
            <a:br/>
            <a:r>
              <a:t>這是一個用 C 語言實作的命令列程式，能在**記憶體遠小於檔案大小**的條件下完成排序，</a:t>
            </a:r>
            <a:br/>
            <a:r>
              <a:t>全程 1413 行、零編譯警告。接下來我會說明它的架構、幾個關鍵的設計巧思，</a:t>
            </a:r>
            <a:br/>
            <a:r>
              <a:t>以及我在驗證過程中實際抓到的四個 bug。</a:t>
            </a:r>
          </a:p>
          <a:p>
            <a:br/>
            <a:r>
              <a:t>【這頁要讓聽眾記住】這是一個「受記憶體限制的外部排序」專題。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【建議時間】45 秒</a:t>
            </a:r>
          </a:p>
          <a:p/>
          <a:p>
            <a:r>
              <a:t>先講動機。`qsort()` 這類內部排序有一個前提：**整份資料必須放得進記憶體**。</a:t>
            </a:r>
            <a:br/>
            <a:r>
              <a:t>但實務上處理的常常是幾十 GB 的日誌、交易檔，這個前提根本不成立。</a:t>
            </a:r>
            <a:br/>
            <a:br/>
            <a:r>
              <a:t>外部排序的解法是：**記憶體排序 + 暫存檔 + 合併**，</a:t>
            </a:r>
            <a:br/>
            <a:r>
              <a:t>複雜度上分成兩段——</a:t>
            </a:r>
            <a:br/>
            <a:r>
              <a:t>假設記憶體能放 M 筆、總共 N 筆、一次合併 k 個 run，</a:t>
            </a:r>
            <a:br/>
            <a:r>
              <a:t>內部排序是 O(N/M × M log M)，I/O 成本則是 **O(N log_k N)**。</a:t>
            </a:r>
            <a:br/>
            <a:r>
              <a:t>關鍵在於 log 底數 k：k 越大，讀寫暫存檔的次數越少。</a:t>
            </a:r>
            <a:br/>
            <a:r>
              <a:t>這就決定了後面兩個設計重點 —— **k 開多大**，以及 **k 開大之後記憶體要怎麼省**。</a:t>
            </a:r>
          </a:p>
          <a:p>
            <a:br/>
            <a:r>
              <a:t>【這頁要讓聽眾記住】外部排序的瓶頸是 I/O 次數，而 I/O 次數取決於合併路數 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【建議時間】40 秒</a:t>
            </a:r>
          </a:p>
          <a:p/>
          <a:p>
            <a:r>
              <a:t>依規格書，我需要實作六個選項：`-c` 不分大小寫、`-m` 記憶體上限、`-r` 反向、</a:t>
            </a:r>
            <a:br/>
            <a:r>
              <a:t>`-n` 數值、`-l` 長度優先、`-o` 輸出檔。</a:t>
            </a:r>
            <a:br/>
            <a:r>
              <a:t>除了功能本身，還有幾個硬性限制：</a:t>
            </a:r>
            <a:br/>
            <a:br/>
            <a:r>
              <a:t>1. **記憶體必須嚴格不超過 `-m` 指定值** —— 不是「大概」；</a:t>
            </a:r>
            <a:br/>
            <a:r>
              <a:t>2. 必須支援**兩階段外部排序**；</a:t>
            </a:r>
            <a:br/>
            <a:r>
              <a:t>3. 暫存檔數量可能超過系統開檔上限，需要**多輪合併**；</a:t>
            </a:r>
            <a:br/>
            <a:r>
              <a:t>4. `-o` 指定輸出檔時**不得覆蓋或毀損輸入檔**；</a:t>
            </a:r>
            <a:br/>
            <a:r>
              <a:t>5. 結束前必須釋放所有資源。</a:t>
            </a:r>
            <a:br/>
            <a:br/>
            <a:r>
              <a:t>這五條限制，後面每一個設計巧思其實都是為了回應其中一條。</a:t>
            </a:r>
          </a:p>
          <a:p>
            <a:br/>
            <a:r>
              <a:t>【這頁要讓聽眾記住】限制條款會直接決定設計。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【建議時間】50 秒</a:t>
            </a:r>
          </a:p>
          <a:p/>
          <a:p>
            <a:r>
              <a:t>整體架構就是經典的兩階段外部合併排序。</a:t>
            </a:r>
            <a:br/>
            <a:br/>
            <a:r>
              <a:t>**階段一**反覆做三件事：用一個記憶體池盡量讀資料進來、對這一批做 `qsort()`、</a:t>
            </a:r>
            <a:br/>
            <a:r>
              <a:t>把排序結果寫成一個 run 暫存檔。</a:t>
            </a:r>
            <a:br/>
            <a:r>
              <a:t>**階段二**把所有 run 檔用 **Min-Heap 多路合併**成一條完整輸出。</a:t>
            </a:r>
            <a:br/>
            <a:r>
              <a:t>如果 run 數超過可同時開啟的檔案數，就先合併成較少的 run，再進行下一輪。</a:t>
            </a:r>
            <a:br/>
            <a:br/>
            <a:r>
              <a:t>我們在圖的下方標了三塊記憶體預算，這是整個程式的核心：</a:t>
            </a:r>
            <a:br/>
            <a:r>
              <a:t>總預算是 `-m`，**先扣掉合併階段一定要用的部分**，剩下的才給階段一的記憶體池。</a:t>
            </a:r>
            <a:br/>
            <a:r>
              <a:t>為什麼要這樣分，等一下第 8 頁會說明。</a:t>
            </a:r>
          </a:p>
          <a:p>
            <a:br/>
            <a:r>
              <a:t>【這頁要讓聽眾記住】兩階段 + 記憶體預算先分給合併階段。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【建議時間】35 秒</a:t>
            </a:r>
          </a:p>
          <a:p/>
          <a:p>
            <a:r>
              <a:t>接下來我會用五個巧思來說明主要設計。</a:t>
            </a:r>
            <a:br/>
            <a:br/>
            <a:r>
              <a:t>1. **統一 Comparator** —— 讓內部排序和外部合併不可能不一致；</a:t>
            </a:r>
            <a:br/>
            <a:r>
              <a:t>2. **Arena 記憶體池** —— 固定區塊鏈結串列，指針永不失效；</a:t>
            </a:r>
            <a:br/>
            <a:r>
              <a:t>3. **記憶體預算三分與 k 值推導** —— 讓 `-m` 是真的上限；</a:t>
            </a:r>
            <a:br/>
            <a:r>
              <a:t>4. **Min-Heap 合併與堆頂取代法** —— 減少比較次數；</a:t>
            </a:r>
            <a:br/>
            <a:r>
              <a:t>5. **資源安全細節** —— 同檔輸出、超長行、換行格式。</a:t>
            </a:r>
            <a:br/>
            <a:br/>
            <a:r>
              <a:t>這五個分別對應剛才那五條限制。</a:t>
            </a:r>
          </a:p>
          <a:p>
            <a:br/>
            <a:r>
              <a:t>【這頁要讓聽眾記住】五個巧思對應五條限制。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【建議時間】55 秒</a:t>
            </a:r>
          </a:p>
          <a:p/>
          <a:p>
            <a:r>
              <a:t>第一個巧思，是把比較邏輯**只寫一次**。</a:t>
            </a:r>
            <a:br/>
            <a:br/>
            <a:r>
              <a:t>我的程式有兩個地方需要比較：階段一 `qsort()` 內部排序，以及階段二 Min-Heap 合併。</a:t>
            </a:r>
            <a:br/>
            <a:r>
              <a:t>最常見的錯誤寫法是兩邊各寫一份，結果**內部用字典序、合併用數值序**，</a:t>
            </a:r>
            <a:br/>
            <a:r>
              <a:t>合併出來的結果就會是錯的，而且因為資料量大、看不出來，極難debug。</a:t>
            </a:r>
            <a:br/>
            <a:br/>
            <a:r>
              <a:t>所以我讓兩邊共用同一個 `cmp_strings()`，只有最外層的介面不同：</a:t>
            </a:r>
            <a:br/>
            <a:r>
              <a:t>`qsort()` 傳的是 `char**` 要多解一層參考，heap 傳的是 `HeapItem` 取其中的指標。</a:t>
            </a:r>
            <a:br/>
            <a:r>
              <a:t>**判斷順序完全一致**：先用 `-l` 比長度，再用 `-n` 比數值、</a:t>
            </a:r>
            <a:br/>
            <a:r>
              <a:t>數值相同才用字典序做平手比較，最後 `-r` 把結果反轉。</a:t>
            </a:r>
            <a:br/>
            <a:br/>
            <a:r>
              <a:t>順便一提，`-n` 我是用 `&lt;` 和 `&gt;` 比較而不是相減，因為 `atoi()` 回傳 int，</a:t>
            </a:r>
            <a:br/>
            <a:r>
              <a:t>兩個大數相減會溢位。</a:t>
            </a:r>
          </a:p>
          <a:p>
            <a:br/>
            <a:r>
              <a:t>【這頁要讓聽眾記住】比較邏輯只寫一次，兩階段共用，杜絕「排序和合併不一致」。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【建議時間】75 秒</a:t>
            </a:r>
          </a:p>
          <a:p/>
          <a:p>
            <a:r>
              <a:t>第二個巧思是記憶體池的設計，這是我覺得最值得講的一段。</a:t>
            </a:r>
            <a:br/>
            <a:br/>
            <a:r>
              <a:t>直覺上會這樣做：一個大 `char` 陣列存所有字串，一個 `char**` 存指標。</a:t>
            </a:r>
            <a:br/>
            <a:r>
              <a:t>但問題在於，**陣列要長大怎麼辦？** `realloc()` 可能把整塊搬到新位置，</a:t>
            </a:r>
            <a:br/>
            <a:r>
              <a:t>那所有指標都失效了，而且搬移瞬間會同時存在新舊兩份，**峰值記憶體直接翻倍**。</a:t>
            </a:r>
            <a:br/>
            <a:br/>
            <a:r>
              <a:t>我的做法是：**固定 64KB 的區塊，用鏈結串列串起來，永不搬移**。</a:t>
            </a:r>
            <a:br/>
            <a:r>
              <a:t>每個區塊用完就配置下一塊，所以每個字串的指標從寫入到排序完成都不會失效，</a:t>
            </a:r>
            <a:br/>
            <a:r>
              <a:t>峰值記憶體也完全可控 —— 因為每個區塊多大是我自己定的。</a:t>
            </a:r>
            <a:br/>
            <a:br/>
            <a:r>
              <a:t>右上角這段是預算檢查。我定義了一個 `CHUNK_USED()`，</a:t>
            </a:r>
            <a:br/>
            <a:r>
              <a:t>把「已經用掉的 arena 位元組」加上「指標陣列容量乘上 `sizeof(char*)`」算在一起。</a:t>
            </a:r>
            <a:br/>
            <a:r>
              <a:t>為什麼連指標都要算？因為規格書要求**動態配置的陣列也要算進去**。</a:t>
            </a:r>
            <a:br/>
            <a:r>
              <a:t>指標陣列容量是 2 的冪次，越長越貴，不算進去的話實際用量會超出上限。</a:t>
            </a:r>
          </a:p>
          <a:p>
            <a:br/>
            <a:r>
              <a:t>【這頁要讓聽眾記住】固定區塊鏈結串列，指標不失效、峰值不翻倍，且預算精確到連指標都算。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【建議時間】70 秒</a:t>
            </a:r>
          </a:p>
          <a:p/>
          <a:p>
            <a:r>
              <a:t>第三個巧思，是**預算怎麼切**，以及**k 怎麼決定**。</a:t>
            </a:r>
            <a:br/>
            <a:br/>
            <a:r>
              <a:t>先講預算。合併階段每個 run 都必須同時開著檔案，而且每個都要有一個讀取緩衝區</a:t>
            </a:r>
            <a:br/>
            <a:r>
              <a:t>和一個行緩衝區，這些記憶體是**在階段一結束前就必須先保留**的。</a:t>
            </a:r>
            <a:br/>
            <a:r>
              <a:t>如果我貪心把記憶體全部拿去讀資料，等到要合併時才發現記憶體不夠，就只能失敗。</a:t>
            </a:r>
            <a:br/>
            <a:r>
              <a:t>所以我**先扣掉合併階段的預留，再把剩下的給階段一**。</a:t>
            </a:r>
            <a:br/>
            <a:br/>
            <a:r>
              <a:t>這裡有個關鍵細節：常見做法是 k 寫死成 512。</a:t>
            </a:r>
            <a:br/>
            <a:r>
              <a:t>但 512 個 run，每個配 8KB 讀取緩衝區加 4KB 行緩衝區，**光這一項就要 6MB**。</a:t>
            </a:r>
            <a:br/>
            <a:r>
              <a:t>如果使用者只給 `-m 1`，這樣根本撐不起來。</a:t>
            </a:r>
            <a:br/>
            <a:br/>
            <a:r>
              <a:t>所以我讓 **k 隨記憶體預算動態推導**：`k = (預算的一半 - 固定緩衝) / 每個 run 的成本`，</a:t>
            </a:r>
            <a:br/>
            <a:r>
              <a:t>再用 512 封頂。實測 `-m 100` 時 k 算得 512、`-m 1` 時自動降到 31。</a:t>
            </a:r>
            <a:br/>
            <a:r>
              <a:t>這樣記憶體小的使用者也不會直接崩潰，而是**自動降級成多輪合併**。</a:t>
            </a:r>
          </a:p>
          <a:p>
            <a:br/>
            <a:r>
              <a:t>【這頁要讓聽眾記住】預算先給合併階段；k 不寫死，隨 `-m` 動態推導並封頂 512。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【建議時間】55 秒</a:t>
            </a:r>
          </a:p>
          <a:p/>
          <a:p>
            <a:r>
              <a:t>第四個巧思在合併迴圈。標準寫法是：取出堆頂、輸出、然後 push 回去。</a:t>
            </a:r>
            <a:br/>
            <a:r>
              <a:t>push 需要 `sift_up`，pop 需要 `sift_down`，每行要跑兩趟堆積調整。</a:t>
            </a:r>
            <a:br/>
            <a:br/>
            <a:r>
              <a:t>但這裡有個性質可以利用：**取出的堆頂和補進去的元素，一定來自同一個 run**，</a:t>
            </a:r>
            <a:br/>
            <a:r>
              <a:t>所以整個堆裡面**只有堆頂一個位置改變**。</a:t>
            </a:r>
            <a:br/>
            <a:r>
              <a:t>那我就可以直接**覆寫堆頂，只做一次 `sift_down`** —— 語意完全等價，</a:t>
            </a:r>
            <a:br/>
            <a:r>
              <a:t>但省掉一次 sift_up。</a:t>
            </a:r>
            <a:br/>
            <a:br/>
            <a:r>
              <a:t>實測下來，合併階段的比較次數減少約 **8 到 11%**，實際快 3 到 4%。</a:t>
            </a:r>
            <a:br/>
            <a:r>
              <a:t>這裡要誠實說：比我一開始預期的「快一半」少，因為 push 之後的 sift_up</a:t>
            </a:r>
            <a:br/>
            <a:r>
              <a:t>通常在第一層就停下來了 —— 新元素多半已經比它的父節點大。</a:t>
            </a:r>
            <a:br/>
            <a:r>
              <a:t>這個優化的真正價值是**把最壞情況從兩趟降成一趟**，堆越深收益越明顯。</a:t>
            </a:r>
          </a:p>
          <a:p>
            <a:br/>
            <a:r>
              <a:t>【這頁要讓聽眾記住】堆頂取代法把每行的堆積調整從兩趟降成一趟。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【建議時間】50 秒</a:t>
            </a:r>
          </a:p>
          <a:p/>
          <a:p>
            <a:r>
              <a:t>第五個巧思比較碎，但每個都是實際會出事的地方。</a:t>
            </a:r>
            <a:br/>
            <a:br/>
            <a:r>
              <a:t>**第一，`-o` 指定輸出檔可能就是輸入檔本身。**</a:t>
            </a:r>
            <a:br/>
            <a:r>
              <a:t>如果直接開檔覆蓋，還沒讀完的資料就已經被寫掉了。</a:t>
            </a:r>
            <a:br/>
            <a:r>
              <a:t>我的做法是先用 `stat()` 比對路徑字串和 `st_dev`/`st_ino`，</a:t>
            </a:r>
            <a:br/>
            <a:r>
              <a:t>確認同一個檔案就先寫暫存檔，全部完成後再覆蓋回去。</a:t>
            </a:r>
            <a:br/>
            <a:br/>
            <a:r>
              <a:t>**第二，暫存檔名不能自己亂取。** 多人共用的 `/tmp` 有搶名風險，</a:t>
            </a:r>
            <a:br/>
            <a:r>
              <a:t>所以用 `mkstemp()` 讓核心保證唯一性。</a:t>
            </a:r>
            <a:br/>
            <a:br/>
            <a:r>
              <a:t>**第三，輸入格式的邊界。** 最後一行沒有換行符要能處理，</a:t>
            </a:r>
            <a:br/>
            <a:r>
              <a:t>Windows 的 `\r\n` 要去掉 `\r`，超過 4096 字元的長行要**截斷但仍然算一行** ——</a:t>
            </a:r>
            <a:br/>
            <a:r>
              <a:t>重點是行數不能亂掉，否則整個輸出就錯了。</a:t>
            </a:r>
          </a:p>
          <a:p>
            <a:br/>
            <a:r>
              <a:t>【這頁要讓聽眾記住】同檔輸出、暫存檔命名、長行截斷，三個都會靜默地毀損結果。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【建議時間】50 秒</a:t>
            </a:r>
          </a:p>
          <a:p/>
          <a:p>
            <a:r>
              <a:t>這頁說明我的工具跟系統 `sort` 的關係。</a:t>
            </a:r>
            <a:br/>
            <a:br/>
            <a:r>
              <a:t>**相同點**：GNU coreutils 的 `sort` 本身也用外部合併排序，</a:t>
            </a:r>
            <a:br/>
            <a:r>
              <a:t>也會在記憶體不夠時寫暫存檔、多次合併 —— 演算法是同一套。</a:t>
            </a:r>
            <a:br/>
            <a:br/>
            <a:r>
              <a:t>**差異**：GNU sort 的記憶體使用是「盡量用可用記憶體」，</a:t>
            </a:r>
            <a:br/>
            <a:r>
              <a:t>而我的 `-m` 是**硬性上限**，使用者可以精準指定；</a:t>
            </a:r>
            <a:br/>
            <a:r>
              <a:t>而且在記憶體很小時，k 會自動縮小甚至走多輪合併，行為比較可預測。</a:t>
            </a:r>
            <a:br/>
            <a:br/>
            <a:r>
              <a:t>**實務差異**：我的實測輸入是 75MB、150 萬行，</a:t>
            </a:r>
            <a:br/>
            <a:r>
              <a:t>用 `-m 8` 跑 1.06 秒、用 `-m 100` 跑 1.67 秒。</a:t>
            </a:r>
            <a:br/>
            <a:r>
              <a:t>記憶體越大反而越慢，原因是記憶體越多，run 檔越少，</a:t>
            </a:r>
            <a:br/>
            <a:r>
              <a:t>但**單一批次變大，qsort 的 cache 命中率變差**，而且最後輸出階段是循序 I/O，</a:t>
            </a:r>
            <a:br/>
            <a:r>
              <a:t>中間少寫幾次暫存檔省下的時間反而抵不過。</a:t>
            </a:r>
          </a:p>
          <a:p>
            <a:br/>
            <a:r>
              <a:t>【這頁要讓聽眾記住】演算法與 GNU sort 同源，但 `-m` 是硬性上限；記憶體不是越多越快。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【建議時間】40 秒</a:t>
            </a:r>
          </a:p>
          <a:p/>
          <a:p>
            <a:r>
              <a:t>這是實測數據，測試檔是 75MB、150 萬行，數值排序。</a:t>
            </a:r>
            <a:br/>
            <a:br/>
            <a:r>
              <a:t>**記憶體方面**，這是最能證明「預算守約」的一張表：</a:t>
            </a:r>
            <a:br/>
            <a:r>
              <a:t>設 `-m 100` 時峰值 RSS 98.8MB、設 `-m 16` 時 12.1MB、設 `-m 4` 時只有 5.6MB。</a:t>
            </a:r>
            <a:br/>
            <a:r>
              <a:t>可以看到記憶體確實被 `-m` 控制住了。</a:t>
            </a:r>
            <a:br/>
            <a:r>
              <a:t>差一點五到二 MB 是程式本身的基底和 libc 開銷，不是我的緩衝區。</a:t>
            </a:r>
            <a:br/>
            <a:br/>
            <a:r>
              <a:t>**速度方面**，`-m 4` 跑 0.97 秒、`-m 8` 跑 1.06 秒、`-m 100` 跑 1.67 秒。</a:t>
            </a:r>
            <a:br/>
            <a:r>
              <a:t>也就是說這個工具是 **I/O bound**，不是 CPU bound —— 符合第 2 頁講的複雜度分析。</a:t>
            </a:r>
            <a:br/>
            <a:br/>
            <a:r>
              <a:t>**優化效果方面**，堆頂取代法讓合併階段比較次數少 8 到 11%，實際快 3 到 4%。</a:t>
            </a:r>
          </a:p>
          <a:p>
            <a:br/>
            <a:r>
              <a:t>【這頁要讓聽眾記住】`-m` 真的有效；此工具是 I/O bound，記憶體不是越多越好。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【建議時間】70 秒</a:t>
            </a:r>
          </a:p>
          <a:p/>
          <a:p>
            <a:r>
              <a:t>接下來講我在驗證時抓到的 bug，這部分我認為比成功的部分更能說明工程能力。</a:t>
            </a:r>
            <a:br/>
            <a:br/>
            <a:r>
              <a:t>**第一個 bug：掉行。** 我用 `-m 1` 強迫產生多個 run 時，</a:t>
            </a:r>
            <a:br/>
            <a:r>
              <a:t>輸出行數比輸入少，而且**每多一個 run 就少一行**。</a:t>
            </a:r>
            <a:br/>
            <a:r>
              <a:t>原因在 `chunk_alloc()` 回傳 NULL 時，我直接 break 離開讀取迴圈 ——</a:t>
            </a:r>
            <a:br/>
            <a:r>
              <a:t>但那一行**已經從輸入檔讀出來了**，只是還沒放進記憶體池，</a:t>
            </a:r>
            <a:br/>
            <a:r>
              <a:t>我等於把它丟掉了。修法是加一個 `pending` 緩衝，記住那一行，</a:t>
            </a:r>
            <a:br/>
            <a:r>
              <a:t>下一個 chunk 的第一行先把它補回去。</a:t>
            </a:r>
            <a:br/>
            <a:br/>
            <a:r>
              <a:t>**第二個 bug：堆積條件寫反。** 症狀是輸出的順序看起來「大致有排」但不完全對。</a:t>
            </a:r>
            <a:br/>
            <a:r>
              <a:t>這個診斷過程我覺得最值得分享：我不確定問題在階段一還是階段二，</a:t>
            </a:r>
            <a:br/>
            <a:r>
              <a:t>所以把 9 個 run 暫存檔**全部複製出來逐一檢查**，</a:t>
            </a:r>
            <a:br/>
            <a:r>
              <a:t>結果發現每個 run 內部都是排序正確的 —— 問題一定在合併層。</a:t>
            </a:r>
            <a:br/>
            <a:r>
              <a:t>最後找到是 `sift_up` 的跳出條件寫成了 `&lt;= 0`，正確應該是 `&gt;= 0`，</a:t>
            </a:r>
            <a:br/>
            <a:r>
              <a:t>導致新元素永遠不會往上浮。</a:t>
            </a:r>
          </a:p>
          <a:p>
            <a:br/>
            <a:r>
              <a:t>【這頁要讓聽眾記住】兩個 bug 的診斷方式 —— 先二分定位，再用工具確認。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【建議時間】60 秒</a:t>
            </a:r>
          </a:p>
          <a:p/>
          <a:p>
            <a:r>
              <a:t>這兩個是工具抓到的，不是「看起來對」發現的。</a:t>
            </a:r>
            <a:br/>
            <a:br/>
            <a:r>
              <a:t>**第三個：記憶體洩漏。** 每寫一個 run 檔就配置一個 64KB 的輸出緩衝區，</a:t>
            </a:r>
            <a:br/>
            <a:r>
              <a:t>但我沒有釋放它。功能完全正常、記憶體只洩漏一點點，</a:t>
            </a:r>
            <a:br/>
            <a:r>
              <a:t>用 `valgrind` 或 `ASAN` 才看得到 —— 量測時是 9 個 run 檔洩了 589,824 bytes（9 × 64KB）。</a:t>
            </a:r>
            <a:br/>
            <a:br/>
            <a:r>
              <a:t>**第四個：這個是我自己在重構時引入的。**</a:t>
            </a:r>
            <a:br/>
            <a:r>
              <a:t>優化堆頂取代法時，我本來寫了一個函式想同時處理「取代堆頂」和「移除堆頂」，</a:t>
            </a:r>
            <a:br/>
            <a:r>
              <a:t>結果在同一個迴圈呼叫了兩次，第二次讓堆的大小從 0 減成一個 `size_t` 的最大值，</a:t>
            </a:r>
            <a:br/>
            <a:r>
              <a:t>造成越界存取。這是 ASAN 報的 double free 抓出來的。</a:t>
            </a:r>
            <a:br/>
            <a:br/>
            <a:r>
              <a:t>這讓我體會到一件事：**測試要跟著重構一起走**。</a:t>
            </a:r>
            <a:br/>
            <a:r>
              <a:t>我在改完程式之後有再跑一次完整的差異測試，才發現前一版的測試結果也一起壞掉了，</a:t>
            </a:r>
            <a:br/>
            <a:r>
              <a:t>如果只看單元測試是發現不了的。</a:t>
            </a:r>
          </a:p>
          <a:p>
            <a:br/>
            <a:r>
              <a:t>【這頁要讓聽眾記住】洩漏與越界靠工具抓；重構後一定要重跑完整測試。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【建議時間】55 秒</a:t>
            </a:r>
          </a:p>
          <a:p/>
          <a:p>
            <a:r>
              <a:t>最後說測試方法。</a:t>
            </a:r>
            <a:br/>
            <a:br/>
            <a:r>
              <a:t>我沒有用「跑起來沒 crash」當作通過標準，而是寫了一份 **Python 參考實作**，</a:t>
            </a:r>
            <a:br/>
            <a:r>
              <a:t>直接照規格書的比較順序實作，用 `cmp_to_key` 排序，</a:t>
            </a:r>
            <a:br/>
            <a:r>
              <a:t>再跟我的 C 程式做**逐行比對**。</a:t>
            </a:r>
            <a:br/>
            <a:br/>
            <a:r>
              <a:t>測試矩陣是 **16 種旗標組合 × 3 種記憶體上限 × 6 種資料型態，總共 288 組**，</a:t>
            </a:r>
            <a:br/>
            <a:r>
              <a:t>資料型態包含純字串、純數字、混合空白字元、4000 字元長行、空檔與單行檔。</a:t>
            </a:r>
            <a:br/>
            <a:r>
              <a:t>現在 288 組全數通過。</a:t>
            </a:r>
            <a:br/>
            <a:br/>
            <a:r>
              <a:t>這個方法有個關鍵價值：它能抓到**只有外部排序才會出現**的錯誤。</a:t>
            </a:r>
            <a:br/>
            <a:r>
              <a:t>像剛剛那個掉行 bug，如果檔案小到只產生一個 run，就永遠不會發生。</a:t>
            </a:r>
            <a:br/>
            <a:r>
              <a:t>而 **`-m 1` 和 `-m 100` 必須產生位元組完全相同的輸出**，</a:t>
            </a:r>
            <a:br/>
            <a:r>
              <a:t>這是我驗證外部合併正確性最有效的一條判準。</a:t>
            </a:r>
          </a:p>
          <a:p>
            <a:br/>
            <a:r>
              <a:t>【這頁要讓聽眾記住】差異測試 288 組；`-m 1` ≡ `-m 100` 是最有效的判準。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【建議時間】40 秒</a:t>
            </a:r>
          </a:p>
          <a:p/>
          <a:p>
            <a:r>
              <a:t>最後是檢討。這個專案目前的限制有幾個我知道但沒做的：</a:t>
            </a:r>
            <a:br/>
            <a:br/>
            <a:r>
              <a:t>1. **沒有平行化**，run 之間的合併可以用多執行緒再快，但會引入鎖的複雜度；</a:t>
            </a:r>
            <a:br/>
            <a:r>
              <a:t>2. **不支援從 stdin 讀取**，只能處理檔案；</a:t>
            </a:r>
            <a:br/>
            <a:r>
              <a:t>3. **收到 SIGKILL 或崩潰時，暫存檔會殘留在 `/tmp`** ——</a:t>
            </a:r>
            <a:br/>
            <a:r>
              <a:t>可以用 `atexit()` 或訊號處理改善，但 `SIGKILL` 本身無法攔截；</a:t>
            </a:r>
            <a:br/>
            <a:r>
              <a:t>4. **長行截斷是靜默的**，比較好的做法是發出警告。</a:t>
            </a:r>
            <a:br/>
            <a:br/>
            <a:r>
              <a:t>這些都是我在開發過程中評估過、但判斷在時程內優先做正確性的取捨。</a:t>
            </a:r>
          </a:p>
          <a:p>
            <a:br/>
            <a:r>
              <a:t>【這頁要讓聽眾記住】知道自己的限制在哪裡，以及為什麼這樣取捨。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【建議時間】25 秒</a:t>
            </a:r>
          </a:p>
          <a:p/>
          <a:p>
            <a:r>
              <a:t>總結三點：</a:t>
            </a:r>
            <a:br/>
            <a:r>
              <a:t>第一，**守約** —— `-m` 說多少就是多少，實測峰值 RSS 證明得了；</a:t>
            </a:r>
            <a:br/>
            <a:r>
              <a:t>第二，**正確** —— 兩階段共用同一個 Comparator，記憶體預算精確到連指標都算；</a:t>
            </a:r>
            <a:br/>
            <a:r>
              <a:t>第三，**可驗證** —— 288 組差異測試加上 sanitizer，讓我抓到自己都沒預期到的 bug。</a:t>
            </a:r>
            <a:br/>
            <a:br/>
            <a:r>
              <a:t>報告到這裡，謝謝大家，歡迎提問。</a:t>
            </a:r>
          </a:p>
          <a:p>
            <a:br/>
            <a:r>
              <a:t>【這頁要讓聽眾記住】守約、正確、可驗證 —— 三個詞就是整個專案的成績單。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【建議時間】30 秒</a:t>
            </a:r>
          </a:p>
          <a:p/>
          <a:p>
            <a:r>
              <a:t>這兩頁是備查用的，報告時不會講，留在最後當參考。</a:t>
            </a:r>
            <a:br/>
            <a:r>
              <a:t>左邊是程式裡的常數表與意義，右邊是六個選項各自對應到哪個函式、程式第幾行。</a:t>
            </a:r>
            <a:br/>
            <a:r>
              <a:t>如果有同學想追某個參數的實作位置，直接指這裡最快。</a:t>
            </a:r>
          </a:p>
          <a:p>
            <a:br/>
            <a:r>
              <a:t>【這頁要讓聽眾記住】所有選項的實作位置都能在這裡一分鐘內定位。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【建議時間】30 秒</a:t>
            </a:r>
          </a:p>
          <a:p/>
          <a:p>
            <a:r>
              <a:t>這頁是我預先準備的問答對照表，報告結束後就留在畫面上，隨時可以翻。</a:t>
            </a:r>
            <a:br/>
            <a:r>
              <a:t>七個問題都是我自己預期教授或同學會問的，特別是第二題「k 為什麼是 512」，</a:t>
            </a:r>
            <a:br/>
            <a:r>
              <a:t>這個數字是可以在程式的常數定義裡直接修改的。</a:t>
            </a:r>
          </a:p>
          <a:p>
            <a:br/>
            <a:r>
              <a:t>【這頁要讓聽眾記住】主要設計決策背後都有可調整的參數，不是寫死的magic number。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0800"/>
          </a:xfrm>
          <a:prstGeom prst="rect">
            <a:avLst/>
          </a:prstGeom>
          <a:solidFill>
            <a:srgbClr val="E06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  <a:ea typeface="Microsoft JhengHei"/>
                <a:cs typeface="Segoe UI"/>
              </a:rPr>
              <a:t>esort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8132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C8D6E5"/>
                </a:solidFill>
                <a:latin typeface="Segoe UI"/>
                <a:ea typeface="Microsoft JhengHei"/>
                <a:cs typeface="Segoe UI"/>
              </a:rPr>
              <a:t>外部合併排序（External Merge Sort）工具 — 設計與實作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105156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受限於 </a:t>
            </a:r>
            <a:r>
              <a:rPr sz="2200" b="1" i="0">
                <a:solidFill>
                  <a:srgbClr val="2E6DA4"/>
                </a:solidFill>
                <a:latin typeface="Consolas"/>
                <a:ea typeface="Consolas"/>
                <a:cs typeface="Consolas"/>
              </a:rPr>
              <a:t>-m</a:t>
            </a:r>
            <a:r>
              <a:rPr sz="2200" b="1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 記憶體上限的排序工具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1413 行 C 語言實作　·　零編譯警告　·　288 組自動化差異測試全數通過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關鍵設計：統一 Comparator　·　Arena 記憶體池　·　Min-Heap 多路合併　·　多輪合併退避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3492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8A939D"/>
                </a:solidFill>
                <a:latin typeface="Segoe UI"/>
                <a:ea typeface="Microsoft JhengHei"/>
                <a:cs typeface="Segoe UI"/>
              </a:rPr>
              <a:t>課程：資料工程　　報告人：＿＿＿＿　　日期：＿＿＿＿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0B8"/>
                </a:solidFill>
                <a:latin typeface="Segoe UI"/>
                <a:ea typeface="Microsoft JhengHei"/>
                <a:cs typeface="Segoe UI"/>
              </a:rPr>
              <a:t>工具：gcc -Wall -Wextra -O2 -std=c11 / GNU Make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475488"/>
          </a:xfrm>
          <a:prstGeom prst="rect">
            <a:avLst/>
          </a:prstGeom>
          <a:solidFill>
            <a:srgbClr val="E06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動機：為什麼需要外部排序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0058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排序演算法的前提是「整份資料放得進記憶體」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5240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72768"/>
            <a:ext cx="106984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▪  </a:t>
            </a:r>
            <a:r>
              <a:rPr sz="18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qsort() 這類內部排序的前提：</a:t>
            </a:r>
            <a:r>
              <a:rPr sz="18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整份資料必須放得進記憶體。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▪  </a:t>
            </a:r>
            <a:r>
              <a:rPr sz="18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實務上處理的是幾十 GB 的日誌、交易檔 —— 這個前提</a:t>
            </a:r>
            <a:r>
              <a:rPr sz="1800" b="1" i="0">
                <a:solidFill>
                  <a:srgbClr val="C0392B"/>
                </a:solidFill>
                <a:latin typeface="Segoe UI"/>
                <a:ea typeface="Microsoft JhengHei"/>
                <a:cs typeface="Segoe UI"/>
              </a:rPr>
              <a:t>根本不成立</a:t>
            </a:r>
            <a:r>
              <a:rPr sz="18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。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▪  </a:t>
            </a:r>
            <a:r>
              <a:rPr sz="18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外部排序的解法：</a:t>
            </a:r>
            <a:r>
              <a:rPr sz="1800" b="1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記憶體排序 → 暫存檔 → 合併</a:t>
            </a:r>
            <a:r>
              <a:rPr sz="18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，把無法一次載入的資料分段處理。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886200"/>
            <a:ext cx="10698480" cy="1417320"/>
          </a:xfrm>
          <a:prstGeom prst="roundRect">
            <a:avLst/>
          </a:prstGeom>
          <a:solidFill>
            <a:srgbClr val="F2F6FA"/>
          </a:solidFill>
          <a:ln w="15875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28016" tIns="164592" bIns="73152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複雜度拆解　</a:t>
            </a:r>
            <a:r>
              <a:rPr sz="13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（記憶體可放 M 筆、總共 N 筆、一次合併 k 個 run）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內部排序　</a:t>
            </a:r>
            <a:r>
              <a:rPr sz="1600" b="1" i="0">
                <a:solidFill>
                  <a:srgbClr val="2E6DA4"/>
                </a:solidFill>
                <a:latin typeface="Consolas"/>
                <a:ea typeface="Consolas"/>
                <a:cs typeface="Consolas"/>
              </a:rPr>
              <a:t>O(N/M × M log M)</a:t>
            </a:r>
            <a:r>
              <a:rPr sz="16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　　　I/O 成本　</a:t>
            </a:r>
            <a:r>
              <a:rPr sz="1600" b="1" i="0">
                <a:solidFill>
                  <a:srgbClr val="E06C2E"/>
                </a:solidFill>
                <a:latin typeface="Consolas"/>
                <a:ea typeface="Consolas"/>
                <a:cs typeface="Consolas"/>
              </a:rPr>
              <a:t>O(N log_k N)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關鍵在於 log 的底數 k —— k 越大，讀寫暫存檔的次數越少。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esort — 外部排序工具設計與實作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475488"/>
          </a:xfrm>
          <a:prstGeom prst="rect">
            <a:avLst/>
          </a:prstGeom>
          <a:solidFill>
            <a:srgbClr val="E06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目標與限制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0058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五條硬性限制，直接決定了後面每一個設計決策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5240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72768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功能：六個命令列選項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8" y="2011680"/>
          <a:ext cx="5669279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851"/>
                <a:gridCol w="2699657"/>
                <a:gridCol w="1799771"/>
              </a:tblGrid>
              <a:tr h="31089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選項</a:t>
                      </a:r>
                    </a:p>
                  </a:txBody>
                  <a:tcPr marL="91440" marR="54864" marT="18288" marB="18288" anchor="ctr">
                    <a:solidFill>
                      <a:srgbClr val="1B2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功能</a:t>
                      </a:r>
                    </a:p>
                  </a:txBody>
                  <a:tcPr marL="91440" marR="54864" marT="18288" marB="18288" anchor="ctr">
                    <a:solidFill>
                      <a:srgbClr val="1B2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對應函式</a:t>
                      </a:r>
                    </a:p>
                  </a:txBody>
                  <a:tcPr marL="91440" marR="54864" marT="18288" marB="18288" anchor="ctr">
                    <a:solidFill>
                      <a:srgbClr val="1B2F4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-c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不分大小寫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strcasecmp()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-m &lt;size&gt;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記憶體上限（MB）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atoi()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-r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反向（遞減）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結果 × -1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-n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數值排序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atoi()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-l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長度優先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strlen()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-o &lt;file&gt;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輸出檔（預設 stdout）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fopen()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12280" y="15727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硬性限制（對應後續巧思）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2029968"/>
            <a:ext cx="310896" cy="310896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  <a:ea typeface="Microsoft JhengHei"/>
                <a:cs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2048" y="2011680"/>
            <a:ext cx="4297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記憶體嚴格不超過 -m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39CA6"/>
                </a:solidFill>
                <a:latin typeface="Segoe UI"/>
                <a:ea typeface="Microsoft JhengHei"/>
                <a:cs typeface="Segoe UI"/>
              </a:rPr>
              <a:t>不是「大概」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2816352"/>
            <a:ext cx="310896" cy="310896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  <a:ea typeface="Microsoft JhengHei"/>
                <a:cs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2048" y="2798064"/>
            <a:ext cx="4297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必須支援兩階段外部排序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39CA6"/>
                </a:solidFill>
                <a:latin typeface="Segoe UI"/>
                <a:ea typeface="Microsoft JhengHei"/>
                <a:cs typeface="Segoe UI"/>
              </a:rPr>
              <a:t>記憶體 + 暫存檔 + 合併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3602736"/>
            <a:ext cx="310896" cy="310896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  <a:ea typeface="Microsoft JhengHei"/>
                <a:cs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3584448"/>
            <a:ext cx="4297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run 數可能超過開檔上限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39CA6"/>
                </a:solidFill>
                <a:latin typeface="Segoe UI"/>
                <a:ea typeface="Microsoft JhengHei"/>
                <a:cs typeface="Segoe UI"/>
              </a:rPr>
              <a:t>需多輪合併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4389120"/>
            <a:ext cx="310896" cy="310896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  <a:ea typeface="Microsoft JhengHei"/>
                <a:cs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2048" y="4370832"/>
            <a:ext cx="4297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-o 不得毀損輸入檔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39CA6"/>
                </a:solidFill>
                <a:latin typeface="Segoe UI"/>
                <a:ea typeface="Microsoft JhengHei"/>
                <a:cs typeface="Segoe UI"/>
              </a:rPr>
              <a:t>可能同檔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5175504"/>
            <a:ext cx="310896" cy="310896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  <a:ea typeface="Microsoft JhengHei"/>
                <a:cs typeface="Segoe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2048" y="5157216"/>
            <a:ext cx="4297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結束前釋放所有資源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39CA6"/>
                </a:solidFill>
                <a:latin typeface="Segoe UI"/>
                <a:ea typeface="Microsoft JhengHei"/>
                <a:cs typeface="Segoe UI"/>
              </a:rPr>
              <a:t>檔案、記憶體、暫存檔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esort — 外部排序工具設計與實作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475488"/>
          </a:xfrm>
          <a:prstGeom prst="rect">
            <a:avLst/>
          </a:prstGeom>
          <a:solidFill>
            <a:srgbClr val="E06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系統架構：兩階段外部合併排序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0058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整體流程一頁看完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5240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2468880"/>
            <a:ext cx="1417320" cy="777240"/>
          </a:xfrm>
          <a:prstGeom prst="round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  <a:ea typeface="Microsoft JhengHei"/>
                <a:cs typeface="Segoe UI"/>
              </a:rPr>
              <a:t>輸入檔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95728" y="1691640"/>
            <a:ext cx="3566160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95728" y="1691640"/>
            <a:ext cx="3566160" cy="3840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32888" y="17556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Microsoft JhengHei"/>
                <a:cs typeface="Segoe UI"/>
              </a:rPr>
              <a:t>階段一　Run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24028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▪  ① 記憶體池讀入（嚴格控預算）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▪  ② qsort() 內部排序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▪  ③ 輸出成 run 暫存檔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▪  ④ 重複直到讀完（K 個 run）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91640"/>
            <a:ext cx="3566160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06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691640"/>
            <a:ext cx="3566160" cy="384048"/>
          </a:xfrm>
          <a:prstGeom prst="rect">
            <a:avLst/>
          </a:prstGeom>
          <a:solidFill>
            <a:srgbClr val="E06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7556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Microsoft JhengHei"/>
                <a:cs typeface="Segoe UI"/>
              </a:rPr>
              <a:t>階段二　K-way Merge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4028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▪  ① 開啟所有 run，各讀第一行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▪  ② 放入 Min-Heap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▪  ③ 取堆頂輸出，補同一 run 下一行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▪  ④ run &gt; k 時先多輪合併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2468880"/>
            <a:ext cx="1417320" cy="777240"/>
          </a:xfrm>
          <a:prstGeom prst="round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  <a:ea typeface="Microsoft JhengHei"/>
                <a:cs typeface="Segoe UI"/>
              </a:rPr>
              <a:t>輸出檔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167128" y="2697480"/>
            <a:ext cx="228600" cy="310896"/>
          </a:xfrm>
          <a:prstGeom prst="rightArrow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5961888" y="2697480"/>
            <a:ext cx="228600" cy="310896"/>
          </a:xfrm>
          <a:prstGeom prst="rightArrow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9802368" y="2697480"/>
            <a:ext cx="228600" cy="310896"/>
          </a:xfrm>
          <a:prstGeom prst="rightArrow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9808" y="4279392"/>
            <a:ext cx="10725912" cy="1572768"/>
          </a:xfrm>
          <a:prstGeom prst="roundRect">
            <a:avLst/>
          </a:prstGeom>
          <a:solidFill>
            <a:srgbClr val="F7F9FB"/>
          </a:solidFill>
          <a:ln w="15875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28016" tIns="128016" bIns="73152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記憶體預算切分　</a:t>
            </a:r>
            <a:r>
              <a:rPr sz="13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總預算 = -m MB，先扣除合併階段的必要預留，剩下的才給階段一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4956048"/>
            <a:ext cx="630936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4956048"/>
            <a:ext cx="378561" cy="457200"/>
          </a:xfrm>
          <a:prstGeom prst="rect">
            <a:avLst/>
          </a:prstGeom>
          <a:solidFill>
            <a:srgbClr val="E06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46811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6C2E"/>
                </a:solidFill>
                <a:latin typeface="Segoe UI"/>
                <a:ea typeface="Microsoft JhengHei"/>
                <a:cs typeface="Segoe UI"/>
              </a:rPr>
              <a:t>合併預留（k × 每 run 緩衝）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546811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階段一記憶體池 chunk_budget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9377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為什麼先扣合併？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0392B"/>
                </a:solidFill>
                <a:latin typeface="Segoe UI"/>
                <a:ea typeface="Microsoft JhengHei"/>
                <a:cs typeface="Segoe UI"/>
              </a:rPr>
              <a:t>否則讀到最後才發現記憶體不夠，只能失敗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esort — 外部排序工具設計與實作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475488"/>
          </a:xfrm>
          <a:prstGeom prst="rect">
            <a:avLst/>
          </a:prstGeom>
          <a:solidFill>
            <a:srgbClr val="E06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五個設計巧思總覽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0058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每一個巧思，都是為了回應規格書裡的一條限制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5240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965960"/>
            <a:ext cx="2029968" cy="3017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64592" bIns="73152"/>
          <a:lstStyle/>
          <a:p>
            <a:pPr algn="ctr"/>
            <a:r>
              <a:rPr sz="3400" b="1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788920"/>
            <a:ext cx="17373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統一 Comparator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內部排序與外部合併共用 cmp_strings()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31596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限制：正確性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62656" y="1965960"/>
            <a:ext cx="2029968" cy="3017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64592" bIns="73152"/>
          <a:lstStyle/>
          <a:p>
            <a:pPr algn="ctr"/>
            <a:r>
              <a:rPr sz="3400" b="1" i="0">
                <a:solidFill>
                  <a:srgbClr val="2E8B57"/>
                </a:solidFill>
                <a:latin typeface="Segoe UI"/>
                <a:ea typeface="Microsoft JhengHei"/>
                <a:cs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788920"/>
            <a:ext cx="17373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Arena 記憶體池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64KB 區塊鏈結串列，指標永不失效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31596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B57"/>
                </a:solidFill>
                <a:latin typeface="Segoe UI"/>
                <a:ea typeface="Microsoft JhengHei"/>
                <a:cs typeface="Segoe UI"/>
              </a:rPr>
              <a:t>限制：記憶體上限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75504" y="1965960"/>
            <a:ext cx="2029968" cy="3017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64592" bIns="73152"/>
          <a:lstStyle/>
          <a:p>
            <a:pPr algn="ctr"/>
            <a:r>
              <a:rPr sz="3400" b="1" i="0">
                <a:solidFill>
                  <a:srgbClr val="2E8B57"/>
                </a:solidFill>
                <a:latin typeface="Segoe UI"/>
                <a:ea typeface="Microsoft JhengHei"/>
                <a:cs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8" y="2788920"/>
            <a:ext cx="17373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預算切分 + k 推導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k 隨 -m 動態推導，封頂 512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8" y="431596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B57"/>
                </a:solidFill>
                <a:latin typeface="Segoe UI"/>
                <a:ea typeface="Microsoft JhengHei"/>
                <a:cs typeface="Segoe UI"/>
              </a:rPr>
              <a:t>限制：記憶體 / 開檔數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88352" y="1965960"/>
            <a:ext cx="2029968" cy="3017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06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64592" bIns="73152"/>
          <a:lstStyle/>
          <a:p>
            <a:pPr algn="ctr"/>
            <a:r>
              <a:rPr sz="3400" b="1" i="0">
                <a:solidFill>
                  <a:srgbClr val="E06C2E"/>
                </a:solidFill>
                <a:latin typeface="Segoe UI"/>
                <a:ea typeface="Microsoft JhengHei"/>
                <a:cs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4656" y="2788920"/>
            <a:ext cx="17373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Min-Heap 合併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堆頂取代法，每行只做一次 sift_down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34656" y="431596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2E"/>
                </a:solidFill>
                <a:latin typeface="Segoe UI"/>
                <a:ea typeface="Microsoft JhengHei"/>
                <a:cs typeface="Segoe UI"/>
              </a:rPr>
              <a:t>限制：I/O 效率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1965960"/>
            <a:ext cx="2029968" cy="3017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64592" bIns="73152"/>
          <a:lstStyle/>
          <a:p>
            <a:pPr algn="ctr"/>
            <a:r>
              <a:rPr sz="3400" b="1" i="0">
                <a:solidFill>
                  <a:srgbClr val="C0392B"/>
                </a:solidFill>
                <a:latin typeface="Segoe UI"/>
                <a:ea typeface="Microsoft JhengHei"/>
                <a:cs typeface="Segoe U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2788920"/>
            <a:ext cx="17373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資源安全細節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同檔輸出、mkstemp、長行截斷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47504" y="431596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Segoe UI"/>
                <a:ea typeface="Microsoft JhengHei"/>
                <a:cs typeface="Segoe UI"/>
              </a:rPr>
              <a:t>限制：資料安全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257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全場主線：</a:t>
            </a:r>
            <a:r>
              <a:rPr sz="1800" b="1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資料放不進記憶體時，如何讓「結果正確」與「記憶體守約」同時成立？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每個設計決策都回答同一句話：如果這樣做會出什麼事，我怎麼證明它不會？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esort — 外部排序工具設計與實作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475488"/>
          </a:xfrm>
          <a:prstGeom prst="rect">
            <a:avLst/>
          </a:prstGeom>
          <a:solidFill>
            <a:srgbClr val="E06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巧思一：統一的 Comparator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0058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比較邏輯只寫一次，兩階段不可能不一致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5240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36192"/>
            <a:ext cx="51206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✗  </a:t>
            </a:r>
            <a:r>
              <a:rPr sz="1600" b="1" i="0">
                <a:solidFill>
                  <a:srgbClr val="C0392B"/>
                </a:solidFill>
                <a:latin typeface="Segoe UI"/>
                <a:ea typeface="Microsoft JhengHei"/>
                <a:cs typeface="Segoe UI"/>
              </a:rPr>
              <a:t>最常見的錯誤：</a:t>
            </a:r>
            <a:r>
              <a:rPr sz="16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內部排序與外部合併各寫一份比較函式。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結果「內部用字典序、合併用數值序」，合併結果必然錯誤；且因資料量大，症狀只是「看起來大致有排」，極難察覺。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✓  </a:t>
            </a:r>
            <a:r>
              <a:rPr sz="1600" b="1" i="0">
                <a:solidFill>
                  <a:srgbClr val="2E8B57"/>
                </a:solidFill>
                <a:latin typeface="Segoe UI"/>
                <a:ea typeface="Microsoft JhengHei"/>
                <a:cs typeface="Segoe UI"/>
              </a:rPr>
              <a:t>解法：</a:t>
            </a:r>
            <a:r>
              <a:rPr sz="16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兩邊共用同一個 cmp_strings()，只有最外層介面不同。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0" i="0">
                <a:solidFill>
                  <a:srgbClr val="5A5A5A"/>
                </a:solidFill>
                <a:latin typeface="Consolas"/>
                <a:ea typeface="Consolas"/>
                <a:cs typeface="Consolas"/>
              </a:rPr>
              <a:t>qsort() 傳 char** → 多解一層參考
Min-Heap 傳 HeapItem → 取其中的指標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判斷順序　</a:t>
            </a:r>
            <a:r>
              <a:rPr sz="1400" b="0" i="0">
                <a:solidFill>
                  <a:srgbClr val="2E6DA4"/>
                </a:solidFill>
                <a:latin typeface="Consolas"/>
                <a:ea typeface="Consolas"/>
                <a:cs typeface="Consolas"/>
              </a:rPr>
              <a:t>-l 長度 → -n 數值 → 字典序（-c）→ -r 反轉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-n 用 &lt; 和 &gt; 比較而非相減：</a:t>
            </a:r>
            <a:r>
              <a:rPr sz="1400" b="0" i="0">
                <a:solidFill>
                  <a:srgbClr val="C0392B"/>
                </a:solidFill>
                <a:latin typeface="Segoe UI"/>
                <a:ea typeface="Microsoft JhengHei"/>
                <a:cs typeface="Segoe UI"/>
              </a:rPr>
              <a:t>atoi() 回傳 int，兩個大數相減會溢位。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783080"/>
            <a:ext cx="5303520" cy="4081653"/>
          </a:xfrm>
          <a:prstGeom prst="rect">
            <a:avLst/>
          </a:prstGeom>
          <a:solidFill>
            <a:srgbClr val="F4F5F7"/>
          </a:solidFill>
          <a:ln w="15875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static int cmp_strings(const char *a, const char *b)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int result =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⋮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if (g_opts.by_length)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size_t la = strlen(a);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size_t lb = strlen(b);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if (la &lt; lb)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    result = -1;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else if (la &gt; lb)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    result = 1;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⋮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if (result == 0)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if (g_opts.numeric)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    int na = atoi(a);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    int nb = atoi(b);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    if (na &lt; nb)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        result = -1;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    else if (na &gt; nb)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        result = 1;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    else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        result = g_opts.fold_case ? strcasecmp(a, b) : strcmp(a, b);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⋮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if (g_opts.reverse)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result = -result;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return result;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53619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esort.c : cmp_strings()（L133）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esort — 外部排序工具設計與實作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475488"/>
          </a:xfrm>
          <a:prstGeom prst="rect">
            <a:avLst/>
          </a:prstGeom>
          <a:solidFill>
            <a:srgbClr val="E06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巧思二：Arena 記憶體池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0058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固定區塊鏈結串列 —— 指標不失效、峰值不翻倍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5240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36192"/>
            <a:ext cx="49834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▪  </a:t>
            </a:r>
            <a:r>
              <a:rPr sz="1600" b="1" i="0">
                <a:solidFill>
                  <a:srgbClr val="C0392B"/>
                </a:solidFill>
                <a:latin typeface="Segoe UI"/>
                <a:ea typeface="Microsoft JhengHei"/>
                <a:cs typeface="Segoe UI"/>
              </a:rPr>
              <a:t>問題：</a:t>
            </a:r>
            <a:r>
              <a:rPr sz="16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指標陣列要長大只能 realloc()，可能把整塊搬到新位置。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① 所有指標立刻失效
② 搬移瞬間新舊兩份同時存在，峰值記憶體直接翻倍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▪  </a:t>
            </a:r>
            <a:r>
              <a:rPr sz="1600" b="1" i="0">
                <a:solidFill>
                  <a:srgbClr val="2E8B57"/>
                </a:solidFill>
                <a:latin typeface="Segoe UI"/>
                <a:ea typeface="Microsoft JhengHei"/>
                <a:cs typeface="Segoe UI"/>
              </a:rPr>
              <a:t>解法：</a:t>
            </a:r>
            <a:r>
              <a:rPr sz="16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固定 64KB 區塊用鏈結串列串起來，永不搬移。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每個字串的指標從寫入到排序完成都不會失效；峰值完全可控，因為區塊大小是自己定的。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224528"/>
            <a:ext cx="4754880" cy="1371600"/>
          </a:xfrm>
          <a:prstGeom prst="roundRect">
            <a:avLst/>
          </a:prstGeom>
          <a:solidFill>
            <a:srgbClr val="F7F9FB"/>
          </a:solidFill>
          <a:ln w="15875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ArenaBlock 鏈結串列（每塊 64KB，永不搬移）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773168"/>
            <a:ext cx="1143000" cy="50292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  <a:ea typeface="Microsoft JhengHei"/>
                <a:cs typeface="Segoe UI"/>
              </a:rPr>
              <a:t>used / size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4773168"/>
            <a:ext cx="1143000" cy="50292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  <a:ea typeface="Microsoft JhengHei"/>
                <a:cs typeface="Segoe UI"/>
              </a:rPr>
              <a:t>used / 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4773168"/>
            <a:ext cx="1783080" cy="502920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0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used / size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783080"/>
            <a:ext cx="5486400" cy="2185924"/>
          </a:xfrm>
          <a:prstGeom prst="rect">
            <a:avLst/>
          </a:prstGeom>
          <a:solidFill>
            <a:srgbClr val="F4F5F7"/>
          </a:solidFill>
          <a:ln w="15875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#define CHUNK_USED(c) ((c)-&gt;arena_bytes + (c)-&gt;lines_cap * sizeof(char *))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⋮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static char *chunk_alloc(Chunk *c, size_t need)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ArenaBlock *b;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size_t block_size;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char  *p;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if (need == 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need = 1;                    /* 空字串仍需要 NUL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if (c-&gt;nlines &gt;= c-&gt;lines_cap)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size_t newcap = chunk_next_cap(c);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size_t grow   = (newcap - c-&gt;lines_cap) * sizeof(char *);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if (CHUNK_USED(c) + grow + need &gt; c-&gt;budget)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15361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esort.c : CHUNK_USED 與 chunk_alloc()（L450）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4197604"/>
            <a:ext cx="5486400" cy="822960"/>
          </a:xfrm>
          <a:prstGeom prst="roundRect">
            <a:avLst/>
          </a:prstGeom>
          <a:solidFill>
            <a:srgbClr val="FFF6EC"/>
          </a:solidFill>
          <a:ln w="15875">
            <a:solidFill>
              <a:srgbClr val="E06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73152" bIns="73152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6C2E"/>
                </a:solidFill>
                <a:latin typeface="Segoe UI"/>
                <a:ea typeface="Microsoft JhengHei"/>
                <a:cs typeface="Segoe UI"/>
              </a:rPr>
              <a:t>連指標都要算！</a:t>
            </a:r>
            <a:r>
              <a:rPr sz="13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　規格要求動態配置的陣列也算進去；指標容量是 2 的冪次，越長越貴。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esort — 外部排序工具設計與實作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475488"/>
          </a:xfrm>
          <a:prstGeom prst="rect">
            <a:avLst/>
          </a:prstGeom>
          <a:solidFill>
            <a:srgbClr val="E06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巧思三：預算切分與 k 值推導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0058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k 不寫死 —— 讓 -m 小的使用者不會直接崩潰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5240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36192"/>
            <a:ext cx="58521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▪  </a:t>
            </a:r>
            <a:r>
              <a:rPr sz="16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預算：</a:t>
            </a:r>
            <a:r>
              <a:rPr sz="16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合併階段每個 run 都必須同時開檔，各配 8KB 讀取緩衝 + 4KB 行緩衝。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這些記憶體必須在「階段一結束前」就先保留，否則讀到最後才發現不夠。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✗  </a:t>
            </a:r>
            <a:r>
              <a:rPr sz="1600" b="1" i="0">
                <a:solidFill>
                  <a:srgbClr val="C0392B"/>
                </a:solidFill>
                <a:latin typeface="Segoe UI"/>
                <a:ea typeface="Microsoft JhengHei"/>
                <a:cs typeface="Segoe UI"/>
              </a:rPr>
              <a:t>常見錯誤：k 寫死 512。</a:t>
            </a:r>
            <a:r>
              <a:rPr sz="16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光這一項就要 512 × 12KB ≈ 6MB；使用者只給 -m 1 就直接撐不住。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✓  </a:t>
            </a:r>
            <a:r>
              <a:rPr sz="1600" b="1" i="0">
                <a:solidFill>
                  <a:srgbClr val="2E8B57"/>
                </a:solidFill>
                <a:latin typeface="Segoe UI"/>
                <a:ea typeface="Microsoft JhengHei"/>
                <a:cs typeface="Segoe UI"/>
              </a:rPr>
              <a:t>解法：</a:t>
            </a:r>
            <a:r>
              <a:rPr sz="16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k 隨預算動態推導，再用 512 封頂。記憶體不足時自動降級為多輪合併。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8" y="4224528"/>
          <a:ext cx="5852159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/>
                <a:gridCol w="894080"/>
                <a:gridCol w="1137919"/>
                <a:gridCol w="1219200"/>
                <a:gridCol w="1788160"/>
              </a:tblGrid>
              <a:tr h="28346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-m</a:t>
                      </a:r>
                    </a:p>
                  </a:txBody>
                  <a:tcPr marL="91440" marR="54864" marT="18288" marB="18288" anchor="ctr">
                    <a:solidFill>
                      <a:srgbClr val="1B2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推導 k</a:t>
                      </a:r>
                    </a:p>
                  </a:txBody>
                  <a:tcPr marL="91440" marR="54864" marT="18288" marB="18288" anchor="ctr">
                    <a:solidFill>
                      <a:srgbClr val="1B2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合併預留</a:t>
                      </a:r>
                    </a:p>
                  </a:txBody>
                  <a:tcPr marL="91440" marR="54864" marT="18288" marB="18288" anchor="ctr">
                    <a:solidFill>
                      <a:srgbClr val="1B2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階段一預算</a:t>
                      </a:r>
                    </a:p>
                  </a:txBody>
                  <a:tcPr marL="91440" marR="54864" marT="18288" marB="18288" anchor="ctr">
                    <a:solidFill>
                      <a:srgbClr val="1B2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run &gt; k ?</a:t>
                      </a:r>
                    </a:p>
                  </a:txBody>
                  <a:tcPr marL="91440" marR="54864" marT="18288" marB="18288" anchor="ctr">
                    <a:solidFill>
                      <a:srgbClr val="1B2F4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100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512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6.16 MB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93.84 MB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否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16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512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6.16 MB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9.84 MB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否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8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328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3.99 MB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4.01 MB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否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4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158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1.99 MB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2.01 MB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否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1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31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0.49 MB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0.51 MB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E06C2E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是 → 多輪合併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12280" y="1783080"/>
            <a:ext cx="4663440" cy="2755391"/>
          </a:xfrm>
          <a:prstGeom prst="rect">
            <a:avLst/>
          </a:prstGeom>
          <a:solidFill>
            <a:srgbClr val="F4F5F7"/>
          </a:solidFill>
          <a:ln w="15875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static size_t calc_fanin(size_t mem_limit)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size_t per_run = sizeof(MergeRun) + RUN_READER_BUF_SIZE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           + MAX_LINE_LENGTH + sizeof(HeapItem);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size_t avail   = mem_limit / 2;               /* 合併階段最多用一半預算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size_t fanin;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if (avail &gt; 2 * IO_BUF_SIZE)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fanin = (avail - 2 * IO_BUF_SIZE) / per_run;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else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fanin = 2;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if (fanin &gt; MAX_MERGE_FANIN)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fanin = MAX_MERGE_FANIN;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if (fanin &lt; 2)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fanin = 2;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return fanin;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536192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esort.c : calc_fanin()（L983）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esort — 外部排序工具設計與實作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475488"/>
          </a:xfrm>
          <a:prstGeom prst="rect">
            <a:avLst/>
          </a:prstGeom>
          <a:solidFill>
            <a:srgbClr val="E06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巧思四：Min-Heap 合併與堆頂取代法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0058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每行只要一趟 sift_down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5240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36192"/>
            <a:ext cx="50292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▪  </a:t>
            </a:r>
            <a:r>
              <a:rPr sz="1600" b="1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標準寫法：</a:t>
            </a:r>
            <a:r>
              <a:rPr sz="16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取堆頂 → 輸出 → push 回去。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pop 需要 sift_down，push 需要 sift_up → 每行跑兩趟堆積調整。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▪  </a:t>
            </a:r>
            <a:r>
              <a:rPr sz="16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可利用的性質：</a:t>
            </a:r>
            <a:r>
              <a:rPr sz="16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取出的堆頂與補進的元素，一定來自同一個 run。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所以整個堆只有「堆頂一個位置」改變 —— 直接覆寫堆頂，只做一次 sift_down，語意完全等價。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→  </a:t>
            </a:r>
            <a:r>
              <a:rPr sz="1600" b="1" i="0">
                <a:solidFill>
                  <a:srgbClr val="2E8B57"/>
                </a:solidFill>
                <a:latin typeface="Segoe UI"/>
                <a:ea typeface="Microsoft JhengHei"/>
                <a:cs typeface="Segoe UI"/>
              </a:rPr>
              <a:t>實測：</a:t>
            </a:r>
            <a:r>
              <a:rPr sz="1600" b="1" i="0">
                <a:solidFill>
                  <a:srgbClr val="2E8B57"/>
                </a:solidFill>
                <a:latin typeface="Segoe UI"/>
                <a:ea typeface="Microsoft JhengHei"/>
                <a:cs typeface="Segoe UI"/>
              </a:rPr>
              <a:t>比較次數 −8～11%，實際快 3～4%。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誠實說：比我預期的少。因為 push 後的 sift_up 通常第一層就停（新元素多半已大於父節點）。真正價值在於把最壞情況從兩趟降成一趟，堆越深收益越明顯。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783080"/>
            <a:ext cx="5394960" cy="2942717"/>
          </a:xfrm>
          <a:prstGeom prst="rect">
            <a:avLst/>
          </a:prstGeom>
          <a:solidFill>
            <a:srgbClr val="F4F5F7"/>
          </a:solidFill>
          <a:ln w="15875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while (hsize &gt; 0)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HeapItem  top = heap[0];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MergeRun *run = &amp;runs[top.run];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size_t    len;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int       r;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if (lw_put(&amp;lw, top.line) != 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    goto done;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r = lr_next(&amp;run-&gt;lr, run-&gt;line, MAX_LINE_LENGTH, &amp;len);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if (r &lt; 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    goto done;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if (r == 1)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    HeapItem it;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    it.line = run-&gt;line;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    it.run  = top.run;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    heap_set_top(heap, hsize, it);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} else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    (void)heap_remove_top(heap, &amp;hsize);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4292E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536192"/>
            <a:ext cx="5394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esort.c : 合併主迴圈（L819）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4926965"/>
            <a:ext cx="5394960" cy="640080"/>
          </a:xfrm>
          <a:prstGeom prst="roundRect">
            <a:avLst/>
          </a:prstGeom>
          <a:solidFill>
            <a:srgbClr val="FFF6EC"/>
          </a:solidFill>
          <a:ln w="15875">
            <a:solidFill>
              <a:srgbClr val="E06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73152" bIns="73152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6C2E"/>
                </a:solidFill>
                <a:latin typeface="Segoe UI"/>
                <a:ea typeface="Microsoft JhengHei"/>
                <a:cs typeface="Segoe UI"/>
              </a:rPr>
              <a:t>注意：</a:t>
            </a:r>
            <a:r>
              <a:rPr sz="125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run-&gt;line 就是堆頂所在的緩衝區，必須先輸出再覆寫。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esort — 外部排序工具設計與實作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475488"/>
          </a:xfrm>
          <a:prstGeom prst="rect">
            <a:avLst/>
          </a:prstGeom>
          <a:solidFill>
            <a:srgbClr val="E06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巧思五：資源安全細節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0058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三個看起來很小、但會靜默毀損結果的地方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5240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691640"/>
            <a:ext cx="10725912" cy="1325880"/>
          </a:xfrm>
          <a:prstGeom prst="roundRect">
            <a:avLst/>
          </a:prstGeom>
          <a:solidFill>
            <a:srgbClr val="FAFBFC"/>
          </a:solidFill>
          <a:ln w="15875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075688"/>
            <a:ext cx="548640" cy="5486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  <a:ea typeface="Microsoft JhengHei"/>
                <a:cs typeface="Segoe U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856232"/>
            <a:ext cx="95097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-o 指定的輸出檔可能就是輸入檔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直接開檔覆蓋，還沒讀完的資料就已被寫掉。
解法：stat() 比對路徑字串與 st_dev/st_ino，確認同檔就先寫暫存檔，全部完成後再覆蓋回去。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172968"/>
            <a:ext cx="10725912" cy="1325880"/>
          </a:xfrm>
          <a:prstGeom prst="roundRect">
            <a:avLst/>
          </a:prstGeom>
          <a:solidFill>
            <a:srgbClr val="FAFBFC"/>
          </a:solidFill>
          <a:ln w="15875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3557016"/>
            <a:ext cx="548640" cy="548640"/>
          </a:xfrm>
          <a:prstGeom prst="roundRect">
            <a:avLst/>
          </a:prstGeom>
          <a:solidFill>
            <a:srgbClr val="E06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  <a:ea typeface="Microsoft JhengHei"/>
                <a:cs typeface="Segoe U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337560"/>
            <a:ext cx="95097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暫存檔名不能自己亂取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多人共用的 /tmp 有搶名風險，可能被別人讀走或覆蓋。
解法：用 mkstemp() 讓核心保證唯一性。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4654296"/>
            <a:ext cx="10725912" cy="1325880"/>
          </a:xfrm>
          <a:prstGeom prst="roundRect">
            <a:avLst/>
          </a:prstGeom>
          <a:solidFill>
            <a:srgbClr val="FAFBFC"/>
          </a:solidFill>
          <a:ln w="15875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5038344"/>
            <a:ext cx="548640" cy="548640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  <a:ea typeface="Microsoft JhengHei"/>
                <a:cs typeface="Segoe U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818888"/>
            <a:ext cx="95097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輸入格式的邊界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最後一行沒有換行符、Windows 的 \r\n、超過 4096 字元的長行。
解法：長行截斷但仍佔一行 —— 重點是行數不能亂掉。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esort — 外部排序工具設計與實作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475488"/>
          </a:xfrm>
          <a:prstGeom prst="rect">
            <a:avLst/>
          </a:prstGeom>
          <a:solidFill>
            <a:srgbClr val="E06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與系統 sort 的關係 / 複雜度對照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0058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演算法同源，但記憶體模型不同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5240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8" y="1691640"/>
          <a:ext cx="10725911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182"/>
                <a:gridCol w="4485381"/>
                <a:gridCol w="4095348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面向</a:t>
                      </a:r>
                    </a:p>
                  </a:txBody>
                  <a:tcPr marL="91440" marR="54864" marT="18288" marB="18288" anchor="ctr">
                    <a:solidFill>
                      <a:srgbClr val="1B2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esort（本專題）</a:t>
                      </a:r>
                    </a:p>
                  </a:txBody>
                  <a:tcPr marL="91440" marR="54864" marT="18288" marB="18288" anchor="ctr">
                    <a:solidFill>
                      <a:srgbClr val="1B2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GNU sort</a:t>
                      </a:r>
                    </a:p>
                  </a:txBody>
                  <a:tcPr marL="91440" marR="54864" marT="18288" marB="18288" anchor="ctr">
                    <a:solidFill>
                      <a:srgbClr val="1B2F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演算法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外部合併排序，兩階段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同樣是外部合併排序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記憶體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-m 為硬性上限，可精準指定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盡量使用可用記憶體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記憶體不足時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k 自動縮小 → 多輪合併，行為可預測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自行決定合併策略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輸出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預設 stdout，可 -o 同檔就地排序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預設 stdout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排序穩定性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不穩定（qsort 規格本來就不保證）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不穩定（預設）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9808" y="4160520"/>
            <a:ext cx="10725912" cy="1828800"/>
          </a:xfrm>
          <a:prstGeom prst="roundRect">
            <a:avLst/>
          </a:prstGeom>
          <a:solidFill>
            <a:srgbClr val="F2F6FA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28016" tIns="146304" bIns="73152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實務發現：記憶體不是越多越快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-m 4 → 0.97 秒　　-m 8 → 1.06 秒　　</a:t>
            </a:r>
            <a:r>
              <a:rPr sz="1500" b="1" i="0">
                <a:solidFill>
                  <a:srgbClr val="E06C2E"/>
                </a:solidFill>
                <a:latin typeface="Segoe UI"/>
                <a:ea typeface="Microsoft JhengHei"/>
                <a:cs typeface="Segoe UI"/>
              </a:rPr>
              <a:t>-m 100 → 1.67 秒</a:t>
            </a:r>
            <a:r>
              <a:rPr sz="15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（75MB、150 萬行）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記憶體越多 → 單一批次越大 → qsort 的 cache 命中率變差；且最後輸出階段是循序 I/O，中間少寫幾次暫存檔省下的時間抵不過。這個工具是 I/O bound，不是 CPU bound。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esort — 外部排序工具設計與實作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475488"/>
          </a:xfrm>
          <a:prstGeom prst="rect">
            <a:avLst/>
          </a:prstGeom>
          <a:solidFill>
            <a:srgbClr val="E06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效能實測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0058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75MB ／ 1,500,000 行，數值排序，頁面快取已預熱，取 3 次最佳值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5240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8" y="1783080"/>
          <a:ext cx="548639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248"/>
                <a:gridCol w="1631091"/>
                <a:gridCol w="1186248"/>
                <a:gridCol w="148281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-m 設定</a:t>
                      </a:r>
                    </a:p>
                  </a:txBody>
                  <a:tcPr marL="91440" marR="54864" marT="18288" marB="18288" anchor="ctr">
                    <a:solidFill>
                      <a:srgbClr val="1B2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峰值 RSS (MB)</a:t>
                      </a:r>
                    </a:p>
                  </a:txBody>
                  <a:tcPr marL="91440" marR="54864" marT="18288" marB="18288" anchor="ctr">
                    <a:solidFill>
                      <a:srgbClr val="1B2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耗時 (s)</a:t>
                      </a:r>
                    </a:p>
                  </a:txBody>
                  <a:tcPr marL="91440" marR="54864" marT="18288" marB="18288" anchor="ctr">
                    <a:solidFill>
                      <a:srgbClr val="1B2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判定</a:t>
                      </a:r>
                    </a:p>
                  </a:txBody>
                  <a:tcPr marL="91440" marR="54864" marT="18288" marB="18288" anchor="ctr">
                    <a:solidFill>
                      <a:srgbClr val="1B2F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4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5.6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0.97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E8B57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記憶體受控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8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6.2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1.06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E8B57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記憶體受控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16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12.1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1.16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E8B57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記憶體受控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100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98.8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1.63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E8B57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記憶體受控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75120" y="1783080"/>
            <a:ext cx="48463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記憶體真的被 -m 控住了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5A5A5A"/>
                </a:solidFill>
                <a:latin typeface="Consolas"/>
                <a:ea typeface="Consolas"/>
                <a:cs typeface="Consolas"/>
              </a:rPr>
              <a:t>-m 100 → 98.8MB
-m 16  → 12.1MB
-m 4   → 5.6MB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多出 1.5～2MB 是程式基底與 libc 開銷，不是緩衝區。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434840"/>
            <a:ext cx="10725912" cy="1234440"/>
          </a:xfrm>
          <a:prstGeom prst="roundRect">
            <a:avLst/>
          </a:prstGeom>
          <a:solidFill>
            <a:srgbClr val="F2F8F4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28016" tIns="137160" bIns="73152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其他驗證指標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堆頂取代法：</a:t>
            </a:r>
            <a:r>
              <a:rPr sz="1400" b="1" i="0">
                <a:solidFill>
                  <a:srgbClr val="2E8B57"/>
                </a:solidFill>
                <a:latin typeface="Segoe UI"/>
                <a:ea typeface="Microsoft JhengHei"/>
                <a:cs typeface="Segoe UI"/>
              </a:rPr>
              <a:t>比較次數 −8～11%，實際快 3～4%</a:t>
            </a:r>
            <a:r>
              <a:rPr sz="1400" b="0" i="0">
                <a:solidFill>
                  <a:srgbClr val="D8DCE0"/>
                </a:solidFill>
                <a:latin typeface="Segoe UI"/>
                <a:ea typeface="Microsoft JhengHei"/>
                <a:cs typeface="Segoe UI"/>
              </a:rPr>
              <a:t>　｜　</a:t>
            </a:r>
            <a:r>
              <a:rPr sz="14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差異測試：</a:t>
            </a:r>
            <a:r>
              <a:rPr sz="1400" b="1" i="0">
                <a:solidFill>
                  <a:srgbClr val="2E8B57"/>
                </a:solidFill>
                <a:latin typeface="Segoe UI"/>
                <a:ea typeface="Microsoft JhengHei"/>
                <a:cs typeface="Segoe UI"/>
              </a:rPr>
              <a:t>288 組全數通過</a:t>
            </a:r>
            <a:r>
              <a:rPr sz="1400" b="0" i="0">
                <a:solidFill>
                  <a:srgbClr val="D8DCE0"/>
                </a:solidFill>
                <a:latin typeface="Segoe UI"/>
                <a:ea typeface="Microsoft JhengHei"/>
                <a:cs typeface="Segoe UI"/>
              </a:rPr>
              <a:t>　｜　</a:t>
            </a:r>
            <a:r>
              <a:rPr sz="14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ASAN / UBSan：</a:t>
            </a:r>
            <a:r>
              <a:rPr sz="1400" b="1" i="0">
                <a:solidFill>
                  <a:srgbClr val="2E8B57"/>
                </a:solidFill>
                <a:latin typeface="Segoe UI"/>
                <a:ea typeface="Microsoft JhengHei"/>
                <a:cs typeface="Segoe UI"/>
              </a:rPr>
              <a:t>無洩漏、無 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esort — 外部排序工具設計與實作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475488"/>
          </a:xfrm>
          <a:prstGeom prst="rect">
            <a:avLst/>
          </a:prstGeom>
          <a:solidFill>
            <a:srgbClr val="E06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除錯案例（上）：掉行 與 堆積條件寫反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0058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兩者都是「看起來跑得完、但結果不對」的靜默錯誤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5240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627632"/>
            <a:ext cx="10725912" cy="1632204"/>
          </a:xfrm>
          <a:prstGeom prst="roundRect">
            <a:avLst/>
          </a:prstGeom>
          <a:solidFill>
            <a:srgbClr val="FAFBFC"/>
          </a:solidFill>
          <a:ln w="15875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1773936"/>
            <a:ext cx="438912" cy="438912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  <a:ea typeface="Microsoft JhengHei"/>
                <a:cs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55648"/>
            <a:ext cx="9692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每多一個 run，就少輸出一行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9456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Segoe UI"/>
                <a:ea typeface="Microsoft JhengHei"/>
                <a:cs typeface="Segoe UI"/>
              </a:rPr>
              <a:t>症狀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2304" y="2194560"/>
            <a:ext cx="8869680" cy="3063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-m 1 強制多 run 時，輸出行數比輸入少，且恰好「每個 run 少一行」。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00884"/>
            <a:ext cx="868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Segoe UI"/>
                <a:ea typeface="Microsoft JhengHei"/>
                <a:cs typeface="Segoe UI"/>
              </a:rPr>
              <a:t>原因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2304" y="2500884"/>
            <a:ext cx="8869680" cy="3063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chunk_alloc() 回傳 NULL 時直接 break，但那一行已經從輸入檔讀出來、只是還沒放進記憶體池 —— 等於被丟掉了。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07208"/>
            <a:ext cx="868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8B57"/>
                </a:solidFill>
                <a:latin typeface="Segoe UI"/>
                <a:ea typeface="Microsoft JhengHei"/>
                <a:cs typeface="Segoe UI"/>
              </a:rPr>
              <a:t>修法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2304" y="2807208"/>
            <a:ext cx="8869680" cy="3063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A5A5A"/>
                </a:solidFill>
                <a:latin typeface="Consolas"/>
                <a:ea typeface="Consolas"/>
                <a:cs typeface="Consolas"/>
              </a:rPr>
              <a:t>加 pending 緩衝記住那一行，下一個 chunk 的第一行先補回去。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497580"/>
            <a:ext cx="10725912" cy="2061972"/>
          </a:xfrm>
          <a:prstGeom prst="roundRect">
            <a:avLst/>
          </a:prstGeom>
          <a:solidFill>
            <a:srgbClr val="FAFBFC"/>
          </a:solidFill>
          <a:ln w="15875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3643884"/>
            <a:ext cx="438912" cy="438912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  <a:ea typeface="Microsoft JhengHei"/>
                <a:cs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625596"/>
            <a:ext cx="9692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合併結果順序錯誤，但「大致有排」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064508"/>
            <a:ext cx="868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診斷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2304" y="4064508"/>
            <a:ext cx="8869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不確定在階段一或階段二 → 把 9 個 run 暫存檔全部複製出來逐一檢查，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結果每個 run 內部都排序正確 ⇒ 問題一定在合併層。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585716"/>
            <a:ext cx="868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Segoe UI"/>
                <a:ea typeface="Microsoft JhengHei"/>
                <a:cs typeface="Segoe UI"/>
              </a:rPr>
              <a:t>原因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32304" y="4585716"/>
            <a:ext cx="8869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heap_sift_up() 的跳出條件寫成 &lt;= 0，正確應是 &gt;= 0，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導致新元素永遠不會往上浮。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106924"/>
            <a:ext cx="868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8B57"/>
                </a:solidFill>
                <a:latin typeface="Segoe UI"/>
                <a:ea typeface="Microsoft JhengHei"/>
                <a:cs typeface="Segoe UI"/>
              </a:rPr>
              <a:t>修法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32304" y="5106924"/>
            <a:ext cx="8869680" cy="3063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A5A5A"/>
                </a:solidFill>
                <a:latin typeface="Consolas"/>
                <a:ea typeface="Consolas"/>
                <a:cs typeface="Consolas"/>
              </a:rPr>
              <a:t>修正比較方向，合併結果即與內部排序一致。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esort — 外部排序工具設計與實作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475488"/>
          </a:xfrm>
          <a:prstGeom prst="rect">
            <a:avLst/>
          </a:prstGeom>
          <a:solidFill>
            <a:srgbClr val="E06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除錯案例（下）：工具抓到的問題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0058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這兩個不是「看起來對」發現的，是 sanitizer 報出來的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5240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627632"/>
            <a:ext cx="10725912" cy="1938528"/>
          </a:xfrm>
          <a:prstGeom prst="roundRect">
            <a:avLst/>
          </a:prstGeom>
          <a:solidFill>
            <a:srgbClr val="FAFBFC"/>
          </a:solidFill>
          <a:ln w="15875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1773936"/>
            <a:ext cx="438912" cy="438912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  <a:ea typeface="Microsoft JhengHei"/>
                <a:cs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55648"/>
            <a:ext cx="9692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記憶體洩漏：功能完全正常，卻在偷偷漏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9456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Segoe UI"/>
                <a:ea typeface="Microsoft JhengHei"/>
                <a:cs typeface="Segoe UI"/>
              </a:rPr>
              <a:t>症狀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2304" y="2194560"/>
            <a:ext cx="8869680" cy="3063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程式結果正確、記憶體只漏一點點，肉眼與量測都很難察覺。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00884"/>
            <a:ext cx="868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量測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2304" y="2500884"/>
            <a:ext cx="8869680" cy="3063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ASAN 報告 589,824 bytes in 9 objects —— 剛好是 9 個 run × 64KB。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07208"/>
            <a:ext cx="868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Segoe UI"/>
                <a:ea typeface="Microsoft JhengHei"/>
                <a:cs typeface="Segoe UI"/>
              </a:rPr>
              <a:t>原因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2304" y="2807208"/>
            <a:ext cx="8869680" cy="3063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每寫一個 run 檔就配置一個 64KB 輸出緩衝區，寫完忘了釋放。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113532"/>
            <a:ext cx="868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8B57"/>
                </a:solidFill>
                <a:latin typeface="Segoe UI"/>
                <a:ea typeface="Microsoft JhengHei"/>
                <a:cs typeface="Segoe UI"/>
              </a:rPr>
              <a:t>修法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2304" y="3113532"/>
            <a:ext cx="8869680" cy="3063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A5A5A"/>
                </a:solidFill>
                <a:latin typeface="Consolas"/>
                <a:ea typeface="Consolas"/>
                <a:cs typeface="Consolas"/>
              </a:rPr>
              <a:t>寫完立即 lw_destroy()；並用 ASAN + UBSan 當成每次重構的固定檢查。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803904"/>
            <a:ext cx="10725912" cy="2061972"/>
          </a:xfrm>
          <a:prstGeom prst="roundRect">
            <a:avLst/>
          </a:prstGeom>
          <a:solidFill>
            <a:srgbClr val="FAFBFC"/>
          </a:solidFill>
          <a:ln w="15875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" y="3950208"/>
            <a:ext cx="438912" cy="438912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  <a:ea typeface="Microsoft JhengHei"/>
                <a:cs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931920"/>
            <a:ext cx="9692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重構時自己引入的越界（double free）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370832"/>
            <a:ext cx="868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Segoe UI"/>
                <a:ea typeface="Microsoft JhengHei"/>
                <a:cs typeface="Segoe UI"/>
              </a:rPr>
              <a:t>原因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32304" y="4370832"/>
            <a:ext cx="8869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優化堆頂取代法時，讓同一函式同時負責「取代」與「移除」，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同一輪迴圈呼叫兩次 → 堆大小由 0 減成 SIZE_MAX，造成越界。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89204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8B57"/>
                </a:solidFill>
                <a:latin typeface="Segoe UI"/>
                <a:ea typeface="Microsoft JhengHei"/>
                <a:cs typeface="Segoe UI"/>
              </a:rPr>
              <a:t>修法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32304" y="4892040"/>
            <a:ext cx="8869680" cy="3063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A5A5A"/>
                </a:solidFill>
                <a:latin typeface="Consolas"/>
                <a:ea typeface="Consolas"/>
                <a:cs typeface="Consolas"/>
              </a:rPr>
              <a:t>拆成 heap_set_top() / heap_remove_top() 兩個語意互斥的函式。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198364"/>
            <a:ext cx="868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體悟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32304" y="5198364"/>
            <a:ext cx="8869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測試要跟著重構一起走：改完重跑完整差異測試才發現前一版也壞了，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只看單元測試發現不了。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esort — 外部排序工具設計與實作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475488"/>
          </a:xfrm>
          <a:prstGeom prst="rect">
            <a:avLst/>
          </a:prstGeom>
          <a:solidFill>
            <a:srgbClr val="E06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測試方法論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0058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通過標準不是「跑起來沒 crash」，而是「逐行比對正確」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5240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5778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▪  </a:t>
            </a:r>
            <a:r>
              <a:rPr sz="16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參考實作：</a:t>
            </a:r>
            <a:r>
              <a:rPr sz="16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用 Python 直接照規格書的比較順序實作 cmp_to_key 排序。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再與 C 程式產出的輸出「逐行比對」，任何一列不一致就算失敗。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▪  </a:t>
            </a:r>
            <a:r>
              <a:rPr sz="16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測試矩陣：</a:t>
            </a:r>
            <a:r>
              <a:rPr sz="1600" b="1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16 種旗標組合 × 3 種記憶體上限 × 6 種資料型態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資料型態：純字串／純數字／含空白的混合字元／4000 字元長行／空檔／單行檔
旗標組合：-c -r -n -l 的 2⁴ 種排列
記憶體上限：1 MB／2 MB／100 MB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783080"/>
            <a:ext cx="4892040" cy="1371600"/>
          </a:xfrm>
          <a:prstGeom prst="roundRect">
            <a:avLst/>
          </a:prstGeom>
          <a:solidFill>
            <a:srgbClr val="F2F8F4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3400" b="1" i="0">
                <a:solidFill>
                  <a:srgbClr val="2E8B57"/>
                </a:solidFill>
                <a:latin typeface="Segoe UI"/>
                <a:ea typeface="Microsoft JhengHei"/>
                <a:cs typeface="Segoe UI"/>
              </a:rPr>
              <a:t>288 / 288</a:t>
            </a:r>
          </a:p>
          <a:p>
            <a:pPr algn="ctr"/>
            <a:r>
              <a:rPr sz="1500" b="1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全部通過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3383280"/>
            <a:ext cx="4892040" cy="2011680"/>
          </a:xfrm>
          <a:prstGeom prst="roundRect">
            <a:avLst/>
          </a:prstGeom>
          <a:solidFill>
            <a:srgbClr val="FFF6EC"/>
          </a:solidFill>
          <a:ln w="15875">
            <a:solidFill>
              <a:srgbClr val="E06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28016" tIns="146304" bIns="73152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E06C2E"/>
                </a:solidFill>
                <a:latin typeface="Segoe UI"/>
                <a:ea typeface="Microsoft JhengHei"/>
                <a:cs typeface="Segoe UI"/>
              </a:rPr>
              <a:t>最有效的一條判準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2F4B"/>
                </a:solidFill>
                <a:latin typeface="Consolas"/>
                <a:ea typeface="Consolas"/>
                <a:cs typeface="Consolas"/>
              </a:rPr>
              <a:t>-m 1</a:t>
            </a:r>
            <a:r>
              <a:rPr sz="15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 與 </a:t>
            </a:r>
            <a:r>
              <a:rPr sz="1500" b="1" i="0">
                <a:solidFill>
                  <a:srgbClr val="1B2F4B"/>
                </a:solidFill>
                <a:latin typeface="Consolas"/>
                <a:ea typeface="Consolas"/>
                <a:cs typeface="Consolas"/>
              </a:rPr>
              <a:t>-m 100</a:t>
            </a:r>
            <a:r>
              <a:rPr sz="15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 必須產生位元組完全相同的輸出。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它能抓到「只有外部排序才會出現」的錯誤 —— 檔案小到只產生一個 run 時完全不會發生。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esort — 外部排序工具設計與實作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475488"/>
          </a:xfrm>
          <a:prstGeom prst="rect">
            <a:avLst/>
          </a:prstGeom>
          <a:solidFill>
            <a:srgbClr val="E06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檢討與可改善處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0058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開發過程中評估過、但判斷優先做正確性的取捨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5240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8" y="1828800"/>
          <a:ext cx="1072590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6279"/>
                <a:gridCol w="4568443"/>
                <a:gridCol w="4171187"/>
              </a:tblGrid>
              <a:tr h="47548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項目</a:t>
                      </a:r>
                    </a:p>
                  </a:txBody>
                  <a:tcPr marL="91440" marR="54864" marT="18288" marB="18288" anchor="ctr">
                    <a:solidFill>
                      <a:srgbClr val="1B2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現況</a:t>
                      </a:r>
                    </a:p>
                  </a:txBody>
                  <a:tcPr marL="91440" marR="54864" marT="18288" marB="18288" anchor="ctr">
                    <a:solidFill>
                      <a:srgbClr val="1B2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若要改進</a:t>
                      </a:r>
                    </a:p>
                  </a:txBody>
                  <a:tcPr marL="91440" marR="54864" marT="18288" marB="18288" anchor="ctr">
                    <a:solidFill>
                      <a:srgbClr val="1B2F4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平行化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單執行緒，run 合併無法並行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多執行緒 + 鎖，可再加速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輸入來源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只支援檔案，不支援 stdin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接上 stdin 方便管線操作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暫存檔殘留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正常結束會清理；SIGKILL/崩潰會殘留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atexit() 或訊號處理（SIGKILL 無法攔截）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超長行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靜默截斷到 4095 字元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改為輸出警告訊息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8" y="4892040"/>
            <a:ext cx="1072591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這些都不是沒想到，而是</a:t>
            </a:r>
            <a:r>
              <a:rPr sz="16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在時程內把「正確」排在「更快」前面的選擇。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esort — 外部排序工具設計與實作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38100"/>
          </a:xfrm>
          <a:prstGeom prst="rect">
            <a:avLst/>
          </a:prstGeom>
          <a:solidFill>
            <a:srgbClr val="E06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Microsoft JhengHei"/>
                <a:cs typeface="Segoe UI"/>
              </a:rPr>
              <a:t>結論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606040"/>
            <a:ext cx="3200400" cy="2286000"/>
          </a:xfrm>
          <a:prstGeom prst="roundRect">
            <a:avLst/>
          </a:prstGeom>
          <a:solidFill>
            <a:srgbClr val="243D60"/>
          </a:solidFill>
          <a:ln w="15875">
            <a:solidFill>
              <a:srgbClr val="3C5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256032" bIns="73152"/>
          <a:lstStyle/>
          <a:p>
            <a:pPr algn="ctr"/>
            <a:r>
              <a:rPr sz="3000" b="1" i="0">
                <a:solidFill>
                  <a:srgbClr val="E06C2E"/>
                </a:solidFill>
                <a:latin typeface="Segoe UI"/>
                <a:ea typeface="Microsoft JhengHei"/>
                <a:cs typeface="Segoe UI"/>
              </a:rPr>
              <a:t>守約</a:t>
            </a:r>
          </a:p>
          <a:p>
            <a:pPr algn="ctr">
              <a:spcBef>
                <a:spcPts val="1000"/>
              </a:spcBef>
            </a:pPr>
            <a:r>
              <a:rPr sz="1300" b="0" i="0">
                <a:solidFill>
                  <a:srgbClr val="C8D6E5"/>
                </a:solidFill>
                <a:latin typeface="Segoe UI"/>
                <a:ea typeface="Microsoft JhengHei"/>
                <a:cs typeface="Segoe UI"/>
              </a:rPr>
              <a:t>-m 說多少就是多少</a:t>
            </a:r>
          </a:p>
          <a:p>
            <a:pPr algn="ctr">
              <a:spcBef>
                <a:spcPts val="1000"/>
              </a:spcBef>
            </a:pPr>
            <a:r>
              <a:rPr sz="1300" b="0" i="0">
                <a:solidFill>
                  <a:srgbClr val="C8D6E5"/>
                </a:solidFill>
                <a:latin typeface="Segoe UI"/>
                <a:ea typeface="Microsoft JhengHei"/>
                <a:cs typeface="Segoe UI"/>
              </a:rPr>
              <a:t>實測峰值 RSS 證明得了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606040"/>
            <a:ext cx="3200400" cy="2286000"/>
          </a:xfrm>
          <a:prstGeom prst="roundRect">
            <a:avLst/>
          </a:prstGeom>
          <a:solidFill>
            <a:srgbClr val="243D60"/>
          </a:solidFill>
          <a:ln w="15875">
            <a:solidFill>
              <a:srgbClr val="3C5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256032" bIns="73152"/>
          <a:lstStyle/>
          <a:p>
            <a:pPr algn="ctr"/>
            <a:r>
              <a:rPr sz="3000" b="1" i="0">
                <a:solidFill>
                  <a:srgbClr val="E06C2E"/>
                </a:solidFill>
                <a:latin typeface="Segoe UI"/>
                <a:ea typeface="Microsoft JhengHei"/>
                <a:cs typeface="Segoe UI"/>
              </a:rPr>
              <a:t>正確</a:t>
            </a:r>
          </a:p>
          <a:p>
            <a:pPr algn="ctr">
              <a:spcBef>
                <a:spcPts val="1000"/>
              </a:spcBef>
            </a:pPr>
            <a:r>
              <a:rPr sz="1300" b="0" i="0">
                <a:solidFill>
                  <a:srgbClr val="C8D6E5"/>
                </a:solidFill>
                <a:latin typeface="Segoe UI"/>
                <a:ea typeface="Microsoft JhengHei"/>
                <a:cs typeface="Segoe UI"/>
              </a:rPr>
              <a:t>兩階段共用同一個 Comparator</a:t>
            </a:r>
          </a:p>
          <a:p>
            <a:pPr algn="ctr">
              <a:spcBef>
                <a:spcPts val="1000"/>
              </a:spcBef>
            </a:pPr>
            <a:r>
              <a:rPr sz="1300" b="0" i="0">
                <a:solidFill>
                  <a:srgbClr val="C8D6E5"/>
                </a:solidFill>
                <a:latin typeface="Segoe UI"/>
                <a:ea typeface="Microsoft JhengHei"/>
                <a:cs typeface="Segoe UI"/>
              </a:rPr>
              <a:t>預算精確到連指標都算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2606040"/>
            <a:ext cx="3200400" cy="2286000"/>
          </a:xfrm>
          <a:prstGeom prst="roundRect">
            <a:avLst/>
          </a:prstGeom>
          <a:solidFill>
            <a:srgbClr val="243D60"/>
          </a:solidFill>
          <a:ln w="15875">
            <a:solidFill>
              <a:srgbClr val="3C5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256032" bIns="73152"/>
          <a:lstStyle/>
          <a:p>
            <a:pPr algn="ctr"/>
            <a:r>
              <a:rPr sz="3000" b="1" i="0">
                <a:solidFill>
                  <a:srgbClr val="E06C2E"/>
                </a:solidFill>
                <a:latin typeface="Segoe UI"/>
                <a:ea typeface="Microsoft JhengHei"/>
                <a:cs typeface="Segoe UI"/>
              </a:rPr>
              <a:t>可驗證</a:t>
            </a:r>
          </a:p>
          <a:p>
            <a:pPr algn="ctr">
              <a:spcBef>
                <a:spcPts val="1000"/>
              </a:spcBef>
            </a:pPr>
            <a:r>
              <a:rPr sz="1300" b="0" i="0">
                <a:solidFill>
                  <a:srgbClr val="C8D6E5"/>
                </a:solidFill>
                <a:latin typeface="Segoe UI"/>
                <a:ea typeface="Microsoft JhengHei"/>
                <a:cs typeface="Segoe UI"/>
              </a:rPr>
              <a:t>288 組差異測試 + sanitizer</a:t>
            </a:r>
          </a:p>
          <a:p>
            <a:pPr algn="ctr">
              <a:spcBef>
                <a:spcPts val="1000"/>
              </a:spcBef>
            </a:pPr>
            <a:r>
              <a:rPr sz="1300" b="0" i="0">
                <a:solidFill>
                  <a:srgbClr val="C8D6E5"/>
                </a:solidFill>
                <a:latin typeface="Segoe UI"/>
                <a:ea typeface="Microsoft JhengHei"/>
                <a:cs typeface="Segoe UI"/>
              </a:rPr>
              <a:t>抓到自己都沒預期到的 bug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  <a:ea typeface="Microsoft JhengHei"/>
                <a:cs typeface="Segoe UI"/>
              </a:rPr>
              <a:t>謝謝聆聽，歡迎提問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esort — 外部排序工具設計與實作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475488"/>
          </a:xfrm>
          <a:prstGeom prst="rect">
            <a:avLst/>
          </a:prstGeom>
          <a:solidFill>
            <a:srgbClr val="E06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附錄 A1：常數表與選項對照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0058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備查用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5240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8" y="1737360"/>
          <a:ext cx="6035039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738"/>
                <a:gridCol w="889781"/>
                <a:gridCol w="301752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常數</a:t>
                      </a:r>
                    </a:p>
                  </a:txBody>
                  <a:tcPr marL="91440" marR="54864" marT="18288" marB="18288" anchor="ctr">
                    <a:solidFill>
                      <a:srgbClr val="1B2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值</a:t>
                      </a:r>
                    </a:p>
                  </a:txBody>
                  <a:tcPr marL="91440" marR="54864" marT="18288" marB="18288" anchor="ctr">
                    <a:solidFill>
                      <a:srgbClr val="1B2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意義</a:t>
                      </a:r>
                    </a:p>
                  </a:txBody>
                  <a:tcPr marL="91440" marR="54864" marT="18288" marB="18288" anchor="ctr">
                    <a:solidFill>
                      <a:srgbClr val="1B2F4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MAX_LINE_LENGTH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4096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單行最大長度（規格指定）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DEFAULT_MEM_MB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100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-m 預設值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MAX_MERGE_FANIN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512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單輪合併最大路數（受 FOPEN_MAX 限制）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ARENA_BLOCK_SIZE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64 KB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Arena 區塊大小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IO_BUF_SIZE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64 KB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讀寫緩衝區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RUN_READER_BUF_SIZE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8 KB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每個 run 的讀取緩衝區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MIN_CHUNK_BUDGET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4096 + 256×8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保證至少容納一行 + 256 個指標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40880" y="1737360"/>
          <a:ext cx="4434838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35"/>
                <a:gridCol w="2059032"/>
                <a:gridCol w="1583871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選項</a:t>
                      </a:r>
                    </a:p>
                  </a:txBody>
                  <a:tcPr marL="91440" marR="54864" marT="18288" marB="18288" anchor="ctr">
                    <a:solidFill>
                      <a:srgbClr val="1B2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對應函式</a:t>
                      </a:r>
                    </a:p>
                  </a:txBody>
                  <a:tcPr marL="91440" marR="54864" marT="18288" marB="18288" anchor="ctr">
                    <a:solidFill>
                      <a:srgbClr val="1B2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esort.c 行號</a:t>
                      </a:r>
                    </a:p>
                  </a:txBody>
                  <a:tcPr marL="91440" marR="54864" marT="18288" marB="18288" anchor="ctr">
                    <a:solidFill>
                      <a:srgbClr val="1B2F4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-c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strcasecmp()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L161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-n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atoi()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L151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-l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strlen()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L139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-r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結果乘以 -1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L167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-m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atoi() → Bytes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L960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-o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fopen() / is_same_file()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L1160 / L882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8" y="48920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5A5A"/>
                </a:solidFill>
                <a:latin typeface="Segoe UI"/>
                <a:ea typeface="Microsoft JhengHei"/>
                <a:cs typeface="Segoe UI"/>
              </a:rPr>
              <a:t>編譯：gcc -Wall -Wextra -O2 -std=c11 -o esort esort.c　｜　C99 亦可通過；零警告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6DA4"/>
                </a:solidFill>
                <a:latin typeface="Consolas"/>
                <a:ea typeface="Consolas"/>
                <a:cs typeface="Consolas"/>
              </a:rPr>
              <a:t>使用：esort [-c] [-m &lt;MB&gt;] [-r] [-n] [-l] [-o &lt;file&gt;] FileName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esort — 外部排序工具設計與實作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475488"/>
          </a:xfrm>
          <a:prstGeom prst="rect">
            <a:avLst/>
          </a:prstGeom>
          <a:solidFill>
            <a:srgbClr val="E06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F4B"/>
                </a:solidFill>
                <a:latin typeface="Segoe UI"/>
                <a:ea typeface="Microsoft JhengHei"/>
                <a:cs typeface="Segoe UI"/>
              </a:rPr>
              <a:t>附錄 A2：Q&amp;A 預備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0058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6DA4"/>
                </a:solidFill>
                <a:latin typeface="Segoe UI"/>
                <a:ea typeface="Microsoft JhengHei"/>
                <a:cs typeface="Segoe UI"/>
              </a:rPr>
              <a:t>可能被追問的問題與回答方向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5240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8" y="1737360"/>
          <a:ext cx="10725911" cy="4242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6931"/>
                <a:gridCol w="7608980"/>
              </a:tblGrid>
              <a:tr h="530352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可能的提問</a:t>
                      </a:r>
                    </a:p>
                  </a:txBody>
                  <a:tcPr marL="91440" marR="54864" marT="18288" marB="18288" anchor="ctr">
                    <a:solidFill>
                      <a:srgbClr val="1B2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回答方向</a:t>
                      </a:r>
                    </a:p>
                  </a:txBody>
                  <a:tcPr marL="91440" marR="54864" marT="18288" marB="18288" anchor="ctr">
                    <a:solidFill>
                      <a:srgbClr val="1B2F4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為什麼不用 getline()？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自寫 lr_next() 可在讀取時直接去除 \r\n、截斷超長行，且避免逐字元配置；memchr 掃描比逐字元讀快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k 為什麼是 512？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FOPEN_MAX 與 ulimit -n 的保守值，同時是記憶體與 I/O 次數的平衡點；可透過 MAX_MERGE_FANIN 調整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記憶體真的是 O(1) 嗎？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取決於 -m：-m 固定時與檔案大小無關；但暫存檔所需的磁碟空間是 O(N)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怎麼處理排序穩定性？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不要求穩定（qsort 規格本來就不保證）；測試資料刻意取唯一值以避免歧義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怎麼保證不覆蓋輸入檔？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stat() 比對 st_dev/st_ino；同檔時先寫暫存輸出，完成後再覆蓋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多輪合併的暫存檔會暴增嗎？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每輪結束立即 unlink 掉上一輪來源 run，峰值暫存空間仍為 O(N)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-m 小到連一行都放不下？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A5A5A"/>
                          </a:solidFill>
                          <a:latin typeface="Segoe UI"/>
                          <a:ea typeface="Microsoft JhengHei"/>
                          <a:cs typeface="Segoe UI"/>
                        </a:rPr>
                        <a:t>MIN_CHUNK_BUDGET 保證至少容納一行 + 256 指標；否則印明確錯誤並回傳非 0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esort — 外部排序工具設計與實作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3AD"/>
                </a:solidFill>
                <a:latin typeface="Segoe UI"/>
                <a:ea typeface="Microsoft JhengHei"/>
                <a:cs typeface="Segoe UI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