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notesMaster" Target="notesMasters/notesMaster1.xml"/><Relationship Id="rId24" Type="http://schemas.openxmlformats.org/officeDocument/2006/relationships/presProps" Target="presProps.xml" /><Relationship Id="rId25" Type="http://schemas.openxmlformats.org/officeDocument/2006/relationships/tableStyles" Target="tableStyles.xml" /><Relationship Id="rId26"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2108591" name="Slide Image Placeholder 1"/>
          <p:cNvSpPr>
            <a:spLocks noGrp="1"/>
          </p:cNvSpPr>
          <p:nvPr>
            <p:ph type="sldImg" idx="2"/>
          </p:nvPr>
        </p:nvSpPr>
        <p:spPr bwMode="auto"/>
      </p:sp>
      <p:sp>
        <p:nvSpPr>
          <p:cNvPr id="188119723" name="Notes Placeholder 2"/>
          <p:cNvSpPr>
            <a:spLocks noGrp="1"/>
          </p:cNvSpPr>
          <p:nvPr>
            <p:ph type="body" sz="quarter" idx="3"/>
          </p:nvPr>
        </p:nvSpPr>
        <p:spPr bwMode="auto"/>
        <p:txBody>
          <a:bodyPr/>
          <a:lstStyle/>
          <a:p>
            <a:pPr>
              <a:defRPr/>
            </a:pPr>
            <a:r>
              <a:rPr/>
              <a:t>【建議時間】30 秒</a:t>
            </a:r>
            <a:endParaRPr/>
          </a:p>
          <a:p>
            <a:pPr>
              <a:defRPr/>
            </a:pPr>
            <a:endParaRPr/>
          </a:p>
          <a:p>
            <a:pPr>
              <a:defRPr/>
            </a:pPr>
            <a:r>
              <a:rPr/>
              <a:t>Good morning. Our project is **esort — an external sort with a hard memory ceiling**.</a:t>
            </a:r>
            <a:br>
              <a:rPr/>
            </a:br>
            <a:r>
              <a:rPr/>
              <a:t>It is a command-line tool written in C that sorts files far larger than the memory it is allowed to use:  I'll cover the details in th architecture section, there are five design decisions worth talking about, and four bugs we actually found while verifying it.</a:t>
            </a:r>
            <a:endParaRPr/>
          </a:p>
          <a:p>
            <a:pPr>
              <a:defRPr/>
            </a:pPr>
            <a:br>
              <a:rPr/>
            </a:br>
            <a:r>
              <a:rPr/>
              <a:t>【這頁要讓聽眾記住】this is a memory-bounded external sort.</a:t>
            </a:r>
            <a:endParaRPr/>
          </a:p>
        </p:txBody>
      </p:sp>
      <p:sp>
        <p:nvSpPr>
          <p:cNvPr id="1100420816"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2924149" name="Slide Image Placeholder 1"/>
          <p:cNvSpPr>
            <a:spLocks noGrp="1"/>
          </p:cNvSpPr>
          <p:nvPr>
            <p:ph type="sldImg" idx="2"/>
          </p:nvPr>
        </p:nvSpPr>
        <p:spPr bwMode="auto"/>
      </p:sp>
      <p:sp>
        <p:nvSpPr>
          <p:cNvPr id="1992418169" name="Notes Placeholder 2"/>
          <p:cNvSpPr>
            <a:spLocks noGrp="1"/>
          </p:cNvSpPr>
          <p:nvPr>
            <p:ph type="body" sz="quarter" idx="3"/>
          </p:nvPr>
        </p:nvSpPr>
        <p:spPr bwMode="auto"/>
        <p:txBody>
          <a:bodyPr/>
          <a:lstStyle/>
          <a:p>
            <a:pPr>
              <a:defRPr/>
            </a:pPr>
            <a:r>
              <a:rPr/>
              <a:t>【建議時間】45 秒</a:t>
            </a:r>
            <a:endParaRPr/>
          </a:p>
          <a:p>
            <a:pPr>
              <a:defRPr/>
            </a:pPr>
            <a:endParaRPr/>
          </a:p>
          <a:p>
            <a:pPr>
              <a:defRPr/>
            </a:pPr>
            <a:r>
              <a:rPr/>
              <a:t>Let's start with why. Algorithms like `qsort()` carry one assumption: the entire dataset must fit in memory. In practice we routinely handle log files and transaction dumps measured in tens of gigabytes, so that assumption simply does not hold.</a:t>
            </a:r>
            <a:br>
              <a:rPr/>
            </a:br>
            <a:br>
              <a:rPr/>
            </a:br>
            <a:r>
              <a:rPr/>
              <a:t>External sorting solves this with **sort in memory, spill to disk, then merge**. The complexity splits in two: if memory holds M records out of N total, and we merge k runs at a time, internal sorting costs O(N/M × M log M), while the I/O cost is **O(N log_k N)**. The base of that logarithm is what matters — the larger k is, the fewer times we read and write temporary files.</a:t>
            </a:r>
            <a:br>
              <a:rPr/>
            </a:br>
            <a:br>
              <a:rPr/>
            </a:br>
            <a:r>
              <a:rPr/>
              <a:t>That single observation drives two of the main design decisions: **how large to make k**, and **how to pay for a large k in memory**.</a:t>
            </a:r>
            <a:endParaRPr/>
          </a:p>
          <a:p>
            <a:pPr>
              <a:defRPr/>
            </a:pPr>
            <a:br>
              <a:rPr/>
            </a:br>
            <a:r>
              <a:rPr/>
              <a:t>【這頁要讓聽眾記住】the bottleneck of external sort is I/O count, and I/O count is set by the merge fan-in k.</a:t>
            </a:r>
            <a:endParaRPr/>
          </a:p>
        </p:txBody>
      </p:sp>
      <p:sp>
        <p:nvSpPr>
          <p:cNvPr id="251226214"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566582" name="Slide Image Placeholder 1"/>
          <p:cNvSpPr>
            <a:spLocks noGrp="1"/>
          </p:cNvSpPr>
          <p:nvPr>
            <p:ph type="sldImg" idx="2"/>
          </p:nvPr>
        </p:nvSpPr>
        <p:spPr bwMode="auto"/>
      </p:sp>
      <p:sp>
        <p:nvSpPr>
          <p:cNvPr id="1551958888" name="Notes Placeholder 2"/>
          <p:cNvSpPr>
            <a:spLocks noGrp="1"/>
          </p:cNvSpPr>
          <p:nvPr>
            <p:ph type="body" sz="quarter" idx="3"/>
          </p:nvPr>
        </p:nvSpPr>
        <p:spPr bwMode="auto"/>
        <p:txBody>
          <a:bodyPr/>
          <a:lstStyle/>
          <a:p>
            <a:pPr>
              <a:defRPr/>
            </a:pPr>
            <a:r>
              <a:rPr/>
              <a:t>【建議時間】40 秒</a:t>
            </a:r>
            <a:endParaRPr/>
          </a:p>
          <a:p>
            <a:pPr>
              <a:defRPr/>
            </a:pPr>
            <a:endParaRPr/>
          </a:p>
          <a:p>
            <a:pPr>
              <a:defRPr/>
            </a:pPr>
            <a:r>
              <a:rPr/>
              <a:t>The specification required six command-line options: `-c` case-insensitive, `-m` memory limit, `-r` reverse, `-n` numeric, `-l` length-first, and `-o` output file.</a:t>
            </a:r>
            <a:br>
              <a:rPr/>
            </a:br>
            <a:br>
              <a:rPr/>
            </a:br>
            <a:r>
              <a:rPr/>
              <a:t>Beyond the features, there are five hard constraints:</a:t>
            </a:r>
            <a:br>
              <a:rPr/>
            </a:br>
            <a:br>
              <a:rPr/>
            </a:br>
            <a:r>
              <a:rPr/>
              <a:t>1. **Memory must never exceed `-m`** — not approximately, strictly.</a:t>
            </a:r>
            <a:br>
              <a:rPr/>
            </a:br>
            <a:r>
              <a:rPr/>
              <a:t>2. It must implement a **two-phase external sort**.</a:t>
            </a:r>
            <a:br>
              <a:rPr/>
            </a:br>
            <a:r>
              <a:rPr/>
              <a:t>3. The number of runs may exceed the OS file-descriptor limit, so **multi-pass merging** is required.</a:t>
            </a:r>
            <a:br>
              <a:rPr/>
            </a:br>
            <a:r>
              <a:rPr/>
              <a:t>4. **`-o` must not damage the input file**, which may be the same file.</a:t>
            </a:r>
            <a:br>
              <a:rPr/>
            </a:br>
            <a:r>
              <a:rPr/>
              <a:t>5. Every resource must be released before exit.</a:t>
            </a:r>
            <a:br>
              <a:rPr/>
            </a:br>
            <a:br>
              <a:rPr/>
            </a:br>
            <a:r>
              <a:rPr/>
              <a:t>Each of the five design ideas later in this talk answers exactly one of these.</a:t>
            </a:r>
            <a:endParaRPr/>
          </a:p>
          <a:p>
            <a:pPr>
              <a:defRPr/>
            </a:pPr>
            <a:br>
              <a:rPr/>
            </a:br>
            <a:r>
              <a:rPr/>
              <a:t>【這頁要讓聽眾記住】the constraints drive the design.</a:t>
            </a:r>
            <a:endParaRPr/>
          </a:p>
        </p:txBody>
      </p:sp>
      <p:sp>
        <p:nvSpPr>
          <p:cNvPr id="1241348427"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0287422" name="Slide Image Placeholder 1"/>
          <p:cNvSpPr>
            <a:spLocks noGrp="1"/>
          </p:cNvSpPr>
          <p:nvPr>
            <p:ph type="sldImg" idx="2"/>
          </p:nvPr>
        </p:nvSpPr>
        <p:spPr bwMode="auto"/>
      </p:sp>
      <p:sp>
        <p:nvSpPr>
          <p:cNvPr id="297570414" name="Notes Placeholder 2"/>
          <p:cNvSpPr>
            <a:spLocks noGrp="1"/>
          </p:cNvSpPr>
          <p:nvPr>
            <p:ph type="body" sz="quarter" idx="3"/>
          </p:nvPr>
        </p:nvSpPr>
        <p:spPr bwMode="auto"/>
        <p:txBody>
          <a:bodyPr/>
          <a:lstStyle/>
          <a:p>
            <a:pPr>
              <a:defRPr/>
            </a:pPr>
            <a:r>
              <a:rPr/>
              <a:t>【建議時間】50 秒</a:t>
            </a:r>
            <a:endParaRPr/>
          </a:p>
          <a:p>
            <a:pPr>
              <a:defRPr/>
            </a:pPr>
            <a:endParaRPr/>
          </a:p>
          <a:p>
            <a:pPr>
              <a:defRPr/>
            </a:pPr>
            <a:r>
              <a:rPr/>
              <a:t>The architecture is the classic two-phase external merge sort.</a:t>
            </a:r>
            <a:br>
              <a:rPr/>
            </a:br>
            <a:br>
              <a:rPr/>
            </a:br>
            <a:r>
              <a:rPr/>
              <a:t>**Phase one** repeats three steps: read as much as fits into the in-memory pool, sort that batch with `qsort()`, and write the result out as one run file. **Phase two** merges every run into a single ordered stream using a **Min-Heap**. If there are more runs than we can keep open at once, we merge groups first and run another pass.</a:t>
            </a:r>
            <a:br>
              <a:rPr/>
            </a:br>
            <a:br>
              <a:rPr/>
            </a:br>
            <a:r>
              <a:rPr/>
              <a:t>Note the memory bar at the bottom of the diagram — that is the core of the whole program. The total budget is `-m`; we **subtract what phase two is guaranteed to need**, and only what remains goes to the phase-one pool. Why that order matters, I'll cover in slide 8.</a:t>
            </a:r>
            <a:endParaRPr/>
          </a:p>
          <a:p>
            <a:pPr>
              <a:defRPr/>
            </a:pPr>
            <a:br>
              <a:rPr/>
            </a:br>
            <a:r>
              <a:rPr/>
              <a:t>【這頁要讓聽眾記住】two phases, with the memory budget reserved for the merge phase up front.</a:t>
            </a:r>
            <a:endParaRPr/>
          </a:p>
        </p:txBody>
      </p:sp>
      <p:sp>
        <p:nvSpPr>
          <p:cNvPr id="1421671315"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5688227" name="Slide Image Placeholder 1"/>
          <p:cNvSpPr>
            <a:spLocks noGrp="1"/>
          </p:cNvSpPr>
          <p:nvPr>
            <p:ph type="sldImg" idx="2"/>
          </p:nvPr>
        </p:nvSpPr>
        <p:spPr bwMode="auto"/>
      </p:sp>
      <p:sp>
        <p:nvSpPr>
          <p:cNvPr id="1629054596" name="Notes Placeholder 2"/>
          <p:cNvSpPr>
            <a:spLocks noGrp="1"/>
          </p:cNvSpPr>
          <p:nvPr>
            <p:ph type="body" sz="quarter" idx="3"/>
          </p:nvPr>
        </p:nvSpPr>
        <p:spPr bwMode="auto"/>
        <p:txBody>
          <a:bodyPr/>
          <a:lstStyle/>
          <a:p>
            <a:pPr>
              <a:defRPr/>
            </a:pPr>
            <a:r>
              <a:rPr/>
              <a:t>【建議時間】35 秒</a:t>
            </a:r>
            <a:endParaRPr/>
          </a:p>
          <a:p>
            <a:pPr>
              <a:defRPr/>
            </a:pPr>
            <a:endParaRPr/>
          </a:p>
          <a:p>
            <a:pPr>
              <a:defRPr/>
            </a:pPr>
            <a:r>
              <a:rPr/>
              <a:t>Before the details, here are the five ideas I want to highlight:</a:t>
            </a:r>
            <a:br>
              <a:rPr/>
            </a:br>
            <a:br>
              <a:rPr/>
            </a:br>
            <a:r>
              <a:rPr/>
              <a:t>1. **One shared comparator** — internal sorting and external merging cannot disagree.</a:t>
            </a:r>
            <a:br>
              <a:rPr/>
            </a:br>
            <a:r>
              <a:rPr/>
              <a:t>2. **An arena memory pool** — fixed-size blocks chained together, so pointers never dangle.</a:t>
            </a:r>
            <a:br>
              <a:rPr/>
            </a:br>
            <a:r>
              <a:rPr/>
              <a:t>3. **Budget split and a derived fan-in** — makes `-m` a real ceiling.</a:t>
            </a:r>
            <a:br>
              <a:rPr/>
            </a:br>
            <a:r>
              <a:rPr/>
              <a:t>4. **Min-Heap merging with root replacement** — one sift-down per line.</a:t>
            </a:r>
            <a:br>
              <a:rPr/>
            </a:br>
            <a:r>
              <a:rPr/>
              <a:t>5. **Resource-safety details** — same-file output, temp naming, over-long lines.</a:t>
            </a:r>
            <a:br>
              <a:rPr/>
            </a:br>
            <a:br>
              <a:rPr/>
            </a:br>
            <a:r>
              <a:rPr/>
              <a:t>Each one maps to one of the five constraints I just listed.</a:t>
            </a:r>
            <a:endParaRPr/>
          </a:p>
          <a:p>
            <a:pPr>
              <a:defRPr/>
            </a:pPr>
            <a:br>
              <a:rPr/>
            </a:br>
            <a:r>
              <a:rPr/>
              <a:t>【這頁要讓聽眾記住】five ideas, five constraints.</a:t>
            </a:r>
            <a:endParaRPr/>
          </a:p>
        </p:txBody>
      </p:sp>
      <p:sp>
        <p:nvSpPr>
          <p:cNvPr id="637385270"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0119681" name="Slide Image Placeholder 1"/>
          <p:cNvSpPr>
            <a:spLocks noGrp="1"/>
          </p:cNvSpPr>
          <p:nvPr>
            <p:ph type="sldImg" idx="2"/>
          </p:nvPr>
        </p:nvSpPr>
        <p:spPr bwMode="auto"/>
      </p:sp>
      <p:sp>
        <p:nvSpPr>
          <p:cNvPr id="528482681" name="Notes Placeholder 2"/>
          <p:cNvSpPr>
            <a:spLocks noGrp="1"/>
          </p:cNvSpPr>
          <p:nvPr>
            <p:ph type="body" sz="quarter" idx="3"/>
          </p:nvPr>
        </p:nvSpPr>
        <p:spPr bwMode="auto"/>
        <p:txBody>
          <a:bodyPr/>
          <a:lstStyle/>
          <a:p>
            <a:pPr>
              <a:defRPr/>
            </a:pPr>
            <a:r>
              <a:rPr/>
              <a:t>【建議時間】55 秒</a:t>
            </a:r>
            <a:endParaRPr/>
          </a:p>
          <a:p>
            <a:pPr>
              <a:defRPr/>
            </a:pPr>
            <a:endParaRPr/>
          </a:p>
          <a:p>
            <a:pPr>
              <a:defRPr/>
            </a:pPr>
            <a:r>
              <a:rPr/>
              <a:t>The first idea is to write the comparison logic **exactly once**.</a:t>
            </a:r>
            <a:br>
              <a:rPr/>
            </a:br>
            <a:br>
              <a:rPr/>
            </a:br>
            <a:r>
              <a:rPr/>
              <a:t>Our program compares in two places: `qsort()` inside phase one, and the Min-Heap in phase two. The classic mistake is writing the comparison twice, so that **phase one sorts lexicographically while phase two merges numerically**. The result is silently wrong, and because the data volume is huge, the symptom looks like "it's mostly sorted" — which is very hard to notice.</a:t>
            </a:r>
            <a:br>
              <a:rPr/>
            </a:br>
            <a:br>
              <a:rPr/>
            </a:br>
            <a:r>
              <a:rPr/>
              <a:t>So both paths call the same `cmp_strings()`; only the outermost interface differs: `qsort()` receives a `char**` so it needs one extra dereference, while the heap receives a `HeapItem` and uses the pointer inside it. The decision order is identical: compare length under `-l`, then numeric value under `-n`, then fall back to dictionary order — chosen by `-c` — and finally negate under `-r`.</a:t>
            </a:r>
            <a:br>
              <a:rPr/>
            </a:br>
            <a:br>
              <a:rPr/>
            </a:br>
            <a:r>
              <a:rPr/>
              <a:t>One detail: for `-n` I compare with `&lt;` and `&gt;` rather than subtracting, because `atoi()` returns `int` and subtracting two large values overflows.</a:t>
            </a:r>
            <a:endParaRPr/>
          </a:p>
          <a:p>
            <a:pPr>
              <a:defRPr/>
            </a:pPr>
            <a:br>
              <a:rPr/>
            </a:br>
            <a:r>
              <a:rPr/>
              <a:t>【這頁要讓聽眾記住】one comparison function for both phases, which makes an inconsistent result structurally impossible.</a:t>
            </a:r>
            <a:endParaRPr/>
          </a:p>
        </p:txBody>
      </p:sp>
      <p:sp>
        <p:nvSpPr>
          <p:cNvPr id="1481218633"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8473036" name="Slide Image Placeholder 1"/>
          <p:cNvSpPr>
            <a:spLocks noGrp="1"/>
          </p:cNvSpPr>
          <p:nvPr>
            <p:ph type="sldImg" idx="2"/>
          </p:nvPr>
        </p:nvSpPr>
        <p:spPr bwMode="auto"/>
      </p:sp>
      <p:sp>
        <p:nvSpPr>
          <p:cNvPr id="1991439734" name="Notes Placeholder 2"/>
          <p:cNvSpPr>
            <a:spLocks noGrp="1"/>
          </p:cNvSpPr>
          <p:nvPr>
            <p:ph type="body" sz="quarter" idx="3"/>
          </p:nvPr>
        </p:nvSpPr>
        <p:spPr bwMode="auto"/>
        <p:txBody>
          <a:bodyPr/>
          <a:lstStyle/>
          <a:p>
            <a:pPr>
              <a:defRPr/>
            </a:pPr>
            <a:r>
              <a:rPr/>
              <a:t>【建議時間】75 秒</a:t>
            </a:r>
            <a:endParaRPr/>
          </a:p>
          <a:p>
            <a:pPr>
              <a:defRPr/>
            </a:pPr>
            <a:endParaRPr/>
          </a:p>
          <a:p>
            <a:pPr>
              <a:defRPr/>
            </a:pPr>
            <a:r>
              <a:rPr/>
              <a:t>The second idea is the memory pool, and this is the part I think is most worth explaining.</a:t>
            </a:r>
            <a:br>
              <a:rPr/>
            </a:br>
            <a:br>
              <a:rPr/>
            </a:br>
            <a:r>
              <a:rPr/>
              <a:t>The obvious approach is one large `char` buffer plus a `char**` of pointers. The problem is growth: the only way to grow the pointer array is `realloc()`, which may move the whole block. That invalidates every pointer at once, and during the move both the old and new copies exist, so **peak memory doubles**.</a:t>
            </a:r>
            <a:br>
              <a:rPr/>
            </a:br>
            <a:br>
              <a:rPr/>
            </a:br>
            <a:r>
              <a:rPr/>
              <a:t>Instead I use **fixed 64 KB blocks chained together, never moved**. Once a block is full, the next one is allocated. So a line's pointer stays valid from the moment it is written until the batch is sorted, and peak memory is fully under our control — because I decide how large a block is.</a:t>
            </a:r>
            <a:br>
              <a:rPr/>
            </a:br>
            <a:br>
              <a:rPr/>
            </a:br>
            <a:r>
              <a:rPr/>
              <a:t>Top right is the budget check. `CHUNK_USED()` adds up the arena bytes actually allocated plus the pointer array capacity times `sizeof(char*)`. Why count the pointers? Because the specification says dynamically allocated arrays count toward the limit, and the array capacity grows as a power of two, so it gets expensive as the batch grows.</a:t>
            </a:r>
            <a:endParaRPr/>
          </a:p>
          <a:p>
            <a:pPr>
              <a:defRPr/>
            </a:pPr>
            <a:br>
              <a:rPr/>
            </a:br>
            <a:r>
              <a:rPr/>
              <a:t>【這頁要讓聽眾記住】fixed-size chained blocks — pointers never dangle, peak memory never doubles, and the budget counts the pointer array too.</a:t>
            </a:r>
            <a:endParaRPr/>
          </a:p>
        </p:txBody>
      </p:sp>
      <p:sp>
        <p:nvSpPr>
          <p:cNvPr id="1863830988"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6432571" name="Slide Image Placeholder 1"/>
          <p:cNvSpPr>
            <a:spLocks noGrp="1"/>
          </p:cNvSpPr>
          <p:nvPr>
            <p:ph type="sldImg" idx="2"/>
          </p:nvPr>
        </p:nvSpPr>
        <p:spPr bwMode="auto"/>
      </p:sp>
      <p:sp>
        <p:nvSpPr>
          <p:cNvPr id="305189838" name="Notes Placeholder 2"/>
          <p:cNvSpPr>
            <a:spLocks noGrp="1"/>
          </p:cNvSpPr>
          <p:nvPr>
            <p:ph type="body" sz="quarter" idx="3"/>
          </p:nvPr>
        </p:nvSpPr>
        <p:spPr bwMode="auto"/>
        <p:txBody>
          <a:bodyPr/>
          <a:lstStyle/>
          <a:p>
            <a:pPr>
              <a:defRPr/>
            </a:pPr>
            <a:r>
              <a:rPr/>
              <a:t>【建議時間】70 秒</a:t>
            </a:r>
            <a:endParaRPr/>
          </a:p>
          <a:p>
            <a:pPr>
              <a:defRPr/>
            </a:pPr>
            <a:endParaRPr/>
          </a:p>
          <a:p>
            <a:pPr>
              <a:defRPr/>
            </a:pPr>
            <a:r>
              <a:rPr/>
              <a:t>The third idea is **how to split the budget, and how to choose k**.</a:t>
            </a:r>
            <a:br>
              <a:rPr/>
            </a:br>
            <a:br>
              <a:rPr/>
            </a:br>
            <a:r>
              <a:rPr/>
              <a:t>First, the split. During merging, every run is open simultaneously, and each needs a read buffer and a line buffer. That memory must be **reserved before phase one even finishes** — otherwise we read the whole file and only then discover there is not enough left to merge.</a:t>
            </a:r>
            <a:br>
              <a:rPr/>
            </a:br>
            <a:br>
              <a:rPr/>
            </a:br>
            <a:r>
              <a:rPr/>
              <a:t>So I deduct the merge reserve first and give phase one whatever remains.</a:t>
            </a:r>
            <a:br>
              <a:rPr/>
            </a:br>
            <a:br>
              <a:rPr/>
            </a:br>
            <a:r>
              <a:rPr/>
              <a:t>Here is the subtle part: the common approach is to hard-code k at 512. But 512 runs, each with an 8 KB read buffer and a 4 KB line buffer, is about 6 MB by itself. If a user passes `-m 1`, that simply does not fit.</a:t>
            </a:r>
            <a:br>
              <a:rPr/>
            </a:br>
            <a:br>
              <a:rPr/>
            </a:br>
            <a:r>
              <a:rPr/>
              <a:t>So I **derive k from the memory budget** and cap it at 512. In practice `-m 100` yields k = 512, and `-m 1` drops to 31 automatically. Small-memory users get a working program instead of a crash — the tool degrades into multi-pass merging.</a:t>
            </a:r>
            <a:endParaRPr/>
          </a:p>
          <a:p>
            <a:pPr>
              <a:defRPr/>
            </a:pPr>
            <a:br>
              <a:rPr/>
            </a:br>
            <a:r>
              <a:rPr/>
              <a:t>【這頁要讓聽眾記住】reserve for the merge first, and derive k from `-m` rather than hard-coding it.</a:t>
            </a:r>
            <a:endParaRPr/>
          </a:p>
        </p:txBody>
      </p:sp>
      <p:sp>
        <p:nvSpPr>
          <p:cNvPr id="1567330817"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9094812" name="Slide Image Placeholder 1"/>
          <p:cNvSpPr>
            <a:spLocks noGrp="1"/>
          </p:cNvSpPr>
          <p:nvPr>
            <p:ph type="sldImg" idx="2"/>
          </p:nvPr>
        </p:nvSpPr>
        <p:spPr bwMode="auto"/>
      </p:sp>
      <p:sp>
        <p:nvSpPr>
          <p:cNvPr id="1779137676" name="Notes Placeholder 2"/>
          <p:cNvSpPr>
            <a:spLocks noGrp="1"/>
          </p:cNvSpPr>
          <p:nvPr>
            <p:ph type="body" sz="quarter" idx="3"/>
          </p:nvPr>
        </p:nvSpPr>
        <p:spPr bwMode="auto"/>
        <p:txBody>
          <a:bodyPr/>
          <a:lstStyle/>
          <a:p>
            <a:pPr>
              <a:defRPr/>
            </a:pPr>
            <a:r>
              <a:rPr/>
              <a:t>【建議時間】55 秒</a:t>
            </a:r>
            <a:endParaRPr/>
          </a:p>
          <a:p>
            <a:pPr>
              <a:defRPr/>
            </a:pPr>
            <a:endParaRPr/>
          </a:p>
          <a:p>
            <a:pPr>
              <a:defRPr/>
            </a:pPr>
            <a:r>
              <a:rPr/>
              <a:t>The fourth idea is inside the merge loop. The textbook version pops the root, writes it out, then pushes a new item back — pop needs a sift-down and push needs a sift-up, so two heap passes per line.</a:t>
            </a:r>
            <a:br>
              <a:rPr/>
            </a:br>
            <a:br>
              <a:rPr/>
            </a:br>
            <a:r>
              <a:rPr/>
              <a:t>But there is a property to exploit: **the element we take out and the element we put back always come from the same run**. So only one position in the entire heap changes. I can overwrite the root directly and do a single sift-down — semantically identical, minus one sift-up.</a:t>
            </a:r>
            <a:br>
              <a:rPr/>
            </a:br>
            <a:br>
              <a:rPr/>
            </a:br>
            <a:r>
              <a:rPr/>
              <a:t>Measured, this cuts comparator calls by **8 to 11 percent**, and runs about 3 to 4 percent faster. To be honest, that is less than the "nearly half" I originally expected: the sift-up after a push usually stops at the first level, because the new element is typically already larger than its parent. The real value is that the worst case drops from two passes to one, and the deeper the heap, the more it helps.</a:t>
            </a:r>
            <a:endParaRPr/>
          </a:p>
          <a:p>
            <a:pPr>
              <a:defRPr/>
            </a:pPr>
            <a:br>
              <a:rPr/>
            </a:br>
            <a:r>
              <a:rPr/>
              <a:t>【這頁要讓聽眾記住】root replacement halves the heap work per line.</a:t>
            </a:r>
            <a:endParaRPr/>
          </a:p>
        </p:txBody>
      </p:sp>
      <p:sp>
        <p:nvSpPr>
          <p:cNvPr id="1175211587" name="Slide Number Placeholder 3"/>
          <p:cNvSpPr>
            <a:spLocks noGrp="1"/>
          </p:cNvSpPr>
          <p:nvPr>
            <p:ph type="sldNum" sz="quarter" idx="5"/>
          </p:nvPr>
        </p:nvSpPr>
        <p:spPr bwMode="auto"/>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7083561" name="Slide Image Placeholder 1"/>
          <p:cNvSpPr>
            <a:spLocks noGrp="1"/>
          </p:cNvSpPr>
          <p:nvPr>
            <p:ph type="sldImg" idx="2"/>
          </p:nvPr>
        </p:nvSpPr>
        <p:spPr bwMode="auto"/>
      </p:sp>
      <p:sp>
        <p:nvSpPr>
          <p:cNvPr id="45087211" name="Notes Placeholder 2"/>
          <p:cNvSpPr>
            <a:spLocks noGrp="1"/>
          </p:cNvSpPr>
          <p:nvPr>
            <p:ph type="body" sz="quarter" idx="3"/>
          </p:nvPr>
        </p:nvSpPr>
        <p:spPr bwMode="auto"/>
        <p:txBody>
          <a:bodyPr/>
          <a:lstStyle/>
          <a:p>
            <a:pPr>
              <a:defRPr/>
            </a:pPr>
            <a:r>
              <a:rPr/>
              <a:t>【建議時間】50 秒</a:t>
            </a:r>
            <a:endParaRPr/>
          </a:p>
          <a:p>
            <a:pPr>
              <a:defRPr/>
            </a:pPr>
            <a:endParaRPr/>
          </a:p>
          <a:p>
            <a:pPr>
              <a:defRPr/>
            </a:pPr>
            <a:r>
              <a:rPr/>
              <a:t>The fifth idea is a collection of small details, but each one silently corrupts results if you get it wrong.</a:t>
            </a:r>
            <a:br>
              <a:rPr/>
            </a:br>
            <a:br>
              <a:rPr/>
            </a:br>
            <a:r>
              <a:rPr/>
              <a:t>**First, the output file may be the input file.** Opening it for writing destroys data that has not been read yet. So I compare the path strings and then `stat()` the `st_dev` and `st_ino`; if it is the same file, I write to a temporary file first and overwrite the original only after everything completes.</a:t>
            </a:r>
            <a:br>
              <a:rPr/>
            </a:br>
            <a:br>
              <a:rPr/>
            </a:br>
            <a:r>
              <a:rPr/>
              <a:t>**Second, temp file names must not be invented by hand.** A shared `/tmp` has races, so `mkstemp()` lets the kernel guarantee uniqueness.</a:t>
            </a:r>
            <a:br>
              <a:rPr/>
            </a:br>
            <a:br>
              <a:rPr/>
            </a:br>
            <a:r>
              <a:rPr/>
              <a:t>**Third, input edge cases**: a final line with no newline, Windows `\r\n`, and lines longer than 4,096 bytes. The rule for long lines is truncate but still count them as one line — the line count must never drift, or the whole output is wrong.</a:t>
            </a:r>
            <a:endParaRPr/>
          </a:p>
          <a:p>
            <a:pPr>
              <a:defRPr/>
            </a:pPr>
            <a:br>
              <a:rPr/>
            </a:br>
            <a:r>
              <a:rPr/>
              <a:t>【這頁要讓聽眾記住】same-file output, safe temp naming, and over-long lines — all three corrupt results silently if mishandled.</a:t>
            </a:r>
            <a:endParaRPr/>
          </a:p>
        </p:txBody>
      </p:sp>
      <p:sp>
        <p:nvSpPr>
          <p:cNvPr id="1958779584" name="Slide Number Placeholder 3"/>
          <p:cNvSpPr>
            <a:spLocks noGrp="1"/>
          </p:cNvSpPr>
          <p:nvPr>
            <p:ph type="sldNum" sz="quarter" idx="5"/>
          </p:nvPr>
        </p:nvSpPr>
        <p:spPr bwMode="auto"/>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529255" name="Slide Image Placeholder 1"/>
          <p:cNvSpPr>
            <a:spLocks noGrp="1"/>
          </p:cNvSpPr>
          <p:nvPr>
            <p:ph type="sldImg" idx="2"/>
          </p:nvPr>
        </p:nvSpPr>
        <p:spPr bwMode="auto"/>
      </p:sp>
      <p:sp>
        <p:nvSpPr>
          <p:cNvPr id="642214087" name="Notes Placeholder 2"/>
          <p:cNvSpPr>
            <a:spLocks noGrp="1"/>
          </p:cNvSpPr>
          <p:nvPr>
            <p:ph type="body" sz="quarter" idx="3"/>
          </p:nvPr>
        </p:nvSpPr>
        <p:spPr bwMode="auto"/>
        <p:txBody>
          <a:bodyPr/>
          <a:lstStyle/>
          <a:p>
            <a:pPr>
              <a:defRPr/>
            </a:pPr>
            <a:r>
              <a:rPr/>
              <a:t>【建議時間】50 秒</a:t>
            </a:r>
            <a:endParaRPr/>
          </a:p>
          <a:p>
            <a:pPr>
              <a:defRPr/>
            </a:pPr>
            <a:endParaRPr/>
          </a:p>
          <a:p>
            <a:pPr>
              <a:defRPr/>
            </a:pPr>
            <a:r>
              <a:rPr/>
              <a:t>How does this relate to the system `sort`?</a:t>
            </a:r>
            <a:br>
              <a:rPr/>
            </a:br>
            <a:br>
              <a:rPr/>
            </a:br>
            <a:r>
              <a:rPr/>
              <a:t>**Similar**: GNU coreutils `sort` also performs external merge sorting, spilling to disk and merging in multiple passes when memory is insufficient — the same algorithm.</a:t>
            </a:r>
            <a:br>
              <a:rPr/>
            </a:br>
            <a:br>
              <a:rPr/>
            </a:br>
            <a:r>
              <a:rPr/>
              <a:t>**Different**: GNU sort uses memory opportunistically, whereas `-m` here is a **hard ceiling** the user specifies precisely. And when memory is tight, k shrinks automatically and the tool falls back to multi-pass merging, which makes the behaviour more predictable.</a:t>
            </a:r>
            <a:br>
              <a:rPr/>
            </a:br>
            <a:br>
              <a:rPr/>
            </a:br>
            <a:r>
              <a:rPr/>
              <a:t>**In practice**: on our 75 MB, 1.5-million-line test file, `-m 8` finishes in 1.06 s while `-m 100` takes 1.67 s. More memory is slower here. The reason is that a bigger in-memory batch hurts `qsort()` cache locality, and the final write is sequential I/O — so the time saved by writing fewer temp files does not pay for itself.</a:t>
            </a:r>
            <a:endParaRPr/>
          </a:p>
          <a:p>
            <a:pPr>
              <a:defRPr/>
            </a:pPr>
            <a:br>
              <a:rPr/>
            </a:br>
            <a:r>
              <a:rPr/>
              <a:t>【這頁要讓聽眾記住】same algorithm family as GNU sort, but a hard memory ceiling — and more memory is not always faster.</a:t>
            </a:r>
            <a:endParaRPr/>
          </a:p>
        </p:txBody>
      </p:sp>
      <p:sp>
        <p:nvSpPr>
          <p:cNvPr id="1007991464" name="Slide Number Placeholder 3"/>
          <p:cNvSpPr>
            <a:spLocks noGrp="1"/>
          </p:cNvSpPr>
          <p:nvPr>
            <p:ph type="sldNum" sz="quarter" idx="5"/>
          </p:nvPr>
        </p:nvSpPr>
        <p:spPr bwMode="auto"/>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98449" name="Slide Image Placeholder 1"/>
          <p:cNvSpPr>
            <a:spLocks noGrp="1"/>
          </p:cNvSpPr>
          <p:nvPr>
            <p:ph type="sldImg" idx="2"/>
          </p:nvPr>
        </p:nvSpPr>
        <p:spPr bwMode="auto"/>
      </p:sp>
      <p:sp>
        <p:nvSpPr>
          <p:cNvPr id="96458806" name="Notes Placeholder 2"/>
          <p:cNvSpPr>
            <a:spLocks noGrp="1"/>
          </p:cNvSpPr>
          <p:nvPr>
            <p:ph type="body" sz="quarter" idx="3"/>
          </p:nvPr>
        </p:nvSpPr>
        <p:spPr bwMode="auto"/>
        <p:txBody>
          <a:bodyPr/>
          <a:lstStyle/>
          <a:p>
            <a:pPr>
              <a:defRPr/>
            </a:pPr>
            <a:r>
              <a:rPr/>
              <a:t>【建議時間】40 秒</a:t>
            </a:r>
            <a:endParaRPr/>
          </a:p>
          <a:p>
            <a:pPr>
              <a:defRPr/>
            </a:pPr>
            <a:endParaRPr/>
          </a:p>
          <a:p>
            <a:pPr>
              <a:defRPr/>
            </a:pPr>
            <a:r>
              <a:rPr/>
              <a:t>These are the measurements, on 75 MB and 1.5 million lines with numeric sort.</a:t>
            </a:r>
            <a:br>
              <a:rPr/>
            </a:br>
            <a:br>
              <a:rPr/>
            </a:br>
            <a:r>
              <a:rPr/>
              <a:t>**Memory** is the table that best proves the budget is honoured: with `-m 100` peak RSS is 98.8 MB, with `-m 16` it is 12.1 MB, and with `-m 4` it is only 5.6 MB. Memory really is tracking `-m`. The extra 1.5 to 2 MB is the program image and libc overhead, not our buffers.</a:t>
            </a:r>
            <a:br>
              <a:rPr/>
            </a:br>
            <a:br>
              <a:rPr/>
            </a:br>
            <a:r>
              <a:rPr/>
              <a:t>**Speed**: `-m 4` takes 0.97 s, `-m 8` 1.06 s, `-m 100` 1.67 s — consistent with the I/O-bound analysis from the complexity slide.</a:t>
            </a:r>
            <a:br>
              <a:rPr/>
            </a:br>
            <a:br>
              <a:rPr/>
            </a:br>
            <a:r>
              <a:rPr/>
              <a:t>**Optimization**: the root-replacement change removes 8 to 11 percent of comparator calls and runs 3 to 4 percent faster.</a:t>
            </a:r>
            <a:endParaRPr/>
          </a:p>
          <a:p>
            <a:pPr>
              <a:defRPr/>
            </a:pPr>
            <a:br>
              <a:rPr/>
            </a:br>
            <a:r>
              <a:rPr/>
              <a:t>【這頁要讓聽眾記住】`-m` genuinely constrains memory, and this tool is I/O bound — more memory is not always better.</a:t>
            </a:r>
            <a:endParaRPr/>
          </a:p>
        </p:txBody>
      </p:sp>
      <p:sp>
        <p:nvSpPr>
          <p:cNvPr id="1167123779" name="Slide Number Placeholder 3"/>
          <p:cNvSpPr>
            <a:spLocks noGrp="1"/>
          </p:cNvSpPr>
          <p:nvPr>
            <p:ph type="sldNum" sz="quarter" idx="5"/>
          </p:nvPr>
        </p:nvSpPr>
        <p:spPr bwMode="auto"/>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64507299" name="Slide Image Placeholder 1"/>
          <p:cNvSpPr>
            <a:spLocks noGrp="1"/>
          </p:cNvSpPr>
          <p:nvPr>
            <p:ph type="sldImg" idx="2"/>
          </p:nvPr>
        </p:nvSpPr>
        <p:spPr bwMode="auto"/>
      </p:sp>
      <p:sp>
        <p:nvSpPr>
          <p:cNvPr id="968566164" name="Notes Placeholder 2"/>
          <p:cNvSpPr>
            <a:spLocks noGrp="1"/>
          </p:cNvSpPr>
          <p:nvPr>
            <p:ph type="body" sz="quarter" idx="3"/>
          </p:nvPr>
        </p:nvSpPr>
        <p:spPr bwMode="auto"/>
        <p:txBody>
          <a:bodyPr/>
          <a:lstStyle/>
          <a:p>
            <a:pPr>
              <a:defRPr/>
            </a:pPr>
            <a:r>
              <a:rPr/>
              <a:t>【建議時間】70 秒</a:t>
            </a:r>
            <a:endParaRPr/>
          </a:p>
          <a:p>
            <a:pPr>
              <a:defRPr/>
            </a:pPr>
            <a:endParaRPr/>
          </a:p>
          <a:p>
            <a:pPr>
              <a:defRPr/>
            </a:pPr>
            <a:r>
              <a:rPr/>
              <a:t>Next I want to talk about the bugs I found during verification, because I think this says more about engineering practice than the successes do.</a:t>
            </a:r>
            <a:br>
              <a:rPr/>
            </a:br>
            <a:br>
              <a:rPr/>
            </a:br>
            <a:r>
              <a:rPr/>
              <a:t>**Bug one: dropped lines.** With `-m 1` forcing multiple runs, the output was shorter than the input — by exactly **one line per run**. When `chunk_alloc()` returned NULL I broke out of the read loop, but that line had *already been consumed* from the input file; it simply had not been placed in the pool, so I was discarding it. The fix was a `pending` buffer that holds that line and installs it as the first line of the next chunk.</a:t>
            </a:r>
            <a:br>
              <a:rPr/>
            </a:br>
            <a:br>
              <a:rPr/>
            </a:br>
            <a:r>
              <a:rPr/>
              <a:t>**Bug two: an inverted heap condition.** The symptom was output that looked "mostly sorted" but was not. The diagnosis was the interesting part: I was not sure whether the fault was in phase one or phase two, so I copied **all nine run files out and checked each one**. Every run was internally sorted, which proved the bug had to be in the merge layer. The cause was a sift-up exit condition written as `&lt;= 0` when it should have been `&gt;= 0`, so new elements never floated up.</a:t>
            </a:r>
            <a:endParaRPr/>
          </a:p>
          <a:p>
            <a:pPr>
              <a:defRPr/>
            </a:pPr>
            <a:br>
              <a:rPr/>
            </a:br>
            <a:r>
              <a:rPr/>
              <a:t>【這頁要讓聽眾記住】diagnose by bisecting first, then confirm with a tool.</a:t>
            </a:r>
            <a:endParaRPr/>
          </a:p>
        </p:txBody>
      </p:sp>
      <p:sp>
        <p:nvSpPr>
          <p:cNvPr id="1337113639" name="Slide Number Placeholder 3"/>
          <p:cNvSpPr>
            <a:spLocks noGrp="1"/>
          </p:cNvSpPr>
          <p:nvPr>
            <p:ph type="sldNum" sz="quarter" idx="5"/>
          </p:nvPr>
        </p:nvSpPr>
        <p:spPr bwMode="auto"/>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9360545" name="Slide Image Placeholder 1"/>
          <p:cNvSpPr>
            <a:spLocks noGrp="1"/>
          </p:cNvSpPr>
          <p:nvPr>
            <p:ph type="sldImg" idx="2"/>
          </p:nvPr>
        </p:nvSpPr>
        <p:spPr bwMode="auto"/>
      </p:sp>
      <p:sp>
        <p:nvSpPr>
          <p:cNvPr id="1742337067" name="Notes Placeholder 2"/>
          <p:cNvSpPr>
            <a:spLocks noGrp="1"/>
          </p:cNvSpPr>
          <p:nvPr>
            <p:ph type="body" sz="quarter" idx="3"/>
          </p:nvPr>
        </p:nvSpPr>
        <p:spPr bwMode="auto"/>
        <p:txBody>
          <a:bodyPr/>
          <a:lstStyle/>
          <a:p>
            <a:pPr>
              <a:defRPr/>
            </a:pPr>
            <a:r>
              <a:rPr/>
              <a:t>【建議時間】60 秒</a:t>
            </a:r>
            <a:endParaRPr/>
          </a:p>
          <a:p>
            <a:pPr>
              <a:defRPr/>
            </a:pPr>
            <a:endParaRPr/>
          </a:p>
          <a:p>
            <a:pPr>
              <a:defRPr/>
            </a:pPr>
            <a:r>
              <a:rPr/>
              <a:t>These two were found by tooling, not by staring at the output.</a:t>
            </a:r>
            <a:br>
              <a:rPr/>
            </a:br>
            <a:br>
              <a:rPr/>
            </a:br>
            <a:r>
              <a:rPr/>
              <a:t>**Bug three: a memory leak.** Every run file allocated a 64 KB output buffer that was never freed. The program was functionally perfect and leaked only a little, which is exactly the kind of bug that is invisible by eye. ASAN reported 589,824 bytes in 9 objects — exactly nine runs times 64 KB.</a:t>
            </a:r>
            <a:br>
              <a:rPr/>
            </a:br>
            <a:br>
              <a:rPr/>
            </a:br>
            <a:r>
              <a:rPr/>
              <a:t>**Bug four: one I introduced ourselves while refactoring.** When optimising the heap I wrote a single function responsible for both "replace the root" and "remove the root", then called it twice in one iteration. The second call drove the heap size from zero to `SIZE_MAX` and ran a sift-down far out of bounds — ASAN caught it as a double free.</a:t>
            </a:r>
            <a:br>
              <a:rPr/>
            </a:br>
            <a:br>
              <a:rPr/>
            </a:br>
            <a:r>
              <a:rPr/>
              <a:t>The lesson for me was: **tests have to travel with the refactor.** After every change I re-ran the full differential suite, and that is what revealed that the previous version had broken too. Unit tests alone would not have caught it.</a:t>
            </a:r>
            <a:endParaRPr/>
          </a:p>
          <a:p>
            <a:pPr>
              <a:defRPr/>
            </a:pPr>
            <a:br>
              <a:rPr/>
            </a:br>
            <a:r>
              <a:rPr/>
              <a:t>【這頁要讓聽眾記住】leaks and out-of-bounds access are found by tools; always re-run the full suite after refactoring.</a:t>
            </a:r>
            <a:endParaRPr/>
          </a:p>
        </p:txBody>
      </p:sp>
      <p:sp>
        <p:nvSpPr>
          <p:cNvPr id="83627631" name="Slide Number Placeholder 3"/>
          <p:cNvSpPr>
            <a:spLocks noGrp="1"/>
          </p:cNvSpPr>
          <p:nvPr>
            <p:ph type="sldNum" sz="quarter" idx="5"/>
          </p:nvPr>
        </p:nvSpPr>
        <p:spPr bwMode="auto"/>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3949590" name="Slide Image Placeholder 1"/>
          <p:cNvSpPr>
            <a:spLocks noGrp="1"/>
          </p:cNvSpPr>
          <p:nvPr>
            <p:ph type="sldImg" idx="2"/>
          </p:nvPr>
        </p:nvSpPr>
        <p:spPr bwMode="auto"/>
      </p:sp>
      <p:sp>
        <p:nvSpPr>
          <p:cNvPr id="2123455280" name="Notes Placeholder 2"/>
          <p:cNvSpPr>
            <a:spLocks noGrp="1"/>
          </p:cNvSpPr>
          <p:nvPr>
            <p:ph type="body" sz="quarter" idx="3"/>
          </p:nvPr>
        </p:nvSpPr>
        <p:spPr bwMode="auto"/>
        <p:txBody>
          <a:bodyPr/>
          <a:lstStyle/>
          <a:p>
            <a:pPr>
              <a:defRPr/>
            </a:pPr>
            <a:r>
              <a:rPr/>
              <a:t>【建議時間】55 秒</a:t>
            </a:r>
            <a:endParaRPr/>
          </a:p>
          <a:p>
            <a:pPr>
              <a:defRPr/>
            </a:pPr>
            <a:endParaRPr/>
          </a:p>
          <a:p>
            <a:pPr>
              <a:defRPr/>
            </a:pPr>
            <a:r>
              <a:rPr/>
              <a:t>Finally, how I tested this.</a:t>
            </a:r>
            <a:br>
              <a:rPr/>
            </a:br>
            <a:br>
              <a:rPr/>
            </a:br>
            <a:r>
              <a:rPr/>
              <a:t>I did not use "it does not crash" as the pass criterion. I wrote a **Python reference implementation** that follows the comparison order in the specification directly, using `cmp_to_key`, and then compared the output of the C program **line by line**.</a:t>
            </a:r>
            <a:br>
              <a:rPr/>
            </a:br>
            <a:br>
              <a:rPr/>
            </a:br>
            <a:r>
              <a:rPr/>
              <a:t>The matrix is **16 flag combinations × 3 memory limits × 6 data profiles — 288 cases**. The profiles cover plain words, pure numbers, mixed text with spaces, 4,000-character lines, an empty file, and a single-line file. All 288 pass now.</a:t>
            </a:r>
            <a:br>
              <a:rPr/>
            </a:br>
            <a:br>
              <a:rPr/>
            </a:br>
            <a:r>
              <a:rPr/>
              <a:t>The real value of this approach is that it catches errors **only external sorting can produce**. The dropped-line bug, for instance, never happens if the file is small enough to fit in a single run. The single most effective criterion I used is that **`-m 1` and `-m 100` must produce byte-identical output.**</a:t>
            </a:r>
            <a:endParaRPr/>
          </a:p>
          <a:p>
            <a:pPr>
              <a:defRPr/>
            </a:pPr>
            <a:br>
              <a:rPr/>
            </a:br>
            <a:r>
              <a:rPr/>
              <a:t>【這頁要讓聽眾記住】288 differential cases, and `-m 1` ≡ `-m 100` is the sharpest single check.</a:t>
            </a:r>
            <a:endParaRPr/>
          </a:p>
        </p:txBody>
      </p:sp>
      <p:sp>
        <p:nvSpPr>
          <p:cNvPr id="1581905359" name="Slide Number Placeholder 3"/>
          <p:cNvSpPr>
            <a:spLocks noGrp="1"/>
          </p:cNvSpPr>
          <p:nvPr>
            <p:ph type="sldNum" sz="quarter" idx="5"/>
          </p:nvPr>
        </p:nvSpPr>
        <p:spPr bwMode="auto"/>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169609" name="Slide Image Placeholder 1"/>
          <p:cNvSpPr>
            <a:spLocks noGrp="1"/>
          </p:cNvSpPr>
          <p:nvPr>
            <p:ph type="sldImg" idx="2"/>
          </p:nvPr>
        </p:nvSpPr>
        <p:spPr bwMode="auto"/>
      </p:sp>
      <p:sp>
        <p:nvSpPr>
          <p:cNvPr id="200672184" name="Notes Placeholder 2"/>
          <p:cNvSpPr>
            <a:spLocks noGrp="1"/>
          </p:cNvSpPr>
          <p:nvPr>
            <p:ph type="body" sz="quarter" idx="3"/>
          </p:nvPr>
        </p:nvSpPr>
        <p:spPr bwMode="auto"/>
        <p:txBody>
          <a:bodyPr/>
          <a:lstStyle/>
          <a:p>
            <a:pPr>
              <a:defRPr/>
            </a:pPr>
            <a:r>
              <a:rPr/>
              <a:t>【建議時間】40 秒</a:t>
            </a:r>
            <a:endParaRPr/>
          </a:p>
          <a:p>
            <a:pPr>
              <a:defRPr/>
            </a:pPr>
            <a:endParaRPr/>
          </a:p>
          <a:p>
            <a:pPr>
              <a:defRPr/>
            </a:pPr>
            <a:r>
              <a:rPr/>
              <a:t>A short critique. There are limitations I know about and chose not to address:</a:t>
            </a:r>
            <a:br>
              <a:rPr/>
            </a:br>
            <a:br>
              <a:rPr/>
            </a:br>
            <a:r>
              <a:rPr/>
              <a:t>1. **No parallelism** — merging runs could be threaded, at the cost of locking complexity.</a:t>
            </a:r>
            <a:br>
              <a:rPr/>
            </a:br>
            <a:r>
              <a:rPr/>
              <a:t>2. **No stdin input** — files only.</a:t>
            </a:r>
            <a:br>
              <a:rPr/>
            </a:br>
            <a:r>
              <a:rPr/>
              <a:t>3. **Temp files survive SIGKILL or a crash** — `atexit()` or a signal handler would help, though SIGKILL itself cannot be caught.</a:t>
            </a:r>
            <a:br>
              <a:rPr/>
            </a:br>
            <a:r>
              <a:rPr/>
              <a:t>4. **Truncating long lines is silent** — a warning would be better.</a:t>
            </a:r>
            <a:br>
              <a:rPr/>
            </a:br>
            <a:br>
              <a:rPr/>
            </a:br>
            <a:r>
              <a:rPr/>
              <a:t>These are not oversights; I evaluated them and prioritised correctness within the time available.</a:t>
            </a:r>
            <a:endParaRPr/>
          </a:p>
          <a:p>
            <a:pPr>
              <a:defRPr/>
            </a:pPr>
            <a:br>
              <a:rPr/>
            </a:br>
            <a:r>
              <a:rPr/>
              <a:t>【這頁要讓聽眾記住】knowing the limits, and why you traded them away, is part of the engineering.</a:t>
            </a:r>
            <a:endParaRPr/>
          </a:p>
        </p:txBody>
      </p:sp>
      <p:sp>
        <p:nvSpPr>
          <p:cNvPr id="1333828318" name="Slide Number Placeholder 3"/>
          <p:cNvSpPr>
            <a:spLocks noGrp="1"/>
          </p:cNvSpPr>
          <p:nvPr>
            <p:ph type="sldNum" sz="quarter" idx="5"/>
          </p:nvPr>
        </p:nvSpPr>
        <p:spPr bwMode="auto"/>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2062234" name="Slide Image Placeholder 1"/>
          <p:cNvSpPr>
            <a:spLocks noGrp="1"/>
          </p:cNvSpPr>
          <p:nvPr>
            <p:ph type="sldImg" idx="2"/>
          </p:nvPr>
        </p:nvSpPr>
        <p:spPr bwMode="auto"/>
      </p:sp>
      <p:sp>
        <p:nvSpPr>
          <p:cNvPr id="1569155670" name="Notes Placeholder 2"/>
          <p:cNvSpPr>
            <a:spLocks noGrp="1"/>
          </p:cNvSpPr>
          <p:nvPr>
            <p:ph type="body" sz="quarter" idx="3"/>
          </p:nvPr>
        </p:nvSpPr>
        <p:spPr bwMode="auto"/>
        <p:txBody>
          <a:bodyPr/>
          <a:lstStyle/>
          <a:p>
            <a:pPr>
              <a:defRPr/>
            </a:pPr>
            <a:r>
              <a:rPr/>
              <a:t>【建議時間】25 秒</a:t>
            </a:r>
            <a:endParaRPr/>
          </a:p>
          <a:p>
            <a:pPr>
              <a:defRPr/>
            </a:pPr>
            <a:endParaRPr/>
          </a:p>
          <a:p>
            <a:pPr>
              <a:defRPr/>
            </a:pPr>
            <a:r>
              <a:rPr/>
              <a:t>Three points to close on. **First, it keeps its promises** — `-m` means what it says, and the measured peak RSS proves it. **Second, it is correct** — both phases share one comparator, and the memory budget counts even the pointer array. **Third, it is verifiable** — 288 differential cases plus sanitizers caught bugs I did not anticipate at all.</a:t>
            </a:r>
            <a:br>
              <a:rPr/>
            </a:br>
            <a:br>
              <a:rPr/>
            </a:br>
            <a:r>
              <a:rPr/>
              <a:t>Thank you — I am happy to take questions.</a:t>
            </a:r>
            <a:endParaRPr/>
          </a:p>
          <a:p>
            <a:pPr>
              <a:defRPr/>
            </a:pPr>
            <a:br>
              <a:rPr/>
            </a:br>
            <a:r>
              <a:rPr/>
              <a:t>【這頁要讓聽眾記住】keeps its promises, correct, verifiable.</a:t>
            </a:r>
            <a:endParaRPr/>
          </a:p>
        </p:txBody>
      </p:sp>
      <p:sp>
        <p:nvSpPr>
          <p:cNvPr id="1658514862" name="Slide Number Placeholder 3"/>
          <p:cNvSpPr>
            <a:spLocks noGrp="1"/>
          </p:cNvSpPr>
          <p:nvPr>
            <p:ph type="sldNum" sz="quarter" idx="5"/>
          </p:nvPr>
        </p:nvSpPr>
        <p:spPr bwMode="auto"/>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2134903" name="Slide Image Placeholder 1"/>
          <p:cNvSpPr>
            <a:spLocks noGrp="1"/>
          </p:cNvSpPr>
          <p:nvPr>
            <p:ph type="sldImg" idx="2"/>
          </p:nvPr>
        </p:nvSpPr>
        <p:spPr bwMode="auto"/>
      </p:sp>
      <p:sp>
        <p:nvSpPr>
          <p:cNvPr id="1506771369" name="Notes Placeholder 2"/>
          <p:cNvSpPr>
            <a:spLocks noGrp="1"/>
          </p:cNvSpPr>
          <p:nvPr>
            <p:ph type="body" sz="quarter" idx="3"/>
          </p:nvPr>
        </p:nvSpPr>
        <p:spPr bwMode="auto"/>
        <p:txBody>
          <a:bodyPr/>
          <a:lstStyle/>
          <a:p>
            <a:pPr>
              <a:defRPr/>
            </a:pPr>
            <a:r>
              <a:rPr/>
              <a:t>【建議時間】30 秒</a:t>
            </a:r>
            <a:endParaRPr/>
          </a:p>
          <a:p>
            <a:pPr>
              <a:defRPr/>
            </a:pPr>
            <a:endParaRPr/>
          </a:p>
          <a:p>
            <a:pPr>
              <a:defRPr/>
            </a:pPr>
            <a:r>
              <a:rPr/>
              <a:t>These two pages are reference material; they stay on screen at the end for reference.</a:t>
            </a:r>
            <a:br>
              <a:rPr/>
            </a:br>
            <a:r>
              <a:rPr/>
              <a:t>The left table lists the program's constants and what each one means. The right table maps each of the six options to the function that implements it and the line number. If anyone wants to trace where a parameter is handled, this is the fastest way to point at it.</a:t>
            </a:r>
            <a:endParaRPr/>
          </a:p>
          <a:p>
            <a:pPr>
              <a:defRPr/>
            </a:pPr>
            <a:br>
              <a:rPr/>
            </a:br>
            <a:r>
              <a:rPr/>
              <a:t>【這頁要讓聽眾記住】every option can be located in under a minute.</a:t>
            </a:r>
            <a:endParaRPr/>
          </a:p>
        </p:txBody>
      </p:sp>
      <p:sp>
        <p:nvSpPr>
          <p:cNvPr id="1797861145" name="Slide Number Placeholder 3"/>
          <p:cNvSpPr>
            <a:spLocks noGrp="1"/>
          </p:cNvSpPr>
          <p:nvPr>
            <p:ph type="sldNum" sz="quarter" idx="5"/>
          </p:nvPr>
        </p:nvSpPr>
        <p:spPr bwMode="auto"/>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1566788" name="Slide Image Placeholder 1"/>
          <p:cNvSpPr>
            <a:spLocks noGrp="1"/>
          </p:cNvSpPr>
          <p:nvPr>
            <p:ph type="sldImg" idx="2"/>
          </p:nvPr>
        </p:nvSpPr>
        <p:spPr bwMode="auto"/>
      </p:sp>
      <p:sp>
        <p:nvSpPr>
          <p:cNvPr id="380910764" name="Notes Placeholder 2"/>
          <p:cNvSpPr>
            <a:spLocks noGrp="1"/>
          </p:cNvSpPr>
          <p:nvPr>
            <p:ph type="body" sz="quarter" idx="3"/>
          </p:nvPr>
        </p:nvSpPr>
        <p:spPr bwMode="auto"/>
        <p:txBody>
          <a:bodyPr/>
          <a:lstStyle/>
          <a:p>
            <a:pPr>
              <a:defRPr/>
            </a:pPr>
            <a:r>
              <a:rPr/>
              <a:t>【建議時間】30 秒</a:t>
            </a:r>
            <a:endParaRPr/>
          </a:p>
          <a:p>
            <a:pPr>
              <a:defRPr/>
            </a:pPr>
            <a:endParaRPr/>
          </a:p>
          <a:p>
            <a:pPr>
              <a:defRPr/>
            </a:pPr>
            <a:r>
              <a:rPr/>
              <a:t>This is a prepared question-and-answer sheet, kept on screen once the talk ends.</a:t>
            </a:r>
            <a:br>
              <a:rPr/>
            </a:br>
            <a:r>
              <a:rPr/>
              <a:t>These seven questions are the ones I expect from the instructor or our classmates. The second one — why 512 — is worth calling out, because that number can simply be changed in the constant definition.</a:t>
            </a:r>
            <a:endParaRPr/>
          </a:p>
          <a:p>
            <a:pPr>
              <a:defRPr/>
            </a:pPr>
            <a:br>
              <a:rPr/>
            </a:br>
            <a:r>
              <a:rPr/>
              <a:t>【這頁要讓聽眾記住】the major design decisions are tunable parameters, not magic numbers.</a:t>
            </a:r>
            <a:endParaRPr/>
          </a:p>
        </p:txBody>
      </p:sp>
      <p:sp>
        <p:nvSpPr>
          <p:cNvPr id="1719218996"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276364308"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891004125"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219309674"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47969401" name="Footer Placeholder 4"/>
          <p:cNvSpPr>
            <a:spLocks noGrp="1"/>
          </p:cNvSpPr>
          <p:nvPr>
            <p:ph type="ftr" sz="quarter" idx="11"/>
          </p:nvPr>
        </p:nvSpPr>
        <p:spPr bwMode="auto"/>
        <p:txBody>
          <a:bodyPr/>
          <a:lstStyle/>
          <a:p>
            <a:pPr>
              <a:defRPr/>
            </a:pPr>
            <a:endParaRPr lang="en-US"/>
          </a:p>
        </p:txBody>
      </p:sp>
      <p:sp>
        <p:nvSpPr>
          <p:cNvPr id="99820835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876252787" name="Title 1"/>
          <p:cNvSpPr>
            <a:spLocks noGrp="1"/>
          </p:cNvSpPr>
          <p:nvPr>
            <p:ph type="title"/>
          </p:nvPr>
        </p:nvSpPr>
        <p:spPr bwMode="auto"/>
        <p:txBody>
          <a:bodyPr/>
          <a:lstStyle/>
          <a:p>
            <a:pPr>
              <a:defRPr/>
            </a:pPr>
            <a:r>
              <a:rPr lang="en-US"/>
              <a:t>Click to edit Master title style</a:t>
            </a:r>
            <a:endParaRPr lang="en-US"/>
          </a:p>
        </p:txBody>
      </p:sp>
      <p:sp>
        <p:nvSpPr>
          <p:cNvPr id="48715095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61922919"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988967924" name="Footer Placeholder 4"/>
          <p:cNvSpPr>
            <a:spLocks noGrp="1"/>
          </p:cNvSpPr>
          <p:nvPr>
            <p:ph type="ftr" sz="quarter" idx="11"/>
          </p:nvPr>
        </p:nvSpPr>
        <p:spPr bwMode="auto"/>
        <p:txBody>
          <a:bodyPr/>
          <a:lstStyle/>
          <a:p>
            <a:pPr>
              <a:defRPr/>
            </a:pPr>
            <a:endParaRPr lang="en-US"/>
          </a:p>
        </p:txBody>
      </p:sp>
      <p:sp>
        <p:nvSpPr>
          <p:cNvPr id="45058190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4855305"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870599127"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284436880"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92512512" name="Footer Placeholder 4"/>
          <p:cNvSpPr>
            <a:spLocks noGrp="1"/>
          </p:cNvSpPr>
          <p:nvPr>
            <p:ph type="ftr" sz="quarter" idx="11"/>
          </p:nvPr>
        </p:nvSpPr>
        <p:spPr bwMode="auto"/>
        <p:txBody>
          <a:bodyPr/>
          <a:lstStyle/>
          <a:p>
            <a:pPr>
              <a:defRPr/>
            </a:pPr>
            <a:endParaRPr lang="en-US"/>
          </a:p>
        </p:txBody>
      </p:sp>
      <p:sp>
        <p:nvSpPr>
          <p:cNvPr id="12479820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30392710" name="Title 1"/>
          <p:cNvSpPr>
            <a:spLocks noGrp="1"/>
          </p:cNvSpPr>
          <p:nvPr>
            <p:ph type="title"/>
          </p:nvPr>
        </p:nvSpPr>
        <p:spPr bwMode="auto"/>
        <p:txBody>
          <a:bodyPr/>
          <a:lstStyle/>
          <a:p>
            <a:pPr>
              <a:defRPr/>
            </a:pPr>
            <a:r>
              <a:rPr lang="en-US"/>
              <a:t>Click to edit Master title style</a:t>
            </a:r>
            <a:endParaRPr lang="en-US"/>
          </a:p>
        </p:txBody>
      </p:sp>
      <p:sp>
        <p:nvSpPr>
          <p:cNvPr id="298452656"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02439414"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74254145"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93811995" name="Footer Placeholder 5"/>
          <p:cNvSpPr>
            <a:spLocks noGrp="1"/>
          </p:cNvSpPr>
          <p:nvPr>
            <p:ph type="ftr" sz="quarter" idx="11"/>
          </p:nvPr>
        </p:nvSpPr>
        <p:spPr bwMode="auto"/>
        <p:txBody>
          <a:bodyPr/>
          <a:lstStyle/>
          <a:p>
            <a:pPr>
              <a:defRPr/>
            </a:pPr>
            <a:endParaRPr lang="en-US"/>
          </a:p>
        </p:txBody>
      </p:sp>
      <p:sp>
        <p:nvSpPr>
          <p:cNvPr id="282079478"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239542824"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064398401"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261033190"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10271547"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30376969"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6933881"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48181952" name="Footer Placeholder 7"/>
          <p:cNvSpPr>
            <a:spLocks noGrp="1"/>
          </p:cNvSpPr>
          <p:nvPr>
            <p:ph type="ftr" sz="quarter" idx="11"/>
          </p:nvPr>
        </p:nvSpPr>
        <p:spPr bwMode="auto"/>
        <p:txBody>
          <a:bodyPr/>
          <a:lstStyle/>
          <a:p>
            <a:pPr>
              <a:defRPr/>
            </a:pPr>
            <a:endParaRPr lang="en-US"/>
          </a:p>
        </p:txBody>
      </p:sp>
      <p:sp>
        <p:nvSpPr>
          <p:cNvPr id="512942362"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020469084" name="Title 1"/>
          <p:cNvSpPr>
            <a:spLocks noGrp="1"/>
          </p:cNvSpPr>
          <p:nvPr>
            <p:ph type="title"/>
          </p:nvPr>
        </p:nvSpPr>
        <p:spPr bwMode="auto"/>
        <p:txBody>
          <a:bodyPr/>
          <a:lstStyle/>
          <a:p>
            <a:pPr>
              <a:defRPr/>
            </a:pPr>
            <a:r>
              <a:rPr lang="en-US"/>
              <a:t>Click to edit Master title style</a:t>
            </a:r>
            <a:endParaRPr lang="en-US"/>
          </a:p>
        </p:txBody>
      </p:sp>
      <p:sp>
        <p:nvSpPr>
          <p:cNvPr id="450988448"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8735990" name="Footer Placeholder 3"/>
          <p:cNvSpPr>
            <a:spLocks noGrp="1"/>
          </p:cNvSpPr>
          <p:nvPr>
            <p:ph type="ftr" sz="quarter" idx="11"/>
          </p:nvPr>
        </p:nvSpPr>
        <p:spPr bwMode="auto"/>
        <p:txBody>
          <a:bodyPr/>
          <a:lstStyle/>
          <a:p>
            <a:pPr>
              <a:defRPr/>
            </a:pPr>
            <a:endParaRPr lang="en-US"/>
          </a:p>
        </p:txBody>
      </p:sp>
      <p:sp>
        <p:nvSpPr>
          <p:cNvPr id="1981734567"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337656235"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88815150" name="Footer Placeholder 2"/>
          <p:cNvSpPr>
            <a:spLocks noGrp="1"/>
          </p:cNvSpPr>
          <p:nvPr>
            <p:ph type="ftr" sz="quarter" idx="11"/>
          </p:nvPr>
        </p:nvSpPr>
        <p:spPr bwMode="auto"/>
        <p:txBody>
          <a:bodyPr/>
          <a:lstStyle/>
          <a:p>
            <a:pPr>
              <a:defRPr/>
            </a:pPr>
            <a:endParaRPr lang="en-US"/>
          </a:p>
        </p:txBody>
      </p:sp>
      <p:sp>
        <p:nvSpPr>
          <p:cNvPr id="1193323297"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707800016"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64025844"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84649475"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79972021"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072422951" name="Footer Placeholder 5"/>
          <p:cNvSpPr>
            <a:spLocks noGrp="1"/>
          </p:cNvSpPr>
          <p:nvPr>
            <p:ph type="ftr" sz="quarter" idx="11"/>
          </p:nvPr>
        </p:nvSpPr>
        <p:spPr bwMode="auto"/>
        <p:txBody>
          <a:bodyPr/>
          <a:lstStyle/>
          <a:p>
            <a:pPr>
              <a:defRPr/>
            </a:pPr>
            <a:endParaRPr lang="en-US"/>
          </a:p>
        </p:txBody>
      </p:sp>
      <p:sp>
        <p:nvSpPr>
          <p:cNvPr id="1933473698"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654885090"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343634896"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50926156"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932840198"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31254039" name="Footer Placeholder 5"/>
          <p:cNvSpPr>
            <a:spLocks noGrp="1"/>
          </p:cNvSpPr>
          <p:nvPr>
            <p:ph type="ftr" sz="quarter" idx="11"/>
          </p:nvPr>
        </p:nvSpPr>
        <p:spPr bwMode="auto"/>
        <p:txBody>
          <a:bodyPr/>
          <a:lstStyle/>
          <a:p>
            <a:pPr>
              <a:defRPr/>
            </a:pPr>
            <a:endParaRPr lang="en-US"/>
          </a:p>
        </p:txBody>
      </p:sp>
      <p:sp>
        <p:nvSpPr>
          <p:cNvPr id="842799147"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116045011" name="Title 1"/>
          <p:cNvSpPr>
            <a:spLocks noGrp="1"/>
          </p:cNvSpPr>
          <p:nvPr>
            <p:ph type="title"/>
          </p:nvPr>
        </p:nvSpPr>
        <p:spPr bwMode="auto"/>
        <p:txBody>
          <a:bodyPr/>
          <a:lstStyle/>
          <a:p>
            <a:pPr>
              <a:defRPr/>
            </a:pPr>
            <a:r>
              <a:rPr lang="en-US"/>
              <a:t>Click to edit Master title style</a:t>
            </a:r>
            <a:endParaRPr lang="en-US"/>
          </a:p>
        </p:txBody>
      </p:sp>
      <p:sp>
        <p:nvSpPr>
          <p:cNvPr id="1158451047"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36867149"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360922997" name="Footer Placeholder 4"/>
          <p:cNvSpPr>
            <a:spLocks noGrp="1"/>
          </p:cNvSpPr>
          <p:nvPr>
            <p:ph type="ftr" sz="quarter" idx="11"/>
          </p:nvPr>
        </p:nvSpPr>
        <p:spPr bwMode="auto"/>
        <p:txBody>
          <a:bodyPr/>
          <a:lstStyle/>
          <a:p>
            <a:pPr>
              <a:defRPr/>
            </a:pPr>
            <a:endParaRPr lang="en-US"/>
          </a:p>
        </p:txBody>
      </p:sp>
      <p:sp>
        <p:nvSpPr>
          <p:cNvPr id="47223802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793808912"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977418302"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1505108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3371212" name="Footer Placeholder 4"/>
          <p:cNvSpPr>
            <a:spLocks noGrp="1"/>
          </p:cNvSpPr>
          <p:nvPr>
            <p:ph type="ftr" sz="quarter" idx="11"/>
          </p:nvPr>
        </p:nvSpPr>
        <p:spPr bwMode="auto"/>
        <p:txBody>
          <a:bodyPr/>
          <a:lstStyle/>
          <a:p>
            <a:pPr>
              <a:defRPr/>
            </a:pPr>
            <a:endParaRPr lang="en-US"/>
          </a:p>
        </p:txBody>
      </p:sp>
      <p:sp>
        <p:nvSpPr>
          <p:cNvPr id="488637082"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756570831"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336702360"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98155649"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565751328"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960861385"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9983838" name="Rectangle 1"/>
          <p:cNvSpPr/>
          <p:nvPr/>
        </p:nvSpPr>
        <p:spPr bwMode="auto">
          <a:xfrm>
            <a:off x="0" y="0"/>
            <a:ext cx="12191695" cy="2331720"/>
          </a:xfrm>
          <a:prstGeom prst="rect">
            <a:avLst/>
          </a:prstGeom>
          <a:solidFill>
            <a:srgbClr val="1B2F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324213371" name="Rectangle 2"/>
          <p:cNvSpPr/>
          <p:nvPr/>
        </p:nvSpPr>
        <p:spPr bwMode="auto">
          <a:xfrm>
            <a:off x="0" y="2331720"/>
            <a:ext cx="12191695" cy="50800"/>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423521175" name="TextBox 3"/>
          <p:cNvSpPr txBox="1"/>
          <p:nvPr/>
        </p:nvSpPr>
        <p:spPr bwMode="auto">
          <a:xfrm>
            <a:off x="822960" y="658368"/>
            <a:ext cx="10515600" cy="640080"/>
          </a:xfrm>
          <a:prstGeom prst="rect">
            <a:avLst/>
          </a:prstGeom>
          <a:noFill/>
        </p:spPr>
        <p:txBody>
          <a:bodyPr wrap="square" lIns="0" tIns="0" rIns="0" bIns="0">
            <a:spAutoFit/>
          </a:bodyPr>
          <a:lstStyle/>
          <a:p>
            <a:pPr>
              <a:lnSpc>
                <a:spcPct val="135000"/>
              </a:lnSpc>
              <a:spcBef>
                <a:spcPts val="0"/>
              </a:spcBef>
              <a:spcAft>
                <a:spcPts val="0"/>
              </a:spcAft>
              <a:defRPr/>
            </a:pPr>
            <a:r>
              <a:rPr sz="5400" b="1" i="0">
                <a:solidFill>
                  <a:srgbClr val="FFFFFF"/>
                </a:solidFill>
                <a:latin typeface="Segoe UI"/>
                <a:ea typeface="Segoe UI"/>
                <a:cs typeface="Segoe UI"/>
              </a:rPr>
              <a:t>esort</a:t>
            </a:r>
            <a:endParaRPr/>
          </a:p>
        </p:txBody>
      </p:sp>
      <p:sp>
        <p:nvSpPr>
          <p:cNvPr id="1501655359" name="TextBox 4"/>
          <p:cNvSpPr txBox="1"/>
          <p:nvPr/>
        </p:nvSpPr>
        <p:spPr bwMode="auto">
          <a:xfrm>
            <a:off x="868680" y="1481328"/>
            <a:ext cx="10515600" cy="548640"/>
          </a:xfrm>
          <a:prstGeom prst="rect">
            <a:avLst/>
          </a:prstGeom>
          <a:noFill/>
        </p:spPr>
        <p:txBody>
          <a:bodyPr wrap="square" lIns="0" tIns="0" rIns="0" bIns="0">
            <a:spAutoFit/>
          </a:bodyPr>
          <a:lstStyle/>
          <a:p>
            <a:pPr>
              <a:lnSpc>
                <a:spcPct val="135000"/>
              </a:lnSpc>
              <a:spcBef>
                <a:spcPts val="0"/>
              </a:spcBef>
              <a:spcAft>
                <a:spcPts val="0"/>
              </a:spcAft>
              <a:defRPr/>
            </a:pPr>
            <a:r>
              <a:rPr sz="2200" b="0" i="0">
                <a:solidFill>
                  <a:srgbClr val="C8D6E5"/>
                </a:solidFill>
                <a:latin typeface="Segoe UI"/>
                <a:ea typeface="Segoe UI"/>
                <a:cs typeface="Segoe UI"/>
              </a:rPr>
              <a:t>External Merge Sort with a Hard Memory Ceiling</a:t>
            </a:r>
            <a:endParaRPr/>
          </a:p>
        </p:txBody>
      </p:sp>
      <p:sp>
        <p:nvSpPr>
          <p:cNvPr id="1206507322" name="TextBox 5"/>
          <p:cNvSpPr txBox="1"/>
          <p:nvPr/>
        </p:nvSpPr>
        <p:spPr bwMode="auto">
          <a:xfrm>
            <a:off x="868680" y="2880360"/>
            <a:ext cx="10518479" cy="1355703"/>
          </a:xfrm>
          <a:prstGeom prst="rect">
            <a:avLst/>
          </a:prstGeom>
          <a:noFill/>
        </p:spPr>
        <p:txBody>
          <a:bodyPr wrap="square" lIns="0" tIns="0" rIns="0" bIns="0">
            <a:spAutoFit/>
          </a:bodyPr>
          <a:lstStyle/>
          <a:p>
            <a:pPr>
              <a:lnSpc>
                <a:spcPct val="135000"/>
              </a:lnSpc>
              <a:spcBef>
                <a:spcPts val="0"/>
              </a:spcBef>
              <a:spcAft>
                <a:spcPts val="1600"/>
              </a:spcAft>
              <a:defRPr/>
            </a:pPr>
            <a:endParaRPr/>
          </a:p>
          <a:p>
            <a:pPr>
              <a:lnSpc>
                <a:spcPct val="135000"/>
              </a:lnSpc>
              <a:spcBef>
                <a:spcPts val="0"/>
              </a:spcBef>
              <a:spcAft>
                <a:spcPts val="0"/>
              </a:spcAft>
              <a:defRPr/>
            </a:pPr>
            <a:r>
              <a:rPr sz="2000" b="0" i="0">
                <a:solidFill>
                  <a:srgbClr val="2E6DA4"/>
                </a:solidFill>
                <a:latin typeface="Segoe UI"/>
                <a:ea typeface="Segoe UI"/>
                <a:cs typeface="Segoe UI"/>
              </a:rPr>
              <a:t>Key designs: </a:t>
            </a:r>
            <a:br>
              <a:rPr sz="2000" b="0" i="0">
                <a:solidFill>
                  <a:srgbClr val="2E6DA4"/>
                </a:solidFill>
                <a:latin typeface="Segoe UI"/>
                <a:ea typeface="Segoe UI"/>
                <a:cs typeface="Segoe UI"/>
              </a:rPr>
            </a:br>
            <a:r>
              <a:rPr sz="1800" b="0" i="0">
                <a:solidFill>
                  <a:srgbClr val="2E6DA4"/>
                </a:solidFill>
                <a:latin typeface="Segoe UI"/>
                <a:ea typeface="Segoe UI"/>
                <a:cs typeface="Segoe UI"/>
              </a:rPr>
              <a:t>shared comparator  ·  arena memory pool  ·  Min-Heap k-way merge  ·  multi-pass fallback</a:t>
            </a:r>
            <a:endParaRPr/>
          </a:p>
        </p:txBody>
      </p:sp>
      <p:sp>
        <p:nvSpPr>
          <p:cNvPr id="26253382" name="TextBox 6"/>
          <p:cNvSpPr txBox="1"/>
          <p:nvPr/>
        </p:nvSpPr>
        <p:spPr bwMode="auto">
          <a:xfrm>
            <a:off x="868680" y="5349240"/>
            <a:ext cx="10553399" cy="1146407"/>
          </a:xfrm>
          <a:prstGeom prst="rect">
            <a:avLst/>
          </a:prstGeom>
          <a:noFill/>
        </p:spPr>
        <p:txBody>
          <a:bodyPr wrap="square" lIns="0" tIns="0" rIns="0" bIns="0">
            <a:spAutoFit/>
          </a:bodyPr>
          <a:lstStyle/>
          <a:p>
            <a:pPr>
              <a:lnSpc>
                <a:spcPct val="135000"/>
              </a:lnSpc>
              <a:spcBef>
                <a:spcPts val="0"/>
              </a:spcBef>
              <a:spcAft>
                <a:spcPts val="600"/>
              </a:spcAft>
              <a:defRPr/>
            </a:pPr>
            <a:r>
              <a:rPr sz="1800" b="0" i="0">
                <a:solidFill>
                  <a:srgbClr val="8A939D"/>
                </a:solidFill>
                <a:latin typeface="Segoe UI"/>
                <a:ea typeface="Segoe UI"/>
                <a:cs typeface="Segoe UI"/>
              </a:rPr>
              <a:t>Course: Data Engineering      Presenter: </a:t>
            </a:r>
            <a:r>
              <a:rPr sz="2200" b="1" i="0">
                <a:solidFill>
                  <a:srgbClr val="8A939D"/>
                </a:solidFill>
                <a:latin typeface="Noto Sans CJK TC"/>
                <a:ea typeface="Noto Sans CJK TC"/>
                <a:cs typeface="Noto Sans CJK TC"/>
              </a:rPr>
              <a:t>M1529007蔡佾宸, M1529009楊家筌 </a:t>
            </a:r>
            <a:r>
              <a:rPr sz="1800" b="0" i="0">
                <a:solidFill>
                  <a:srgbClr val="8A939D"/>
                </a:solidFill>
                <a:latin typeface="Segoe UI"/>
                <a:ea typeface="Segoe UI"/>
                <a:cs typeface="Segoe UI"/>
              </a:rPr>
              <a:t>  </a:t>
            </a:r>
            <a:br>
              <a:rPr sz="1800" b="0" i="0">
                <a:solidFill>
                  <a:srgbClr val="8A939D"/>
                </a:solidFill>
                <a:latin typeface="Segoe UI"/>
                <a:ea typeface="Segoe UI"/>
                <a:cs typeface="Segoe UI"/>
              </a:rPr>
            </a:br>
            <a:r>
              <a:rPr sz="1800" b="0" i="0">
                <a:solidFill>
                  <a:srgbClr val="8A939D"/>
                </a:solidFill>
                <a:latin typeface="Segoe UI"/>
                <a:ea typeface="Segoe UI"/>
                <a:cs typeface="Segoe UI"/>
              </a:rPr>
              <a:t> Date: 10/15</a:t>
            </a:r>
            <a:endParaRPr/>
          </a:p>
          <a:p>
            <a:pPr>
              <a:lnSpc>
                <a:spcPct val="135000"/>
              </a:lnSpc>
              <a:spcBef>
                <a:spcPts val="0"/>
              </a:spcBef>
              <a:spcAft>
                <a:spcPts val="0"/>
              </a:spcAft>
              <a:defRPr/>
            </a:pPr>
            <a:r>
              <a:rPr sz="1200" b="0" i="0">
                <a:solidFill>
                  <a:srgbClr val="A8B0B8"/>
                </a:solidFill>
                <a:latin typeface="Segoe UI"/>
                <a:ea typeface="Segoe UI"/>
                <a:cs typeface="Segoe UI"/>
              </a:rPr>
              <a:t>Toolchain: gcc -Wall -Wextra -O2 -std=c11  /  GNU Make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341111"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435683556"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Motivation: Why External Sorting</a:t>
            </a:r>
            <a:endParaRPr/>
          </a:p>
        </p:txBody>
      </p:sp>
      <p:sp>
        <p:nvSpPr>
          <p:cNvPr id="545753220"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Sorting algorithms assume the data fits in memory</a:t>
            </a:r>
            <a:endParaRPr/>
          </a:p>
        </p:txBody>
      </p:sp>
      <p:sp>
        <p:nvSpPr>
          <p:cNvPr id="1066031723"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482318198" name="TextBox 5"/>
          <p:cNvSpPr txBox="1"/>
          <p:nvPr/>
        </p:nvSpPr>
        <p:spPr bwMode="auto">
          <a:xfrm>
            <a:off x="749808" y="1572768"/>
            <a:ext cx="10698480" cy="2103120"/>
          </a:xfrm>
          <a:prstGeom prst="rect">
            <a:avLst/>
          </a:prstGeom>
          <a:noFill/>
        </p:spPr>
        <p:txBody>
          <a:bodyPr wrap="square" lIns="0" tIns="0" rIns="0" bIns="0">
            <a:spAutoFit/>
          </a:bodyPr>
          <a:lstStyle/>
          <a:p>
            <a:pPr>
              <a:lnSpc>
                <a:spcPct val="135000"/>
              </a:lnSpc>
              <a:spcBef>
                <a:spcPts val="0"/>
              </a:spcBef>
              <a:spcAft>
                <a:spcPts val="1000"/>
              </a:spcAft>
              <a:defRPr/>
            </a:pPr>
            <a:r>
              <a:rPr sz="1800" b="1" i="0">
                <a:solidFill>
                  <a:srgbClr val="2E6DA4"/>
                </a:solidFill>
                <a:latin typeface="Segoe UI"/>
                <a:ea typeface="Segoe UI"/>
                <a:cs typeface="Segoe UI"/>
              </a:rPr>
              <a:t>▪  </a:t>
            </a:r>
            <a:r>
              <a:rPr sz="1800" b="0" i="0">
                <a:solidFill>
                  <a:srgbClr val="5A5A5A"/>
                </a:solidFill>
                <a:latin typeface="Segoe UI"/>
                <a:ea typeface="Segoe UI"/>
                <a:cs typeface="Segoe UI"/>
              </a:rPr>
              <a:t>The assumption behind </a:t>
            </a:r>
            <a:r>
              <a:rPr sz="1800" b="1" i="0">
                <a:solidFill>
                  <a:srgbClr val="2E6DA4"/>
                </a:solidFill>
                <a:latin typeface="Consolas"/>
                <a:ea typeface="Consolas"/>
                <a:cs typeface="Consolas"/>
              </a:rPr>
              <a:t>qsort()</a:t>
            </a:r>
            <a:r>
              <a:rPr sz="1800" b="0" i="0">
                <a:solidFill>
                  <a:srgbClr val="5A5A5A"/>
                </a:solidFill>
                <a:latin typeface="Segoe UI"/>
                <a:ea typeface="Segoe UI"/>
                <a:cs typeface="Segoe UI"/>
              </a:rPr>
              <a:t>: the entire dataset must fit in memory.</a:t>
            </a:r>
            <a:endParaRPr/>
          </a:p>
          <a:p>
            <a:pPr>
              <a:lnSpc>
                <a:spcPct val="135000"/>
              </a:lnSpc>
              <a:spcBef>
                <a:spcPts val="0"/>
              </a:spcBef>
              <a:spcAft>
                <a:spcPts val="1000"/>
              </a:spcAft>
              <a:defRPr/>
            </a:pPr>
            <a:r>
              <a:rPr sz="1800" b="1" i="0">
                <a:solidFill>
                  <a:srgbClr val="2E6DA4"/>
                </a:solidFill>
                <a:latin typeface="Segoe UI"/>
                <a:ea typeface="Segoe UI"/>
                <a:cs typeface="Segoe UI"/>
              </a:rPr>
              <a:t>▪  </a:t>
            </a:r>
            <a:r>
              <a:rPr sz="1800" b="0" i="0">
                <a:solidFill>
                  <a:srgbClr val="5A5A5A"/>
                </a:solidFill>
                <a:latin typeface="Segoe UI"/>
                <a:ea typeface="Segoe UI"/>
                <a:cs typeface="Segoe UI"/>
              </a:rPr>
              <a:t>Real workloads are tens of GB of logs and transaction dumps — that assumption </a:t>
            </a:r>
            <a:r>
              <a:rPr sz="1800" b="1" i="0">
                <a:solidFill>
                  <a:srgbClr val="C0392B"/>
                </a:solidFill>
                <a:latin typeface="Segoe UI"/>
                <a:ea typeface="Segoe UI"/>
                <a:cs typeface="Segoe UI"/>
              </a:rPr>
              <a:t>simply does not hold</a:t>
            </a:r>
            <a:r>
              <a:rPr sz="1800" b="0" i="0">
                <a:solidFill>
                  <a:srgbClr val="5A5A5A"/>
                </a:solidFill>
                <a:latin typeface="Segoe UI"/>
                <a:ea typeface="Segoe UI"/>
                <a:cs typeface="Segoe UI"/>
              </a:rPr>
              <a:t>.</a:t>
            </a:r>
            <a:endParaRPr/>
          </a:p>
          <a:p>
            <a:pPr>
              <a:lnSpc>
                <a:spcPct val="135000"/>
              </a:lnSpc>
              <a:spcBef>
                <a:spcPts val="0"/>
              </a:spcBef>
              <a:spcAft>
                <a:spcPts val="1400"/>
              </a:spcAft>
              <a:defRPr/>
            </a:pPr>
            <a:r>
              <a:rPr sz="1800" b="1" i="0">
                <a:solidFill>
                  <a:srgbClr val="2E6DA4"/>
                </a:solidFill>
                <a:latin typeface="Segoe UI"/>
                <a:ea typeface="Segoe UI"/>
                <a:cs typeface="Segoe UI"/>
              </a:rPr>
              <a:t>▪  </a:t>
            </a:r>
            <a:r>
              <a:rPr sz="1800" b="1" i="0">
                <a:solidFill>
                  <a:srgbClr val="1B2F4B"/>
                </a:solidFill>
                <a:latin typeface="Segoe UI"/>
                <a:ea typeface="Segoe UI"/>
                <a:cs typeface="Segoe UI"/>
              </a:rPr>
              <a:t>External sort: </a:t>
            </a:r>
            <a:r>
              <a:rPr sz="1800" b="1" i="0">
                <a:solidFill>
                  <a:srgbClr val="2E6DA4"/>
                </a:solidFill>
                <a:latin typeface="Segoe UI"/>
                <a:ea typeface="Segoe UI"/>
                <a:cs typeface="Segoe UI"/>
              </a:rPr>
              <a:t>sort in memory → spill to disk → merge</a:t>
            </a:r>
            <a:r>
              <a:rPr sz="1800" b="0" i="0">
                <a:solidFill>
                  <a:srgbClr val="5A5A5A"/>
                </a:solidFill>
                <a:latin typeface="Segoe UI"/>
                <a:ea typeface="Segoe UI"/>
                <a:cs typeface="Segoe UI"/>
              </a:rPr>
              <a:t>.</a:t>
            </a:r>
            <a:endParaRPr/>
          </a:p>
        </p:txBody>
      </p:sp>
      <p:sp>
        <p:nvSpPr>
          <p:cNvPr id="1991683753" name="Rounded Rectangle 6"/>
          <p:cNvSpPr/>
          <p:nvPr/>
        </p:nvSpPr>
        <p:spPr bwMode="auto">
          <a:xfrm>
            <a:off x="749808" y="3886200"/>
            <a:ext cx="10698480" cy="1417320"/>
          </a:xfrm>
          <a:prstGeom prst="roundRect">
            <a:avLst>
              <a:gd name="adj" fmla="val 16667"/>
            </a:avLst>
          </a:prstGeom>
          <a:solidFill>
            <a:srgbClr val="F2F6FA"/>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228600" tIns="164592" rIns="128016" bIns="73152" rtlCol="0" anchor="t"/>
          <a:lstStyle/>
          <a:p>
            <a:pPr algn="ctr">
              <a:lnSpc>
                <a:spcPct val="135000"/>
              </a:lnSpc>
              <a:spcBef>
                <a:spcPts val="0"/>
              </a:spcBef>
              <a:spcAft>
                <a:spcPts val="800"/>
              </a:spcAft>
              <a:defRPr/>
            </a:pPr>
            <a:r>
              <a:rPr sz="1600" b="1" i="0">
                <a:solidFill>
                  <a:srgbClr val="1B2F4B"/>
                </a:solidFill>
                <a:latin typeface="Segoe UI"/>
                <a:ea typeface="Segoe UI"/>
                <a:cs typeface="Segoe UI"/>
              </a:rPr>
              <a:t>Complexity split </a:t>
            </a:r>
            <a:r>
              <a:rPr sz="1300" b="0" i="0">
                <a:solidFill>
                  <a:srgbClr val="5A5A5A"/>
                </a:solidFill>
                <a:latin typeface="Segoe UI"/>
                <a:ea typeface="Segoe UI"/>
                <a:cs typeface="Segoe UI"/>
              </a:rPr>
              <a:t>   (M records fit in memory, N total, k runs merged at once)</a:t>
            </a:r>
            <a:endParaRPr/>
          </a:p>
          <a:p>
            <a:pPr>
              <a:lnSpc>
                <a:spcPct val="135000"/>
              </a:lnSpc>
              <a:spcBef>
                <a:spcPts val="0"/>
              </a:spcBef>
              <a:spcAft>
                <a:spcPts val="800"/>
              </a:spcAft>
              <a:defRPr/>
            </a:pPr>
            <a:r>
              <a:rPr sz="1600" b="0" i="0">
                <a:solidFill>
                  <a:srgbClr val="5A5A5A"/>
                </a:solidFill>
                <a:latin typeface="Segoe UI"/>
                <a:ea typeface="Segoe UI"/>
                <a:cs typeface="Segoe UI"/>
              </a:rPr>
              <a:t>Internal sort  </a:t>
            </a:r>
            <a:r>
              <a:rPr sz="1600" b="1" i="0">
                <a:solidFill>
                  <a:srgbClr val="2E6DA4"/>
                </a:solidFill>
                <a:latin typeface="Consolas"/>
                <a:ea typeface="Consolas"/>
                <a:cs typeface="Consolas"/>
              </a:rPr>
              <a:t>O(N/M × M log M)</a:t>
            </a:r>
            <a:r>
              <a:rPr sz="1600" b="0" i="0">
                <a:solidFill>
                  <a:srgbClr val="5A5A5A"/>
                </a:solidFill>
                <a:latin typeface="Segoe UI"/>
                <a:ea typeface="Segoe UI"/>
                <a:cs typeface="Segoe UI"/>
              </a:rPr>
              <a:t>        I/O cost  </a:t>
            </a:r>
            <a:r>
              <a:rPr sz="1600" b="1" i="0">
                <a:solidFill>
                  <a:srgbClr val="E06C2E"/>
                </a:solidFill>
                <a:latin typeface="Consolas"/>
                <a:ea typeface="Consolas"/>
                <a:cs typeface="Consolas"/>
              </a:rPr>
              <a:t>O(N log_k N)</a:t>
            </a:r>
            <a:endParaRPr/>
          </a:p>
          <a:p>
            <a:pPr>
              <a:lnSpc>
                <a:spcPct val="135000"/>
              </a:lnSpc>
              <a:spcBef>
                <a:spcPts val="0"/>
              </a:spcBef>
              <a:spcAft>
                <a:spcPts val="0"/>
              </a:spcAft>
              <a:defRPr/>
            </a:pPr>
            <a:r>
              <a:rPr sz="1400" b="0" i="0">
                <a:solidFill>
                  <a:srgbClr val="5A5A5A"/>
                </a:solidFill>
                <a:latin typeface="Segoe UI"/>
                <a:ea typeface="Segoe UI"/>
                <a:cs typeface="Segoe UI"/>
              </a:rPr>
              <a:t>The base of that logarithm decides everything: the larger k, the fewer times we read and write temp files.</a:t>
            </a:r>
            <a:endParaRPr/>
          </a:p>
        </p:txBody>
      </p:sp>
      <p:sp>
        <p:nvSpPr>
          <p:cNvPr id="90200754" name="TextBox 7"/>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1160849312" name="TextBox 8"/>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2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8500704"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673466989"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Goals and Constraints</a:t>
            </a:r>
            <a:endParaRPr/>
          </a:p>
        </p:txBody>
      </p:sp>
      <p:sp>
        <p:nvSpPr>
          <p:cNvPr id="1923878199"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Five hard constraints drive every design decision</a:t>
            </a:r>
            <a:endParaRPr/>
          </a:p>
        </p:txBody>
      </p:sp>
      <p:sp>
        <p:nvSpPr>
          <p:cNvPr id="1701048056"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519873908" name="TextBox 5"/>
          <p:cNvSpPr txBox="1"/>
          <p:nvPr/>
        </p:nvSpPr>
        <p:spPr bwMode="auto">
          <a:xfrm>
            <a:off x="749808" y="1572768"/>
            <a:ext cx="5669280" cy="365760"/>
          </a:xfrm>
          <a:prstGeom prst="rect">
            <a:avLst/>
          </a:prstGeom>
          <a:noFill/>
        </p:spPr>
        <p:txBody>
          <a:bodyPr wrap="square" lIns="0" tIns="0" rIns="0" bIns="0">
            <a:spAutoFit/>
          </a:bodyPr>
          <a:lstStyle/>
          <a:p>
            <a:pPr>
              <a:lnSpc>
                <a:spcPct val="135000"/>
              </a:lnSpc>
              <a:spcBef>
                <a:spcPts val="0"/>
              </a:spcBef>
              <a:spcAft>
                <a:spcPts val="0"/>
              </a:spcAft>
              <a:defRPr/>
            </a:pPr>
            <a:r>
              <a:rPr sz="1800" b="1" i="0">
                <a:solidFill>
                  <a:srgbClr val="1B2F4B"/>
                </a:solidFill>
                <a:latin typeface="Segoe UI"/>
                <a:ea typeface="Segoe UI"/>
                <a:cs typeface="Segoe UI"/>
              </a:rPr>
              <a:t>Feature: six command-line options</a:t>
            </a:r>
            <a:endParaRPr/>
          </a:p>
        </p:txBody>
      </p:sp>
      <p:graphicFrame>
        <p:nvGraphicFramePr>
          <p:cNvPr id="1557672405" name="Table 6"/>
          <p:cNvGraphicFramePr>
            <a:graphicFrameLocks xmlns:a="http://schemas.openxmlformats.org/drawingml/2006/main" noGrp="1"/>
          </p:cNvGraphicFramePr>
          <p:nvPr/>
        </p:nvGraphicFramePr>
        <p:xfrm rot="0">
          <a:off x="749808" y="2011680"/>
          <a:ext cx="5669279" cy="2176272"/>
        </p:xfrm>
        <a:graphic>
          <a:graphicData uri="http://schemas.openxmlformats.org/drawingml/2006/table">
            <a:tbl>
              <a:tblPr firstRow="1" firstCol="0" lastRow="0" lastCol="0" bandRow="1" bandCol="0">
                <a:tableStyleId>{5C22544A-7EE6-4342-B048-85BDC9FD1C3A}</a:tableStyleId>
              </a:tblPr>
              <a:tblGrid>
                <a:gridCol w="1151572"/>
                <a:gridCol w="1683067"/>
                <a:gridCol w="2834640"/>
              </a:tblGrid>
              <a:tr h="310896">
                <a:tc>
                  <a:txBody>
                    <a:bodyPr/>
                    <a:p>
                      <a:pPr>
                        <a:defRPr/>
                      </a:pPr>
                      <a:r>
                        <a:rPr sz="1300" b="1" i="0">
                          <a:solidFill>
                            <a:srgbClr val="FFFFFF"/>
                          </a:solidFill>
                          <a:latin typeface="Segoe UI"/>
                          <a:ea typeface="Segoe UI"/>
                          <a:cs typeface="Segoe UI"/>
                        </a:rPr>
                        <a:t>Option</a:t>
                      </a:r>
                      <a:endParaRPr/>
                    </a:p>
                  </a:txBody>
                  <a:tcPr marL="91440" marR="54864" marT="18288" marB="18288" anchor="ctr">
                    <a:solidFill>
                      <a:srgbClr val="1B2F4B"/>
                    </a:solidFill>
                  </a:tcPr>
                </a:tc>
                <a:tc>
                  <a:txBody>
                    <a:bodyPr/>
                    <a:p>
                      <a:pPr>
                        <a:defRPr/>
                      </a:pPr>
                      <a:r>
                        <a:rPr sz="1300" b="1" i="0">
                          <a:solidFill>
                            <a:srgbClr val="FFFFFF"/>
                          </a:solidFill>
                          <a:latin typeface="Segoe UI"/>
                          <a:ea typeface="Segoe UI"/>
                          <a:cs typeface="Segoe UI"/>
                        </a:rPr>
                        <a:t>Function</a:t>
                      </a:r>
                      <a:endParaRPr/>
                    </a:p>
                  </a:txBody>
                  <a:tcPr marL="91440" marR="54864" marT="18288" marB="18288" anchor="ctr">
                    <a:solidFill>
                      <a:srgbClr val="1B2F4B"/>
                    </a:solidFill>
                  </a:tcPr>
                </a:tc>
                <a:tc>
                  <a:txBody>
                    <a:bodyPr/>
                    <a:p>
                      <a:pPr>
                        <a:defRPr/>
                      </a:pPr>
                      <a:r>
                        <a:rPr sz="1300" b="1" i="0">
                          <a:solidFill>
                            <a:srgbClr val="FFFFFF"/>
                          </a:solidFill>
                          <a:latin typeface="Segoe UI"/>
                          <a:ea typeface="Segoe UI"/>
                          <a:cs typeface="Segoe UI"/>
                        </a:rPr>
                        <a:t>Purpose</a:t>
                      </a:r>
                      <a:endParaRPr/>
                    </a:p>
                  </a:txBody>
                  <a:tcPr marL="91440" marR="54864" marT="18288" marB="18288" anchor="ctr">
                    <a:solidFill>
                      <a:srgbClr val="1B2F4B"/>
                    </a:solidFill>
                  </a:tcPr>
                </a:tc>
              </a:tr>
              <a:tr h="310896">
                <a:tc>
                  <a:txBody>
                    <a:bodyPr/>
                    <a:p>
                      <a:pPr>
                        <a:defRPr/>
                      </a:pPr>
                      <a:r>
                        <a:rPr sz="1300" b="1" i="0">
                          <a:solidFill>
                            <a:srgbClr val="5A5A5A"/>
                          </a:solidFill>
                          <a:latin typeface="Segoe UI"/>
                          <a:ea typeface="Segoe UI"/>
                          <a:cs typeface="Segoe UI"/>
                        </a:rPr>
                        <a:t>-c</a:t>
                      </a:r>
                      <a:endParaRPr/>
                    </a:p>
                  </a:txBody>
                  <a:tcPr marL="91440" marR="54864" marT="18288" marB="18288" anchor="ctr">
                    <a:solidFill>
                      <a:srgbClr val="FFFFFF"/>
                    </a:solidFill>
                  </a:tcPr>
                </a:tc>
                <a:tc>
                  <a:txBody>
                    <a:bodyPr/>
                    <a:p>
                      <a:pPr>
                        <a:defRPr/>
                      </a:pPr>
                      <a:r>
                        <a:rPr sz="1300" b="0" i="0">
                          <a:solidFill>
                            <a:srgbClr val="5A5A5A"/>
                          </a:solidFill>
                          <a:latin typeface="Segoe UI"/>
                          <a:ea typeface="Segoe UI"/>
                          <a:cs typeface="Segoe UI"/>
                        </a:rPr>
                        <a:t>strcasecmp()</a:t>
                      </a:r>
                      <a:endParaRPr/>
                    </a:p>
                  </a:txBody>
                  <a:tcPr marL="91440" marR="54864" marT="18288" marB="18288" anchor="ctr">
                    <a:solidFill>
                      <a:srgbClr val="FFFFFF"/>
                    </a:solidFill>
                  </a:tcPr>
                </a:tc>
                <a:tc>
                  <a:txBody>
                    <a:bodyPr/>
                    <a:p>
                      <a:pPr>
                        <a:defRPr/>
                      </a:pPr>
                      <a:r>
                        <a:rPr sz="1300" b="0" i="0">
                          <a:solidFill>
                            <a:srgbClr val="5A5A5A"/>
                          </a:solidFill>
                          <a:latin typeface="Segoe UI"/>
                          <a:ea typeface="Segoe UI"/>
                          <a:cs typeface="Segoe UI"/>
                        </a:rPr>
                        <a:t>case-insensitive</a:t>
                      </a:r>
                      <a:endParaRPr/>
                    </a:p>
                  </a:txBody>
                  <a:tcPr marL="91440" marR="54864" marT="18288" marB="18288" anchor="ctr">
                    <a:solidFill>
                      <a:srgbClr val="FFFFFF"/>
                    </a:solidFill>
                  </a:tcPr>
                </a:tc>
              </a:tr>
              <a:tr h="310896">
                <a:tc>
                  <a:txBody>
                    <a:bodyPr/>
                    <a:p>
                      <a:pPr>
                        <a:defRPr/>
                      </a:pPr>
                      <a:r>
                        <a:rPr sz="1300" b="1" i="0">
                          <a:solidFill>
                            <a:srgbClr val="5A5A5A"/>
                          </a:solidFill>
                          <a:latin typeface="Segoe UI"/>
                          <a:ea typeface="Segoe UI"/>
                          <a:cs typeface="Segoe UI"/>
                        </a:rPr>
                        <a:t>-m &lt;size&gt;</a:t>
                      </a:r>
                      <a:endParaRPr/>
                    </a:p>
                  </a:txBody>
                  <a:tcPr marL="91440" marR="54864" marT="18288" marB="18288" anchor="ctr">
                    <a:solidFill>
                      <a:srgbClr val="F2F5F8"/>
                    </a:solidFill>
                  </a:tcPr>
                </a:tc>
                <a:tc>
                  <a:txBody>
                    <a:bodyPr/>
                    <a:p>
                      <a:pPr>
                        <a:defRPr/>
                      </a:pPr>
                      <a:r>
                        <a:rPr sz="1300" b="0" i="0">
                          <a:solidFill>
                            <a:srgbClr val="5A5A5A"/>
                          </a:solidFill>
                          <a:latin typeface="Segoe UI"/>
                          <a:ea typeface="Segoe UI"/>
                          <a:cs typeface="Segoe UI"/>
                        </a:rPr>
                        <a:t>atoi()</a:t>
                      </a:r>
                      <a:endParaRPr/>
                    </a:p>
                  </a:txBody>
                  <a:tcPr marL="91440" marR="54864" marT="18288" marB="18288" anchor="ctr">
                    <a:solidFill>
                      <a:srgbClr val="F2F5F8"/>
                    </a:solidFill>
                  </a:tcPr>
                </a:tc>
                <a:tc>
                  <a:txBody>
                    <a:bodyPr/>
                    <a:p>
                      <a:pPr>
                        <a:defRPr/>
                      </a:pPr>
                      <a:r>
                        <a:rPr sz="1300" b="0" i="0">
                          <a:solidFill>
                            <a:srgbClr val="5A5A5A"/>
                          </a:solidFill>
                          <a:latin typeface="Segoe UI"/>
                          <a:ea typeface="Segoe UI"/>
                          <a:cs typeface="Segoe UI"/>
                        </a:rPr>
                        <a:t>memory ceiling (MB)</a:t>
                      </a:r>
                      <a:endParaRPr/>
                    </a:p>
                  </a:txBody>
                  <a:tcPr marL="91440" marR="54864" marT="18288" marB="18288" anchor="ctr">
                    <a:solidFill>
                      <a:srgbClr val="F2F5F8"/>
                    </a:solidFill>
                  </a:tcPr>
                </a:tc>
              </a:tr>
              <a:tr h="310896">
                <a:tc>
                  <a:txBody>
                    <a:bodyPr/>
                    <a:p>
                      <a:pPr>
                        <a:defRPr/>
                      </a:pPr>
                      <a:r>
                        <a:rPr sz="1300" b="1" i="0">
                          <a:solidFill>
                            <a:srgbClr val="5A5A5A"/>
                          </a:solidFill>
                          <a:latin typeface="Segoe UI"/>
                          <a:ea typeface="Segoe UI"/>
                          <a:cs typeface="Segoe UI"/>
                        </a:rPr>
                        <a:t>-r</a:t>
                      </a:r>
                      <a:endParaRPr/>
                    </a:p>
                  </a:txBody>
                  <a:tcPr marL="91440" marR="54864" marT="18288" marB="18288" anchor="ctr">
                    <a:solidFill>
                      <a:srgbClr val="FFFFFF"/>
                    </a:solidFill>
                  </a:tcPr>
                </a:tc>
                <a:tc>
                  <a:txBody>
                    <a:bodyPr/>
                    <a:p>
                      <a:pPr>
                        <a:defRPr/>
                      </a:pPr>
                      <a:r>
                        <a:rPr sz="1300" b="0" i="0">
                          <a:solidFill>
                            <a:srgbClr val="5A5A5A"/>
                          </a:solidFill>
                          <a:latin typeface="Segoe UI"/>
                          <a:ea typeface="Segoe UI"/>
                          <a:cs typeface="Segoe UI"/>
                        </a:rPr>
                        <a:t>negate result</a:t>
                      </a:r>
                      <a:endParaRPr/>
                    </a:p>
                  </a:txBody>
                  <a:tcPr marL="91440" marR="54864" marT="18288" marB="18288" anchor="ctr">
                    <a:solidFill>
                      <a:srgbClr val="FFFFFF"/>
                    </a:solidFill>
                  </a:tcPr>
                </a:tc>
                <a:tc>
                  <a:txBody>
                    <a:bodyPr/>
                    <a:p>
                      <a:pPr>
                        <a:defRPr/>
                      </a:pPr>
                      <a:r>
                        <a:rPr sz="1300" b="0" i="0">
                          <a:solidFill>
                            <a:srgbClr val="5A5A5A"/>
                          </a:solidFill>
                          <a:latin typeface="Segoe UI"/>
                          <a:ea typeface="Segoe UI"/>
                          <a:cs typeface="Segoe UI"/>
                        </a:rPr>
                        <a:t>reverse order</a:t>
                      </a:r>
                      <a:endParaRPr/>
                    </a:p>
                  </a:txBody>
                  <a:tcPr marL="91440" marR="54864" marT="18288" marB="18288" anchor="ctr">
                    <a:solidFill>
                      <a:srgbClr val="FFFFFF"/>
                    </a:solidFill>
                  </a:tcPr>
                </a:tc>
              </a:tr>
              <a:tr h="310896">
                <a:tc>
                  <a:txBody>
                    <a:bodyPr/>
                    <a:p>
                      <a:pPr>
                        <a:defRPr/>
                      </a:pPr>
                      <a:r>
                        <a:rPr sz="1300" b="1" i="0">
                          <a:solidFill>
                            <a:srgbClr val="5A5A5A"/>
                          </a:solidFill>
                          <a:latin typeface="Segoe UI"/>
                          <a:ea typeface="Segoe UI"/>
                          <a:cs typeface="Segoe UI"/>
                        </a:rPr>
                        <a:t>-n</a:t>
                      </a:r>
                      <a:endParaRPr/>
                    </a:p>
                  </a:txBody>
                  <a:tcPr marL="91440" marR="54864" marT="18288" marB="18288" anchor="ctr">
                    <a:solidFill>
                      <a:srgbClr val="F2F5F8"/>
                    </a:solidFill>
                  </a:tcPr>
                </a:tc>
                <a:tc>
                  <a:txBody>
                    <a:bodyPr/>
                    <a:p>
                      <a:pPr>
                        <a:defRPr/>
                      </a:pPr>
                      <a:r>
                        <a:rPr sz="1300" b="0" i="0">
                          <a:solidFill>
                            <a:srgbClr val="5A5A5A"/>
                          </a:solidFill>
                          <a:latin typeface="Segoe UI"/>
                          <a:ea typeface="Segoe UI"/>
                          <a:cs typeface="Segoe UI"/>
                        </a:rPr>
                        <a:t>atoi()</a:t>
                      </a:r>
                      <a:endParaRPr/>
                    </a:p>
                  </a:txBody>
                  <a:tcPr marL="91440" marR="54864" marT="18288" marB="18288" anchor="ctr">
                    <a:solidFill>
                      <a:srgbClr val="F2F5F8"/>
                    </a:solidFill>
                  </a:tcPr>
                </a:tc>
                <a:tc>
                  <a:txBody>
                    <a:bodyPr/>
                    <a:p>
                      <a:pPr>
                        <a:defRPr/>
                      </a:pPr>
                      <a:r>
                        <a:rPr sz="1300" b="0" i="0">
                          <a:solidFill>
                            <a:srgbClr val="5A5A5A"/>
                          </a:solidFill>
                          <a:latin typeface="Segoe UI"/>
                          <a:ea typeface="Segoe UI"/>
                          <a:cs typeface="Segoe UI"/>
                        </a:rPr>
                        <a:t>numeric sort</a:t>
                      </a:r>
                      <a:endParaRPr/>
                    </a:p>
                  </a:txBody>
                  <a:tcPr marL="91440" marR="54864" marT="18288" marB="18288" anchor="ctr">
                    <a:solidFill>
                      <a:srgbClr val="F2F5F8"/>
                    </a:solidFill>
                  </a:tcPr>
                </a:tc>
              </a:tr>
              <a:tr h="310896">
                <a:tc>
                  <a:txBody>
                    <a:bodyPr/>
                    <a:p>
                      <a:pPr>
                        <a:defRPr/>
                      </a:pPr>
                      <a:r>
                        <a:rPr sz="1300" b="1" i="0">
                          <a:solidFill>
                            <a:srgbClr val="5A5A5A"/>
                          </a:solidFill>
                          <a:latin typeface="Segoe UI"/>
                          <a:ea typeface="Segoe UI"/>
                          <a:cs typeface="Segoe UI"/>
                        </a:rPr>
                        <a:t>-l</a:t>
                      </a:r>
                      <a:endParaRPr/>
                    </a:p>
                  </a:txBody>
                  <a:tcPr marL="91440" marR="54864" marT="18288" marB="18288" anchor="ctr">
                    <a:solidFill>
                      <a:srgbClr val="FFFFFF"/>
                    </a:solidFill>
                  </a:tcPr>
                </a:tc>
                <a:tc>
                  <a:txBody>
                    <a:bodyPr/>
                    <a:p>
                      <a:pPr>
                        <a:defRPr/>
                      </a:pPr>
                      <a:r>
                        <a:rPr sz="1300" b="0" i="0">
                          <a:solidFill>
                            <a:srgbClr val="5A5A5A"/>
                          </a:solidFill>
                          <a:latin typeface="Segoe UI"/>
                          <a:ea typeface="Segoe UI"/>
                          <a:cs typeface="Segoe UI"/>
                        </a:rPr>
                        <a:t>strlen()</a:t>
                      </a:r>
                      <a:endParaRPr/>
                    </a:p>
                  </a:txBody>
                  <a:tcPr marL="91440" marR="54864" marT="18288" marB="18288" anchor="ctr">
                    <a:solidFill>
                      <a:srgbClr val="FFFFFF"/>
                    </a:solidFill>
                  </a:tcPr>
                </a:tc>
                <a:tc>
                  <a:txBody>
                    <a:bodyPr/>
                    <a:p>
                      <a:pPr>
                        <a:defRPr/>
                      </a:pPr>
                      <a:r>
                        <a:rPr sz="1300" b="0" i="0">
                          <a:solidFill>
                            <a:srgbClr val="5A5A5A"/>
                          </a:solidFill>
                          <a:latin typeface="Segoe UI"/>
                          <a:ea typeface="Segoe UI"/>
                          <a:cs typeface="Segoe UI"/>
                        </a:rPr>
                        <a:t>length first</a:t>
                      </a:r>
                      <a:endParaRPr/>
                    </a:p>
                  </a:txBody>
                  <a:tcPr marL="91440" marR="54864" marT="18288" marB="18288" anchor="ctr">
                    <a:solidFill>
                      <a:srgbClr val="FFFFFF"/>
                    </a:solidFill>
                  </a:tcPr>
                </a:tc>
              </a:tr>
              <a:tr h="310896">
                <a:tc>
                  <a:txBody>
                    <a:bodyPr/>
                    <a:p>
                      <a:pPr>
                        <a:defRPr/>
                      </a:pPr>
                      <a:r>
                        <a:rPr sz="1300" b="1" i="0">
                          <a:solidFill>
                            <a:srgbClr val="5A5A5A"/>
                          </a:solidFill>
                          <a:latin typeface="Segoe UI"/>
                          <a:ea typeface="Segoe UI"/>
                          <a:cs typeface="Segoe UI"/>
                        </a:rPr>
                        <a:t>-o &lt;file&gt;</a:t>
                      </a:r>
                      <a:endParaRPr/>
                    </a:p>
                  </a:txBody>
                  <a:tcPr marL="91440" marR="54864" marT="18288" marB="18288" anchor="ctr">
                    <a:solidFill>
                      <a:srgbClr val="F2F5F8"/>
                    </a:solidFill>
                  </a:tcPr>
                </a:tc>
                <a:tc>
                  <a:txBody>
                    <a:bodyPr/>
                    <a:p>
                      <a:pPr>
                        <a:defRPr/>
                      </a:pPr>
                      <a:r>
                        <a:rPr sz="1300" b="0" i="0">
                          <a:solidFill>
                            <a:srgbClr val="5A5A5A"/>
                          </a:solidFill>
                          <a:latin typeface="Segoe UI"/>
                          <a:ea typeface="Segoe UI"/>
                          <a:cs typeface="Segoe UI"/>
                        </a:rPr>
                        <a:t>fopen()</a:t>
                      </a:r>
                      <a:endParaRPr/>
                    </a:p>
                  </a:txBody>
                  <a:tcPr marL="91440" marR="54864" marT="18288" marB="18288" anchor="ctr">
                    <a:solidFill>
                      <a:srgbClr val="F2F5F8"/>
                    </a:solidFill>
                  </a:tcPr>
                </a:tc>
                <a:tc>
                  <a:txBody>
                    <a:bodyPr/>
                    <a:p>
                      <a:pPr>
                        <a:defRPr/>
                      </a:pPr>
                      <a:r>
                        <a:rPr sz="1300" b="0" i="0">
                          <a:solidFill>
                            <a:srgbClr val="5A5A5A"/>
                          </a:solidFill>
                          <a:latin typeface="Segoe UI"/>
                          <a:ea typeface="Segoe UI"/>
                          <a:cs typeface="Segoe UI"/>
                        </a:rPr>
                        <a:t>output (default stdout)</a:t>
                      </a:r>
                      <a:endParaRPr/>
                    </a:p>
                  </a:txBody>
                  <a:tcPr marL="91440" marR="54864" marT="18288" marB="18288" anchor="ctr">
                    <a:solidFill>
                      <a:srgbClr val="F2F5F8"/>
                    </a:solidFill>
                  </a:tcPr>
                </a:tc>
              </a:tr>
            </a:tbl>
          </a:graphicData>
        </a:graphic>
      </p:graphicFrame>
      <p:sp>
        <p:nvSpPr>
          <p:cNvPr id="984304867" name="TextBox 7"/>
          <p:cNvSpPr txBox="1"/>
          <p:nvPr/>
        </p:nvSpPr>
        <p:spPr bwMode="auto">
          <a:xfrm>
            <a:off x="6812280" y="1572768"/>
            <a:ext cx="4754880" cy="365760"/>
          </a:xfrm>
          <a:prstGeom prst="rect">
            <a:avLst/>
          </a:prstGeom>
          <a:noFill/>
        </p:spPr>
        <p:txBody>
          <a:bodyPr wrap="square" lIns="0" tIns="0" rIns="0" bIns="0">
            <a:spAutoFit/>
          </a:bodyPr>
          <a:lstStyle/>
          <a:p>
            <a:pPr>
              <a:lnSpc>
                <a:spcPct val="135000"/>
              </a:lnSpc>
              <a:spcBef>
                <a:spcPts val="0"/>
              </a:spcBef>
              <a:spcAft>
                <a:spcPts val="0"/>
              </a:spcAft>
              <a:defRPr/>
            </a:pPr>
            <a:r>
              <a:rPr sz="1800" b="1" i="0">
                <a:solidFill>
                  <a:srgbClr val="1B2F4B"/>
                </a:solidFill>
                <a:latin typeface="Segoe UI"/>
                <a:ea typeface="Segoe UI"/>
                <a:cs typeface="Segoe UI"/>
              </a:rPr>
              <a:t>Hard constraints</a:t>
            </a:r>
            <a:endParaRPr/>
          </a:p>
        </p:txBody>
      </p:sp>
      <p:sp>
        <p:nvSpPr>
          <p:cNvPr id="2110201605" name="Rounded Rectangle 8"/>
          <p:cNvSpPr/>
          <p:nvPr/>
        </p:nvSpPr>
        <p:spPr bwMode="auto">
          <a:xfrm>
            <a:off x="6812280" y="2029968"/>
            <a:ext cx="310896" cy="310896"/>
          </a:xfrm>
          <a:prstGeom prst="roundRect">
            <a:avLst>
              <a:gd name="adj" fmla="val 16667"/>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400" b="1" i="0">
                <a:solidFill>
                  <a:srgbClr val="FFFFFF"/>
                </a:solidFill>
                <a:latin typeface="Segoe UI"/>
                <a:ea typeface="Segoe UI"/>
                <a:cs typeface="Segoe UI"/>
              </a:rPr>
              <a:t>1</a:t>
            </a:r>
            <a:endParaRPr/>
          </a:p>
        </p:txBody>
      </p:sp>
      <p:sp>
        <p:nvSpPr>
          <p:cNvPr id="1516700818" name="TextBox 9"/>
          <p:cNvSpPr txBox="1"/>
          <p:nvPr/>
        </p:nvSpPr>
        <p:spPr bwMode="auto">
          <a:xfrm>
            <a:off x="7242048" y="2011680"/>
            <a:ext cx="4297680" cy="685800"/>
          </a:xfrm>
          <a:prstGeom prst="rect">
            <a:avLst/>
          </a:prstGeom>
          <a:noFill/>
        </p:spPr>
        <p:txBody>
          <a:bodyPr wrap="square" lIns="0" tIns="0" rIns="0" bIns="0">
            <a:spAutoFit/>
          </a:bodyPr>
          <a:lstStyle/>
          <a:p>
            <a:pPr>
              <a:lnSpc>
                <a:spcPct val="135000"/>
              </a:lnSpc>
              <a:spcBef>
                <a:spcPts val="0"/>
              </a:spcBef>
              <a:spcAft>
                <a:spcPts val="100"/>
              </a:spcAft>
              <a:defRPr/>
            </a:pPr>
            <a:r>
              <a:rPr sz="1500" b="1" i="0">
                <a:solidFill>
                  <a:srgbClr val="5A5A5A"/>
                </a:solidFill>
                <a:latin typeface="Segoe UI"/>
                <a:ea typeface="Segoe UI"/>
                <a:cs typeface="Segoe UI"/>
              </a:rPr>
              <a:t>Memory must never exceed -m</a:t>
            </a:r>
            <a:endParaRPr/>
          </a:p>
          <a:p>
            <a:pPr>
              <a:lnSpc>
                <a:spcPct val="135000"/>
              </a:lnSpc>
              <a:spcBef>
                <a:spcPts val="0"/>
              </a:spcBef>
              <a:spcAft>
                <a:spcPts val="0"/>
              </a:spcAft>
              <a:defRPr/>
            </a:pPr>
            <a:r>
              <a:rPr sz="1200" b="0" i="0">
                <a:solidFill>
                  <a:srgbClr val="939CA6"/>
                </a:solidFill>
                <a:latin typeface="Segoe UI"/>
                <a:ea typeface="Segoe UI"/>
                <a:cs typeface="Segoe UI"/>
              </a:rPr>
              <a:t>strictly, not approximately</a:t>
            </a:r>
            <a:endParaRPr/>
          </a:p>
        </p:txBody>
      </p:sp>
      <p:sp>
        <p:nvSpPr>
          <p:cNvPr id="258608713" name="Rounded Rectangle 10"/>
          <p:cNvSpPr/>
          <p:nvPr/>
        </p:nvSpPr>
        <p:spPr bwMode="auto">
          <a:xfrm>
            <a:off x="6812280" y="2816352"/>
            <a:ext cx="310896" cy="310896"/>
          </a:xfrm>
          <a:prstGeom prst="roundRect">
            <a:avLst>
              <a:gd name="adj" fmla="val 16667"/>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400" b="1" i="0">
                <a:solidFill>
                  <a:srgbClr val="FFFFFF"/>
                </a:solidFill>
                <a:latin typeface="Segoe UI"/>
                <a:ea typeface="Segoe UI"/>
                <a:cs typeface="Segoe UI"/>
              </a:rPr>
              <a:t>2</a:t>
            </a:r>
            <a:endParaRPr/>
          </a:p>
        </p:txBody>
      </p:sp>
      <p:sp>
        <p:nvSpPr>
          <p:cNvPr id="1006968110" name="TextBox 11"/>
          <p:cNvSpPr txBox="1"/>
          <p:nvPr/>
        </p:nvSpPr>
        <p:spPr bwMode="auto">
          <a:xfrm>
            <a:off x="7242048" y="2798064"/>
            <a:ext cx="4297680" cy="685800"/>
          </a:xfrm>
          <a:prstGeom prst="rect">
            <a:avLst/>
          </a:prstGeom>
          <a:noFill/>
        </p:spPr>
        <p:txBody>
          <a:bodyPr wrap="square" lIns="0" tIns="0" rIns="0" bIns="0">
            <a:spAutoFit/>
          </a:bodyPr>
          <a:lstStyle/>
          <a:p>
            <a:pPr>
              <a:lnSpc>
                <a:spcPct val="135000"/>
              </a:lnSpc>
              <a:spcBef>
                <a:spcPts val="0"/>
              </a:spcBef>
              <a:spcAft>
                <a:spcPts val="100"/>
              </a:spcAft>
              <a:defRPr/>
            </a:pPr>
            <a:r>
              <a:rPr sz="1500" b="1" i="0">
                <a:solidFill>
                  <a:srgbClr val="5A5A5A"/>
                </a:solidFill>
                <a:latin typeface="Segoe UI"/>
                <a:ea typeface="Segoe UI"/>
                <a:cs typeface="Segoe UI"/>
              </a:rPr>
              <a:t>Two-phase external sort</a:t>
            </a:r>
            <a:endParaRPr/>
          </a:p>
          <a:p>
            <a:pPr>
              <a:lnSpc>
                <a:spcPct val="135000"/>
              </a:lnSpc>
              <a:spcBef>
                <a:spcPts val="0"/>
              </a:spcBef>
              <a:spcAft>
                <a:spcPts val="0"/>
              </a:spcAft>
              <a:defRPr/>
            </a:pPr>
            <a:r>
              <a:rPr sz="1200" b="0" i="0">
                <a:solidFill>
                  <a:srgbClr val="939CA6"/>
                </a:solidFill>
                <a:latin typeface="Segoe UI"/>
                <a:ea typeface="Segoe UI"/>
                <a:cs typeface="Segoe UI"/>
              </a:rPr>
              <a:t>memory + spill + merge</a:t>
            </a:r>
            <a:endParaRPr/>
          </a:p>
        </p:txBody>
      </p:sp>
      <p:sp>
        <p:nvSpPr>
          <p:cNvPr id="1910572549" name="Rounded Rectangle 12"/>
          <p:cNvSpPr/>
          <p:nvPr/>
        </p:nvSpPr>
        <p:spPr bwMode="auto">
          <a:xfrm>
            <a:off x="6812280" y="3602735"/>
            <a:ext cx="310896" cy="310896"/>
          </a:xfrm>
          <a:prstGeom prst="roundRect">
            <a:avLst>
              <a:gd name="adj" fmla="val 16667"/>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400" b="1" i="0">
                <a:solidFill>
                  <a:srgbClr val="FFFFFF"/>
                </a:solidFill>
                <a:latin typeface="Segoe UI"/>
                <a:ea typeface="Segoe UI"/>
                <a:cs typeface="Segoe UI"/>
              </a:rPr>
              <a:t>3</a:t>
            </a:r>
            <a:endParaRPr/>
          </a:p>
        </p:txBody>
      </p:sp>
      <p:sp>
        <p:nvSpPr>
          <p:cNvPr id="97988423" name="TextBox 13"/>
          <p:cNvSpPr txBox="1"/>
          <p:nvPr/>
        </p:nvSpPr>
        <p:spPr bwMode="auto">
          <a:xfrm>
            <a:off x="7242048" y="3584448"/>
            <a:ext cx="4297680" cy="685800"/>
          </a:xfrm>
          <a:prstGeom prst="rect">
            <a:avLst/>
          </a:prstGeom>
          <a:noFill/>
        </p:spPr>
        <p:txBody>
          <a:bodyPr wrap="square" lIns="0" tIns="0" rIns="0" bIns="0">
            <a:spAutoFit/>
          </a:bodyPr>
          <a:lstStyle/>
          <a:p>
            <a:pPr>
              <a:lnSpc>
                <a:spcPct val="135000"/>
              </a:lnSpc>
              <a:spcBef>
                <a:spcPts val="0"/>
              </a:spcBef>
              <a:spcAft>
                <a:spcPts val="100"/>
              </a:spcAft>
              <a:defRPr/>
            </a:pPr>
            <a:r>
              <a:rPr sz="1500" b="1" i="0">
                <a:solidFill>
                  <a:srgbClr val="5A5A5A"/>
                </a:solidFill>
                <a:latin typeface="Segoe UI"/>
                <a:ea typeface="Segoe UI"/>
                <a:cs typeface="Segoe UI"/>
              </a:rPr>
              <a:t>Runs may exceed the fd limit</a:t>
            </a:r>
            <a:endParaRPr/>
          </a:p>
          <a:p>
            <a:pPr>
              <a:lnSpc>
                <a:spcPct val="135000"/>
              </a:lnSpc>
              <a:spcBef>
                <a:spcPts val="0"/>
              </a:spcBef>
              <a:spcAft>
                <a:spcPts val="0"/>
              </a:spcAft>
              <a:defRPr/>
            </a:pPr>
            <a:r>
              <a:rPr sz="1200" b="0" i="0">
                <a:solidFill>
                  <a:srgbClr val="939CA6"/>
                </a:solidFill>
                <a:latin typeface="Segoe UI"/>
                <a:ea typeface="Segoe UI"/>
                <a:cs typeface="Segoe UI"/>
              </a:rPr>
              <a:t>needs multi-pass merging</a:t>
            </a:r>
            <a:endParaRPr/>
          </a:p>
        </p:txBody>
      </p:sp>
      <p:sp>
        <p:nvSpPr>
          <p:cNvPr id="1600777320" name="Rounded Rectangle 14"/>
          <p:cNvSpPr/>
          <p:nvPr/>
        </p:nvSpPr>
        <p:spPr bwMode="auto">
          <a:xfrm>
            <a:off x="6812280" y="4389120"/>
            <a:ext cx="310896" cy="310896"/>
          </a:xfrm>
          <a:prstGeom prst="roundRect">
            <a:avLst>
              <a:gd name="adj" fmla="val 16667"/>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400" b="1" i="0">
                <a:solidFill>
                  <a:srgbClr val="FFFFFF"/>
                </a:solidFill>
                <a:latin typeface="Segoe UI"/>
                <a:ea typeface="Segoe UI"/>
                <a:cs typeface="Segoe UI"/>
              </a:rPr>
              <a:t>4</a:t>
            </a:r>
            <a:endParaRPr/>
          </a:p>
        </p:txBody>
      </p:sp>
      <p:sp>
        <p:nvSpPr>
          <p:cNvPr id="1094548893" name="TextBox 15"/>
          <p:cNvSpPr txBox="1"/>
          <p:nvPr/>
        </p:nvSpPr>
        <p:spPr bwMode="auto">
          <a:xfrm>
            <a:off x="7242048" y="4370832"/>
            <a:ext cx="4297680" cy="685800"/>
          </a:xfrm>
          <a:prstGeom prst="rect">
            <a:avLst/>
          </a:prstGeom>
          <a:noFill/>
        </p:spPr>
        <p:txBody>
          <a:bodyPr wrap="square" lIns="0" tIns="0" rIns="0" bIns="0">
            <a:spAutoFit/>
          </a:bodyPr>
          <a:lstStyle/>
          <a:p>
            <a:pPr>
              <a:lnSpc>
                <a:spcPct val="135000"/>
              </a:lnSpc>
              <a:spcBef>
                <a:spcPts val="0"/>
              </a:spcBef>
              <a:spcAft>
                <a:spcPts val="100"/>
              </a:spcAft>
              <a:defRPr/>
            </a:pPr>
            <a:r>
              <a:rPr sz="1500" b="1" i="0">
                <a:solidFill>
                  <a:srgbClr val="5A5A5A"/>
                </a:solidFill>
                <a:latin typeface="Segoe UI"/>
                <a:ea typeface="Segoe UI"/>
                <a:cs typeface="Segoe UI"/>
              </a:rPr>
              <a:t>-o must not damage the input</a:t>
            </a:r>
            <a:endParaRPr/>
          </a:p>
          <a:p>
            <a:pPr>
              <a:lnSpc>
                <a:spcPct val="135000"/>
              </a:lnSpc>
              <a:spcBef>
                <a:spcPts val="0"/>
              </a:spcBef>
              <a:spcAft>
                <a:spcPts val="0"/>
              </a:spcAft>
              <a:defRPr/>
            </a:pPr>
            <a:r>
              <a:rPr sz="1200" b="0" i="0">
                <a:solidFill>
                  <a:srgbClr val="939CA6"/>
                </a:solidFill>
                <a:latin typeface="Segoe UI"/>
                <a:ea typeface="Segoe UI"/>
                <a:cs typeface="Segoe UI"/>
              </a:rPr>
              <a:t>it may be the same file</a:t>
            </a:r>
            <a:endParaRPr/>
          </a:p>
        </p:txBody>
      </p:sp>
      <p:sp>
        <p:nvSpPr>
          <p:cNvPr id="1607189720" name="Rounded Rectangle 16"/>
          <p:cNvSpPr/>
          <p:nvPr/>
        </p:nvSpPr>
        <p:spPr bwMode="auto">
          <a:xfrm>
            <a:off x="6812280" y="5175504"/>
            <a:ext cx="310896" cy="310896"/>
          </a:xfrm>
          <a:prstGeom prst="roundRect">
            <a:avLst>
              <a:gd name="adj" fmla="val 16667"/>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400" b="1" i="0">
                <a:solidFill>
                  <a:srgbClr val="FFFFFF"/>
                </a:solidFill>
                <a:latin typeface="Segoe UI"/>
                <a:ea typeface="Segoe UI"/>
                <a:cs typeface="Segoe UI"/>
              </a:rPr>
              <a:t>5</a:t>
            </a:r>
            <a:endParaRPr/>
          </a:p>
        </p:txBody>
      </p:sp>
      <p:sp>
        <p:nvSpPr>
          <p:cNvPr id="2050915889" name="TextBox 17"/>
          <p:cNvSpPr txBox="1"/>
          <p:nvPr/>
        </p:nvSpPr>
        <p:spPr bwMode="auto">
          <a:xfrm>
            <a:off x="7242048" y="5157216"/>
            <a:ext cx="4297680" cy="685800"/>
          </a:xfrm>
          <a:prstGeom prst="rect">
            <a:avLst/>
          </a:prstGeom>
          <a:noFill/>
        </p:spPr>
        <p:txBody>
          <a:bodyPr wrap="square" lIns="0" tIns="0" rIns="0" bIns="0">
            <a:spAutoFit/>
          </a:bodyPr>
          <a:lstStyle/>
          <a:p>
            <a:pPr>
              <a:lnSpc>
                <a:spcPct val="135000"/>
              </a:lnSpc>
              <a:spcBef>
                <a:spcPts val="0"/>
              </a:spcBef>
              <a:spcAft>
                <a:spcPts val="100"/>
              </a:spcAft>
              <a:defRPr/>
            </a:pPr>
            <a:r>
              <a:rPr sz="1500" b="1" i="0">
                <a:solidFill>
                  <a:srgbClr val="5A5A5A"/>
                </a:solidFill>
                <a:latin typeface="Segoe UI"/>
                <a:ea typeface="Segoe UI"/>
                <a:cs typeface="Segoe UI"/>
              </a:rPr>
              <a:t>Release every resource on exit</a:t>
            </a:r>
            <a:endParaRPr/>
          </a:p>
          <a:p>
            <a:pPr>
              <a:lnSpc>
                <a:spcPct val="135000"/>
              </a:lnSpc>
              <a:spcBef>
                <a:spcPts val="0"/>
              </a:spcBef>
              <a:spcAft>
                <a:spcPts val="0"/>
              </a:spcAft>
              <a:defRPr/>
            </a:pPr>
            <a:r>
              <a:rPr sz="1200" b="0" i="0">
                <a:solidFill>
                  <a:srgbClr val="939CA6"/>
                </a:solidFill>
                <a:latin typeface="Segoe UI"/>
                <a:ea typeface="Segoe UI"/>
                <a:cs typeface="Segoe UI"/>
              </a:rPr>
              <a:t>files, memory, temp files</a:t>
            </a:r>
            <a:endParaRPr/>
          </a:p>
        </p:txBody>
      </p:sp>
      <p:sp>
        <p:nvSpPr>
          <p:cNvPr id="2104035358" name="TextBox 18"/>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755455602" name="TextBox 19"/>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3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4737007"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2104277115"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System Architecture: Two-Phase External Merge Sort</a:t>
            </a:r>
            <a:endParaRPr/>
          </a:p>
        </p:txBody>
      </p:sp>
      <p:sp>
        <p:nvSpPr>
          <p:cNvPr id="847876504"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The whole flow on one slide</a:t>
            </a:r>
            <a:endParaRPr/>
          </a:p>
        </p:txBody>
      </p:sp>
      <p:sp>
        <p:nvSpPr>
          <p:cNvPr id="1065847074"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668618443" name="Rounded Rectangle 5"/>
          <p:cNvSpPr/>
          <p:nvPr/>
        </p:nvSpPr>
        <p:spPr bwMode="auto">
          <a:xfrm>
            <a:off x="749808" y="2468880"/>
            <a:ext cx="1417320" cy="777240"/>
          </a:xfrm>
          <a:prstGeom prst="roundRect">
            <a:avLst>
              <a:gd name="adj" fmla="val 16667"/>
            </a:avLst>
          </a:prstGeom>
          <a:solidFill>
            <a:srgbClr val="1B2F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400" b="1" i="0">
                <a:solidFill>
                  <a:srgbClr val="FFFFFF"/>
                </a:solidFill>
                <a:latin typeface="Segoe UI"/>
                <a:ea typeface="Segoe UI"/>
                <a:cs typeface="Segoe UI"/>
              </a:rPr>
              <a:t>Input</a:t>
            </a:r>
            <a:endParaRPr/>
          </a:p>
        </p:txBody>
      </p:sp>
      <p:sp>
        <p:nvSpPr>
          <p:cNvPr id="237869006" name="Rounded Rectangle 6"/>
          <p:cNvSpPr/>
          <p:nvPr/>
        </p:nvSpPr>
        <p:spPr bwMode="auto">
          <a:xfrm>
            <a:off x="2395728" y="1691640"/>
            <a:ext cx="3566160" cy="2286000"/>
          </a:xfrm>
          <a:prstGeom prst="roundRect">
            <a:avLst>
              <a:gd name="adj" fmla="val 16667"/>
            </a:avLst>
          </a:prstGeom>
          <a:solidFill>
            <a:srgbClr val="FFFFFF"/>
          </a:solidFill>
          <a:ln w="15875">
            <a:solidFill>
              <a:srgbClr val="2E6DA4"/>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192582579" name="Rectangle 7"/>
          <p:cNvSpPr/>
          <p:nvPr/>
        </p:nvSpPr>
        <p:spPr bwMode="auto">
          <a:xfrm>
            <a:off x="2395728" y="1691640"/>
            <a:ext cx="3566160" cy="384048"/>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058915981" name="TextBox 8"/>
          <p:cNvSpPr txBox="1"/>
          <p:nvPr/>
        </p:nvSpPr>
        <p:spPr bwMode="auto">
          <a:xfrm>
            <a:off x="2532888" y="1755648"/>
            <a:ext cx="3291840" cy="274320"/>
          </a:xfrm>
          <a:prstGeom prst="rect">
            <a:avLst/>
          </a:prstGeom>
          <a:noFill/>
        </p:spPr>
        <p:txBody>
          <a:bodyPr wrap="square" lIns="0" tIns="0" rIns="0" bIns="0">
            <a:spAutoFit/>
          </a:bodyPr>
          <a:lstStyle/>
          <a:p>
            <a:pPr>
              <a:lnSpc>
                <a:spcPct val="135000"/>
              </a:lnSpc>
              <a:spcBef>
                <a:spcPts val="0"/>
              </a:spcBef>
              <a:spcAft>
                <a:spcPts val="0"/>
              </a:spcAft>
              <a:defRPr/>
            </a:pPr>
            <a:r>
              <a:rPr sz="1500" b="1" i="0">
                <a:solidFill>
                  <a:srgbClr val="FFFFFF"/>
                </a:solidFill>
                <a:latin typeface="Segoe UI"/>
                <a:ea typeface="Segoe UI"/>
                <a:cs typeface="Segoe UI"/>
              </a:rPr>
              <a:t>Phase 1   Run Generation</a:t>
            </a:r>
            <a:endParaRPr/>
          </a:p>
        </p:txBody>
      </p:sp>
      <p:sp>
        <p:nvSpPr>
          <p:cNvPr id="1984157848" name="TextBox 9"/>
          <p:cNvSpPr txBox="1"/>
          <p:nvPr/>
        </p:nvSpPr>
        <p:spPr bwMode="auto">
          <a:xfrm>
            <a:off x="2606040" y="2240280"/>
            <a:ext cx="3200400" cy="1645920"/>
          </a:xfrm>
          <a:prstGeom prst="rect">
            <a:avLst/>
          </a:prstGeom>
          <a:noFill/>
        </p:spPr>
        <p:txBody>
          <a:bodyPr wrap="square" lIns="0" tIns="0" rIns="0" bIns="0">
            <a:spAutoFit/>
          </a:bodyPr>
          <a:lstStyle/>
          <a:p>
            <a:pPr>
              <a:lnSpc>
                <a:spcPct val="135000"/>
              </a:lnSpc>
              <a:spcBef>
                <a:spcPts val="0"/>
              </a:spcBef>
              <a:spcAft>
                <a:spcPts val="800"/>
              </a:spcAft>
              <a:defRPr/>
            </a:pPr>
            <a:r>
              <a:rPr sz="1350" b="1" i="0">
                <a:solidFill>
                  <a:srgbClr val="5A5A5A"/>
                </a:solidFill>
                <a:latin typeface="Segoe UI"/>
                <a:ea typeface="Segoe UI"/>
                <a:cs typeface="Segoe UI"/>
              </a:rPr>
              <a:t>▪  1. Read into memory pool (budget-checked)</a:t>
            </a:r>
            <a:endParaRPr/>
          </a:p>
          <a:p>
            <a:pPr>
              <a:lnSpc>
                <a:spcPct val="135000"/>
              </a:lnSpc>
              <a:spcBef>
                <a:spcPts val="0"/>
              </a:spcBef>
              <a:spcAft>
                <a:spcPts val="800"/>
              </a:spcAft>
              <a:defRPr/>
            </a:pPr>
            <a:r>
              <a:rPr sz="1350" b="1" i="0">
                <a:solidFill>
                  <a:srgbClr val="5A5A5A"/>
                </a:solidFill>
                <a:latin typeface="Segoe UI"/>
                <a:ea typeface="Segoe UI"/>
                <a:cs typeface="Segoe UI"/>
              </a:rPr>
              <a:t>▪  2. qsort() the batch</a:t>
            </a:r>
            <a:endParaRPr/>
          </a:p>
          <a:p>
            <a:pPr>
              <a:lnSpc>
                <a:spcPct val="135000"/>
              </a:lnSpc>
              <a:spcBef>
                <a:spcPts val="0"/>
              </a:spcBef>
              <a:spcAft>
                <a:spcPts val="800"/>
              </a:spcAft>
              <a:defRPr/>
            </a:pPr>
            <a:r>
              <a:rPr sz="1350" b="1" i="0">
                <a:solidFill>
                  <a:srgbClr val="5A5A5A"/>
                </a:solidFill>
                <a:latin typeface="Segoe UI"/>
                <a:ea typeface="Segoe UI"/>
                <a:cs typeface="Segoe UI"/>
              </a:rPr>
              <a:t>▪  3. Write one run file</a:t>
            </a:r>
            <a:endParaRPr/>
          </a:p>
          <a:p>
            <a:pPr>
              <a:lnSpc>
                <a:spcPct val="135000"/>
              </a:lnSpc>
              <a:spcBef>
                <a:spcPts val="0"/>
              </a:spcBef>
              <a:spcAft>
                <a:spcPts val="0"/>
              </a:spcAft>
              <a:defRPr/>
            </a:pPr>
            <a:r>
              <a:rPr sz="1350" b="1" i="0">
                <a:solidFill>
                  <a:srgbClr val="5A5A5A"/>
                </a:solidFill>
                <a:latin typeface="Segoe UI"/>
                <a:ea typeface="Segoe UI"/>
                <a:cs typeface="Segoe UI"/>
              </a:rPr>
              <a:t>▪  4. Repeat until EOF (K runs)</a:t>
            </a:r>
            <a:endParaRPr/>
          </a:p>
        </p:txBody>
      </p:sp>
      <p:sp>
        <p:nvSpPr>
          <p:cNvPr id="865874656" name="Rounded Rectangle 10"/>
          <p:cNvSpPr/>
          <p:nvPr/>
        </p:nvSpPr>
        <p:spPr bwMode="auto">
          <a:xfrm>
            <a:off x="6236208" y="1691640"/>
            <a:ext cx="3566160" cy="2286000"/>
          </a:xfrm>
          <a:prstGeom prst="roundRect">
            <a:avLst>
              <a:gd name="adj" fmla="val 16667"/>
            </a:avLst>
          </a:prstGeom>
          <a:solidFill>
            <a:srgbClr val="FFFFFF"/>
          </a:solidFill>
          <a:ln w="15875">
            <a:solidFill>
              <a:srgbClr val="E06C2E"/>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423690356" name="Rectangle 11"/>
          <p:cNvSpPr/>
          <p:nvPr/>
        </p:nvSpPr>
        <p:spPr bwMode="auto">
          <a:xfrm>
            <a:off x="6236208" y="1691640"/>
            <a:ext cx="3566160" cy="38404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455090891" name="TextBox 12"/>
          <p:cNvSpPr txBox="1"/>
          <p:nvPr/>
        </p:nvSpPr>
        <p:spPr bwMode="auto">
          <a:xfrm>
            <a:off x="6373368" y="1755648"/>
            <a:ext cx="3291840" cy="274320"/>
          </a:xfrm>
          <a:prstGeom prst="rect">
            <a:avLst/>
          </a:prstGeom>
          <a:noFill/>
        </p:spPr>
        <p:txBody>
          <a:bodyPr wrap="square" lIns="0" tIns="0" rIns="0" bIns="0">
            <a:spAutoFit/>
          </a:bodyPr>
          <a:lstStyle/>
          <a:p>
            <a:pPr>
              <a:lnSpc>
                <a:spcPct val="135000"/>
              </a:lnSpc>
              <a:spcBef>
                <a:spcPts val="0"/>
              </a:spcBef>
              <a:spcAft>
                <a:spcPts val="0"/>
              </a:spcAft>
              <a:defRPr/>
            </a:pPr>
            <a:r>
              <a:rPr sz="1500" b="1" i="0">
                <a:solidFill>
                  <a:srgbClr val="FFFFFF"/>
                </a:solidFill>
                <a:latin typeface="Segoe UI"/>
                <a:ea typeface="Segoe UI"/>
                <a:cs typeface="Segoe UI"/>
              </a:rPr>
              <a:t>Phase 2   K-way Merge</a:t>
            </a:r>
            <a:endParaRPr/>
          </a:p>
        </p:txBody>
      </p:sp>
      <p:sp>
        <p:nvSpPr>
          <p:cNvPr id="871232357" name="TextBox 13"/>
          <p:cNvSpPr txBox="1"/>
          <p:nvPr/>
        </p:nvSpPr>
        <p:spPr bwMode="auto">
          <a:xfrm>
            <a:off x="6446520" y="2240280"/>
            <a:ext cx="3291840" cy="1645920"/>
          </a:xfrm>
          <a:prstGeom prst="rect">
            <a:avLst/>
          </a:prstGeom>
          <a:noFill/>
        </p:spPr>
        <p:txBody>
          <a:bodyPr wrap="square" lIns="0" tIns="0" rIns="0" bIns="0">
            <a:spAutoFit/>
          </a:bodyPr>
          <a:lstStyle/>
          <a:p>
            <a:pPr>
              <a:lnSpc>
                <a:spcPct val="135000"/>
              </a:lnSpc>
              <a:spcBef>
                <a:spcPts val="0"/>
              </a:spcBef>
              <a:spcAft>
                <a:spcPts val="800"/>
              </a:spcAft>
              <a:defRPr/>
            </a:pPr>
            <a:r>
              <a:rPr sz="1350" b="1" i="0">
                <a:solidFill>
                  <a:srgbClr val="5A5A5A"/>
                </a:solidFill>
                <a:latin typeface="Segoe UI"/>
                <a:ea typeface="Segoe UI"/>
                <a:cs typeface="Segoe UI"/>
              </a:rPr>
              <a:t>▪  1. Open all runs, read first line each</a:t>
            </a:r>
            <a:endParaRPr/>
          </a:p>
          <a:p>
            <a:pPr>
              <a:lnSpc>
                <a:spcPct val="135000"/>
              </a:lnSpc>
              <a:spcBef>
                <a:spcPts val="0"/>
              </a:spcBef>
              <a:spcAft>
                <a:spcPts val="800"/>
              </a:spcAft>
              <a:defRPr/>
            </a:pPr>
            <a:r>
              <a:rPr sz="1350" b="1" i="0">
                <a:solidFill>
                  <a:srgbClr val="5A5A5A"/>
                </a:solidFill>
                <a:latin typeface="Segoe UI"/>
                <a:ea typeface="Segoe UI"/>
                <a:cs typeface="Segoe UI"/>
              </a:rPr>
              <a:t>▪  2. Push onto the Min-Heap</a:t>
            </a:r>
            <a:endParaRPr/>
          </a:p>
          <a:p>
            <a:pPr>
              <a:lnSpc>
                <a:spcPct val="135000"/>
              </a:lnSpc>
              <a:spcBef>
                <a:spcPts val="0"/>
              </a:spcBef>
              <a:spcAft>
                <a:spcPts val="800"/>
              </a:spcAft>
              <a:defRPr/>
            </a:pPr>
            <a:r>
              <a:rPr sz="1350" b="1" i="0">
                <a:solidFill>
                  <a:srgbClr val="5A5A5A"/>
                </a:solidFill>
                <a:latin typeface="Segoe UI"/>
                <a:ea typeface="Segoe UI"/>
                <a:cs typeface="Segoe UI"/>
              </a:rPr>
              <a:t>▪  3. Pop root, refill from same run</a:t>
            </a:r>
            <a:endParaRPr/>
          </a:p>
          <a:p>
            <a:pPr>
              <a:lnSpc>
                <a:spcPct val="135000"/>
              </a:lnSpc>
              <a:spcBef>
                <a:spcPts val="0"/>
              </a:spcBef>
              <a:spcAft>
                <a:spcPts val="0"/>
              </a:spcAft>
              <a:defRPr/>
            </a:pPr>
            <a:r>
              <a:rPr sz="1350" b="1" i="0">
                <a:solidFill>
                  <a:srgbClr val="5A5A5A"/>
                </a:solidFill>
                <a:latin typeface="Segoe UI"/>
                <a:ea typeface="Segoe UI"/>
                <a:cs typeface="Segoe UI"/>
              </a:rPr>
              <a:t>▪  4. If runs &gt; k, merge in passes</a:t>
            </a:r>
            <a:endParaRPr/>
          </a:p>
        </p:txBody>
      </p:sp>
      <p:sp>
        <p:nvSpPr>
          <p:cNvPr id="126771551" name="Rounded Rectangle 14"/>
          <p:cNvSpPr/>
          <p:nvPr/>
        </p:nvSpPr>
        <p:spPr bwMode="auto">
          <a:xfrm>
            <a:off x="10058400" y="2468880"/>
            <a:ext cx="1417320" cy="777240"/>
          </a:xfrm>
          <a:prstGeom prst="roundRect">
            <a:avLst>
              <a:gd name="adj" fmla="val 16667"/>
            </a:avLst>
          </a:prstGeom>
          <a:solidFill>
            <a:srgbClr val="1B2F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400" b="1" i="0">
                <a:solidFill>
                  <a:srgbClr val="FFFFFF"/>
                </a:solidFill>
                <a:latin typeface="Segoe UI"/>
                <a:ea typeface="Segoe UI"/>
                <a:cs typeface="Segoe UI"/>
              </a:rPr>
              <a:t>Output</a:t>
            </a:r>
            <a:endParaRPr/>
          </a:p>
        </p:txBody>
      </p:sp>
      <p:sp>
        <p:nvSpPr>
          <p:cNvPr id="1587422500" name="Right Arrow 15"/>
          <p:cNvSpPr/>
          <p:nvPr/>
        </p:nvSpPr>
        <p:spPr bwMode="auto">
          <a:xfrm>
            <a:off x="2167128" y="2697480"/>
            <a:ext cx="228600" cy="310896"/>
          </a:xfrm>
          <a:prstGeom prst="rightArrow">
            <a:avLst>
              <a:gd name="adj1" fmla="val 50000"/>
              <a:gd name="adj2" fmla="val 50000"/>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05336349" name="Right Arrow 16"/>
          <p:cNvSpPr/>
          <p:nvPr/>
        </p:nvSpPr>
        <p:spPr bwMode="auto">
          <a:xfrm>
            <a:off x="5961888" y="2697480"/>
            <a:ext cx="228600" cy="310896"/>
          </a:xfrm>
          <a:prstGeom prst="rightArrow">
            <a:avLst>
              <a:gd name="adj1" fmla="val 50000"/>
              <a:gd name="adj2" fmla="val 50000"/>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68580705" name="Right Arrow 17"/>
          <p:cNvSpPr/>
          <p:nvPr/>
        </p:nvSpPr>
        <p:spPr bwMode="auto">
          <a:xfrm>
            <a:off x="9802368" y="2697480"/>
            <a:ext cx="228600" cy="310896"/>
          </a:xfrm>
          <a:prstGeom prst="rightArrow">
            <a:avLst>
              <a:gd name="adj1" fmla="val 50000"/>
              <a:gd name="adj2" fmla="val 50000"/>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12580920" name="Rounded Rectangle 18"/>
          <p:cNvSpPr/>
          <p:nvPr/>
        </p:nvSpPr>
        <p:spPr bwMode="auto">
          <a:xfrm>
            <a:off x="749808" y="4279392"/>
            <a:ext cx="10725912" cy="1572768"/>
          </a:xfrm>
          <a:prstGeom prst="roundRect">
            <a:avLst>
              <a:gd name="adj" fmla="val 16667"/>
            </a:avLst>
          </a:prstGeom>
          <a:solidFill>
            <a:srgbClr val="F7F9FB"/>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201168" tIns="128016" rIns="128016" bIns="73152" rtlCol="0" anchor="t"/>
          <a:lstStyle/>
          <a:p>
            <a:pPr algn="ctr">
              <a:lnSpc>
                <a:spcPct val="135000"/>
              </a:lnSpc>
              <a:spcBef>
                <a:spcPts val="0"/>
              </a:spcBef>
              <a:spcAft>
                <a:spcPts val="1000"/>
              </a:spcAft>
              <a:defRPr/>
            </a:pPr>
            <a:r>
              <a:rPr sz="1500" b="1" i="0">
                <a:solidFill>
                  <a:srgbClr val="1B2F4B"/>
                </a:solidFill>
                <a:latin typeface="Segoe UI"/>
                <a:ea typeface="Segoe UI"/>
                <a:cs typeface="Segoe UI"/>
              </a:rPr>
              <a:t>Memory budget split </a:t>
            </a:r>
            <a:r>
              <a:rPr sz="1300" b="0" i="0">
                <a:solidFill>
                  <a:srgbClr val="5A5A5A"/>
                </a:solidFill>
                <a:latin typeface="Segoe UI"/>
                <a:ea typeface="Segoe UI"/>
                <a:cs typeface="Segoe UI"/>
              </a:rPr>
              <a:t>total = -m MB; subtract what phase 2 is guaranteed to need, the rest goes to phase 1</a:t>
            </a:r>
            <a:endParaRPr/>
          </a:p>
        </p:txBody>
      </p:sp>
      <p:sp>
        <p:nvSpPr>
          <p:cNvPr id="301136362" name="Rectangle 19"/>
          <p:cNvSpPr/>
          <p:nvPr/>
        </p:nvSpPr>
        <p:spPr bwMode="auto">
          <a:xfrm>
            <a:off x="960120" y="4956048"/>
            <a:ext cx="6309360" cy="457200"/>
          </a:xfrm>
          <a:prstGeom prst="rect">
            <a:avLst/>
          </a:prstGeom>
          <a:solidFill>
            <a:srgbClr val="FFFFFF"/>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213877686" name="Rectangle 20"/>
          <p:cNvSpPr/>
          <p:nvPr/>
        </p:nvSpPr>
        <p:spPr bwMode="auto">
          <a:xfrm>
            <a:off x="960120" y="4956048"/>
            <a:ext cx="378561" cy="457200"/>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631312928" name="TextBox 21"/>
          <p:cNvSpPr txBox="1"/>
          <p:nvPr/>
        </p:nvSpPr>
        <p:spPr bwMode="auto">
          <a:xfrm>
            <a:off x="960120" y="5468112"/>
            <a:ext cx="3108960" cy="320040"/>
          </a:xfrm>
          <a:prstGeom prst="rect">
            <a:avLst/>
          </a:prstGeom>
          <a:noFill/>
        </p:spPr>
        <p:txBody>
          <a:bodyPr wrap="square" lIns="0" tIns="0" rIns="0" bIns="0">
            <a:spAutoFit/>
          </a:bodyPr>
          <a:lstStyle/>
          <a:p>
            <a:pPr>
              <a:lnSpc>
                <a:spcPct val="135000"/>
              </a:lnSpc>
              <a:spcBef>
                <a:spcPts val="0"/>
              </a:spcBef>
              <a:spcAft>
                <a:spcPts val="0"/>
              </a:spcAft>
              <a:defRPr/>
            </a:pPr>
            <a:r>
              <a:rPr sz="1200" b="1" i="0">
                <a:solidFill>
                  <a:srgbClr val="E06C2E"/>
                </a:solidFill>
                <a:latin typeface="Segoe UI"/>
                <a:ea typeface="Segoe UI"/>
                <a:cs typeface="Segoe UI"/>
              </a:rPr>
              <a:t>merge reserve (k × per-run buffers)</a:t>
            </a:r>
            <a:endParaRPr/>
          </a:p>
        </p:txBody>
      </p:sp>
      <p:sp>
        <p:nvSpPr>
          <p:cNvPr id="1500919700" name="TextBox 22"/>
          <p:cNvSpPr txBox="1"/>
          <p:nvPr/>
        </p:nvSpPr>
        <p:spPr bwMode="auto">
          <a:xfrm>
            <a:off x="3977639" y="5468112"/>
            <a:ext cx="3291840" cy="320040"/>
          </a:xfrm>
          <a:prstGeom prst="rect">
            <a:avLst/>
          </a:prstGeom>
          <a:noFill/>
        </p:spPr>
        <p:txBody>
          <a:bodyPr wrap="square" lIns="0" tIns="0" rIns="0" bIns="0">
            <a:spAutoFit/>
          </a:bodyPr>
          <a:lstStyle/>
          <a:p>
            <a:pPr>
              <a:lnSpc>
                <a:spcPct val="135000"/>
              </a:lnSpc>
              <a:spcBef>
                <a:spcPts val="0"/>
              </a:spcBef>
              <a:spcAft>
                <a:spcPts val="0"/>
              </a:spcAft>
              <a:defRPr/>
            </a:pPr>
            <a:r>
              <a:rPr sz="1200" b="1" i="0">
                <a:solidFill>
                  <a:srgbClr val="2E6DA4"/>
                </a:solidFill>
                <a:latin typeface="Segoe UI"/>
                <a:ea typeface="Segoe UI"/>
                <a:cs typeface="Segoe UI"/>
              </a:rPr>
              <a:t>phase 1 pool (chunk_budget)</a:t>
            </a:r>
            <a:endParaRPr/>
          </a:p>
        </p:txBody>
      </p:sp>
      <p:sp>
        <p:nvSpPr>
          <p:cNvPr id="994750841" name="TextBox 23"/>
          <p:cNvSpPr txBox="1"/>
          <p:nvPr/>
        </p:nvSpPr>
        <p:spPr bwMode="auto">
          <a:xfrm>
            <a:off x="7452360" y="4937760"/>
            <a:ext cx="3840480" cy="502920"/>
          </a:xfrm>
          <a:prstGeom prst="rect">
            <a:avLst/>
          </a:prstGeom>
          <a:noFill/>
        </p:spPr>
        <p:txBody>
          <a:bodyPr wrap="square" lIns="0" tIns="0" rIns="0" bIns="0">
            <a:spAutoFit/>
          </a:bodyPr>
          <a:lstStyle/>
          <a:p>
            <a:pPr>
              <a:lnSpc>
                <a:spcPct val="135000"/>
              </a:lnSpc>
              <a:spcBef>
                <a:spcPts val="0"/>
              </a:spcBef>
              <a:spcAft>
                <a:spcPts val="200"/>
              </a:spcAft>
              <a:defRPr/>
            </a:pPr>
            <a:r>
              <a:rPr sz="1400" b="1" i="0">
                <a:solidFill>
                  <a:srgbClr val="1B2F4B"/>
                </a:solidFill>
                <a:latin typeface="Segoe UI"/>
                <a:ea typeface="Segoe UI"/>
                <a:cs typeface="Segoe UI"/>
              </a:rPr>
              <a:t>Why reserve first?</a:t>
            </a:r>
            <a:endParaRPr/>
          </a:p>
          <a:p>
            <a:pPr>
              <a:lnSpc>
                <a:spcPct val="135000"/>
              </a:lnSpc>
              <a:spcBef>
                <a:spcPts val="0"/>
              </a:spcBef>
              <a:spcAft>
                <a:spcPts val="0"/>
              </a:spcAft>
              <a:defRPr/>
            </a:pPr>
            <a:r>
              <a:rPr sz="1200" b="0" i="0">
                <a:solidFill>
                  <a:srgbClr val="C0392B"/>
                </a:solidFill>
                <a:latin typeface="Segoe UI"/>
                <a:ea typeface="Segoe UI"/>
                <a:cs typeface="Segoe UI"/>
              </a:rPr>
              <a:t>otherwise we discover too late that memory ran out</a:t>
            </a:r>
            <a:endParaRPr/>
          </a:p>
        </p:txBody>
      </p:sp>
      <p:sp>
        <p:nvSpPr>
          <p:cNvPr id="835871852" name="TextBox 24"/>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785110527" name="TextBox 25"/>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4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7158594"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772273310"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Five Design Ideas at a Glance</a:t>
            </a:r>
            <a:endParaRPr/>
          </a:p>
        </p:txBody>
      </p:sp>
      <p:sp>
        <p:nvSpPr>
          <p:cNvPr id="414897014"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Each idea answers exactly one of the five constraints</a:t>
            </a:r>
            <a:endParaRPr/>
          </a:p>
        </p:txBody>
      </p:sp>
      <p:sp>
        <p:nvSpPr>
          <p:cNvPr id="218811980"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977875291" name="Rounded Rectangle 5"/>
          <p:cNvSpPr/>
          <p:nvPr/>
        </p:nvSpPr>
        <p:spPr bwMode="auto">
          <a:xfrm>
            <a:off x="749808" y="1965960"/>
            <a:ext cx="2029968" cy="3017519"/>
          </a:xfrm>
          <a:prstGeom prst="roundRect">
            <a:avLst>
              <a:gd name="adj" fmla="val 16667"/>
            </a:avLst>
          </a:prstGeom>
          <a:solidFill>
            <a:srgbClr val="FFFFFF"/>
          </a:solidFill>
          <a:ln w="15875">
            <a:solidFill>
              <a:srgbClr val="2E6DA4"/>
            </a:solidFill>
          </a:ln>
          <a:effectLst/>
        </p:spPr>
        <p:style>
          <a:lnRef idx="1">
            <a:schemeClr val="accent1"/>
          </a:lnRef>
          <a:fillRef idx="3">
            <a:schemeClr val="accent1"/>
          </a:fillRef>
          <a:effectRef idx="2">
            <a:schemeClr val="accent1"/>
          </a:effectRef>
          <a:fontRef idx="minor">
            <a:schemeClr val="lt1"/>
          </a:fontRef>
        </p:style>
        <p:txBody>
          <a:bodyPr wrap="square" lIns="128016" tIns="164592" rIns="128016" bIns="73152" rtlCol="0" anchor="t"/>
          <a:lstStyle/>
          <a:p>
            <a:pPr algn="ctr">
              <a:defRPr/>
            </a:pPr>
            <a:r>
              <a:rPr sz="3400" b="1" i="0">
                <a:solidFill>
                  <a:srgbClr val="2E6DA4"/>
                </a:solidFill>
                <a:latin typeface="Segoe UI"/>
                <a:ea typeface="Segoe UI"/>
                <a:cs typeface="Segoe UI"/>
              </a:rPr>
              <a:t>1</a:t>
            </a:r>
            <a:endParaRPr/>
          </a:p>
        </p:txBody>
      </p:sp>
      <p:sp>
        <p:nvSpPr>
          <p:cNvPr id="1086625853" name="TextBox 6"/>
          <p:cNvSpPr txBox="1"/>
          <p:nvPr/>
        </p:nvSpPr>
        <p:spPr bwMode="auto">
          <a:xfrm>
            <a:off x="877824" y="2788920"/>
            <a:ext cx="1773936" cy="1463040"/>
          </a:xfrm>
          <a:prstGeom prst="rect">
            <a:avLst/>
          </a:prstGeom>
          <a:noFill/>
        </p:spPr>
        <p:txBody>
          <a:bodyPr wrap="square" lIns="0" tIns="0" rIns="0" bIns="0">
            <a:spAutoFit/>
          </a:bodyPr>
          <a:lstStyle/>
          <a:p>
            <a:pPr>
              <a:lnSpc>
                <a:spcPct val="120000"/>
              </a:lnSpc>
              <a:spcBef>
                <a:spcPts val="0"/>
              </a:spcBef>
              <a:spcAft>
                <a:spcPts val="600"/>
              </a:spcAft>
              <a:defRPr/>
            </a:pPr>
            <a:r>
              <a:rPr sz="1400" b="1" i="0">
                <a:solidFill>
                  <a:srgbClr val="1B2F4B"/>
                </a:solidFill>
                <a:latin typeface="Segoe UI"/>
                <a:ea typeface="Segoe UI"/>
                <a:cs typeface="Segoe UI"/>
              </a:rPr>
              <a:t>One shared comparator</a:t>
            </a:r>
            <a:endParaRPr/>
          </a:p>
          <a:p>
            <a:pPr>
              <a:lnSpc>
                <a:spcPct val="130000"/>
              </a:lnSpc>
              <a:spcBef>
                <a:spcPts val="0"/>
              </a:spcBef>
              <a:spcAft>
                <a:spcPts val="0"/>
              </a:spcAft>
              <a:defRPr/>
            </a:pPr>
            <a:r>
              <a:rPr sz="1150" b="0" i="0">
                <a:solidFill>
                  <a:srgbClr val="5A5A5A"/>
                </a:solidFill>
                <a:latin typeface="Segoe UI"/>
                <a:ea typeface="Segoe UI"/>
                <a:cs typeface="Segoe UI"/>
              </a:rPr>
              <a:t>internal sort and external merge</a:t>
            </a:r>
            <a:br>
              <a:rPr sz="1150" b="0" i="0">
                <a:solidFill>
                  <a:srgbClr val="5A5A5A"/>
                </a:solidFill>
                <a:latin typeface="Segoe UI"/>
                <a:ea typeface="Segoe UI"/>
                <a:cs typeface="Segoe UI"/>
              </a:rPr>
            </a:br>
            <a:r>
              <a:rPr sz="1150" b="0" i="0">
                <a:solidFill>
                  <a:srgbClr val="5A5A5A"/>
                </a:solidFill>
                <a:latin typeface="Segoe UI"/>
                <a:ea typeface="Segoe UI"/>
                <a:cs typeface="Segoe UI"/>
              </a:rPr>
              <a:t>call cmp_strings()</a:t>
            </a:r>
            <a:endParaRPr/>
          </a:p>
        </p:txBody>
      </p:sp>
      <p:sp>
        <p:nvSpPr>
          <p:cNvPr id="603596393" name="TextBox 7"/>
          <p:cNvSpPr txBox="1"/>
          <p:nvPr/>
        </p:nvSpPr>
        <p:spPr bwMode="auto">
          <a:xfrm>
            <a:off x="877824" y="4370832"/>
            <a:ext cx="1773936" cy="548640"/>
          </a:xfrm>
          <a:prstGeom prst="rect">
            <a:avLst/>
          </a:prstGeom>
          <a:noFill/>
        </p:spPr>
        <p:txBody>
          <a:bodyPr wrap="square" lIns="0" tIns="0" rIns="0" bIns="0">
            <a:spAutoFit/>
          </a:bodyPr>
          <a:lstStyle/>
          <a:p>
            <a:pPr>
              <a:lnSpc>
                <a:spcPct val="120000"/>
              </a:lnSpc>
              <a:spcBef>
                <a:spcPts val="0"/>
              </a:spcBef>
              <a:spcAft>
                <a:spcPts val="0"/>
              </a:spcAft>
              <a:defRPr/>
            </a:pPr>
            <a:r>
              <a:rPr sz="1050" b="1" i="0">
                <a:solidFill>
                  <a:srgbClr val="2E6DA4"/>
                </a:solidFill>
                <a:latin typeface="Segoe UI"/>
                <a:ea typeface="Segoe UI"/>
                <a:cs typeface="Segoe UI"/>
              </a:rPr>
              <a:t>constraint: correctness</a:t>
            </a:r>
            <a:endParaRPr/>
          </a:p>
        </p:txBody>
      </p:sp>
      <p:sp>
        <p:nvSpPr>
          <p:cNvPr id="852118346" name="Rounded Rectangle 8"/>
          <p:cNvSpPr/>
          <p:nvPr/>
        </p:nvSpPr>
        <p:spPr bwMode="auto">
          <a:xfrm>
            <a:off x="2962656" y="1965960"/>
            <a:ext cx="2029968" cy="3017519"/>
          </a:xfrm>
          <a:prstGeom prst="roundRect">
            <a:avLst>
              <a:gd name="adj" fmla="val 16667"/>
            </a:avLst>
          </a:prstGeom>
          <a:solidFill>
            <a:srgbClr val="FFFFFF"/>
          </a:solidFill>
          <a:ln w="15875">
            <a:solidFill>
              <a:srgbClr val="2E8B57"/>
            </a:solidFill>
          </a:ln>
          <a:effectLst/>
        </p:spPr>
        <p:style>
          <a:lnRef idx="1">
            <a:schemeClr val="accent1"/>
          </a:lnRef>
          <a:fillRef idx="3">
            <a:schemeClr val="accent1"/>
          </a:fillRef>
          <a:effectRef idx="2">
            <a:schemeClr val="accent1"/>
          </a:effectRef>
          <a:fontRef idx="minor">
            <a:schemeClr val="lt1"/>
          </a:fontRef>
        </p:style>
        <p:txBody>
          <a:bodyPr wrap="square" lIns="128016" tIns="164592" rIns="128016" bIns="73152" rtlCol="0" anchor="t"/>
          <a:lstStyle/>
          <a:p>
            <a:pPr algn="ctr">
              <a:defRPr/>
            </a:pPr>
            <a:r>
              <a:rPr sz="3400" b="1" i="0">
                <a:solidFill>
                  <a:srgbClr val="2E8B57"/>
                </a:solidFill>
                <a:latin typeface="Segoe UI"/>
                <a:ea typeface="Segoe UI"/>
                <a:cs typeface="Segoe UI"/>
              </a:rPr>
              <a:t>2</a:t>
            </a:r>
            <a:endParaRPr/>
          </a:p>
        </p:txBody>
      </p:sp>
      <p:sp>
        <p:nvSpPr>
          <p:cNvPr id="2040249091" name="TextBox 9"/>
          <p:cNvSpPr txBox="1"/>
          <p:nvPr/>
        </p:nvSpPr>
        <p:spPr bwMode="auto">
          <a:xfrm>
            <a:off x="3090672" y="2788920"/>
            <a:ext cx="1773936" cy="1463040"/>
          </a:xfrm>
          <a:prstGeom prst="rect">
            <a:avLst/>
          </a:prstGeom>
          <a:noFill/>
        </p:spPr>
        <p:txBody>
          <a:bodyPr wrap="square" lIns="0" tIns="0" rIns="0" bIns="0">
            <a:spAutoFit/>
          </a:bodyPr>
          <a:lstStyle/>
          <a:p>
            <a:pPr>
              <a:lnSpc>
                <a:spcPct val="120000"/>
              </a:lnSpc>
              <a:spcBef>
                <a:spcPts val="0"/>
              </a:spcBef>
              <a:spcAft>
                <a:spcPts val="600"/>
              </a:spcAft>
              <a:defRPr/>
            </a:pPr>
            <a:r>
              <a:rPr sz="1400" b="1" i="0">
                <a:solidFill>
                  <a:srgbClr val="1B2F4B"/>
                </a:solidFill>
                <a:latin typeface="Segoe UI"/>
                <a:ea typeface="Segoe UI"/>
                <a:cs typeface="Segoe UI"/>
              </a:rPr>
              <a:t>Arena memory pool</a:t>
            </a:r>
            <a:endParaRPr/>
          </a:p>
          <a:p>
            <a:pPr>
              <a:lnSpc>
                <a:spcPct val="130000"/>
              </a:lnSpc>
              <a:spcBef>
                <a:spcPts val="0"/>
              </a:spcBef>
              <a:spcAft>
                <a:spcPts val="0"/>
              </a:spcAft>
              <a:defRPr/>
            </a:pPr>
            <a:r>
              <a:rPr sz="1150" b="0" i="0">
                <a:solidFill>
                  <a:srgbClr val="5A5A5A"/>
                </a:solidFill>
                <a:latin typeface="Segoe UI"/>
                <a:ea typeface="Segoe UI"/>
                <a:cs typeface="Segoe UI"/>
              </a:rPr>
              <a:t>64 KB blocks chained,</a:t>
            </a:r>
            <a:br>
              <a:rPr sz="1150" b="0" i="0">
                <a:solidFill>
                  <a:srgbClr val="5A5A5A"/>
                </a:solidFill>
                <a:latin typeface="Segoe UI"/>
                <a:ea typeface="Segoe UI"/>
                <a:cs typeface="Segoe UI"/>
              </a:rPr>
            </a:br>
            <a:r>
              <a:rPr sz="1150" b="0" i="0">
                <a:solidFill>
                  <a:srgbClr val="5A5A5A"/>
                </a:solidFill>
                <a:latin typeface="Segoe UI"/>
                <a:ea typeface="Segoe UI"/>
                <a:cs typeface="Segoe UI"/>
              </a:rPr>
              <a:t>pointers never dangle</a:t>
            </a:r>
            <a:endParaRPr/>
          </a:p>
        </p:txBody>
      </p:sp>
      <p:sp>
        <p:nvSpPr>
          <p:cNvPr id="624004911" name="TextBox 10"/>
          <p:cNvSpPr txBox="1"/>
          <p:nvPr/>
        </p:nvSpPr>
        <p:spPr bwMode="auto">
          <a:xfrm>
            <a:off x="3090672" y="4370832"/>
            <a:ext cx="1773936" cy="548640"/>
          </a:xfrm>
          <a:prstGeom prst="rect">
            <a:avLst/>
          </a:prstGeom>
          <a:noFill/>
        </p:spPr>
        <p:txBody>
          <a:bodyPr wrap="square" lIns="0" tIns="0" rIns="0" bIns="0">
            <a:spAutoFit/>
          </a:bodyPr>
          <a:lstStyle/>
          <a:p>
            <a:pPr>
              <a:lnSpc>
                <a:spcPct val="120000"/>
              </a:lnSpc>
              <a:spcBef>
                <a:spcPts val="0"/>
              </a:spcBef>
              <a:spcAft>
                <a:spcPts val="0"/>
              </a:spcAft>
              <a:defRPr/>
            </a:pPr>
            <a:r>
              <a:rPr sz="1050" b="1" i="0">
                <a:solidFill>
                  <a:srgbClr val="2E8B57"/>
                </a:solidFill>
                <a:latin typeface="Segoe UI"/>
                <a:ea typeface="Segoe UI"/>
                <a:cs typeface="Segoe UI"/>
              </a:rPr>
              <a:t>constraint: memory</a:t>
            </a:r>
            <a:endParaRPr/>
          </a:p>
        </p:txBody>
      </p:sp>
      <p:sp>
        <p:nvSpPr>
          <p:cNvPr id="593212624" name="Rounded Rectangle 11"/>
          <p:cNvSpPr/>
          <p:nvPr/>
        </p:nvSpPr>
        <p:spPr bwMode="auto">
          <a:xfrm>
            <a:off x="5175504" y="1965960"/>
            <a:ext cx="2029968" cy="3017519"/>
          </a:xfrm>
          <a:prstGeom prst="roundRect">
            <a:avLst>
              <a:gd name="adj" fmla="val 16667"/>
            </a:avLst>
          </a:prstGeom>
          <a:solidFill>
            <a:srgbClr val="FFFFFF"/>
          </a:solidFill>
          <a:ln w="15875">
            <a:solidFill>
              <a:srgbClr val="2E8B57"/>
            </a:solidFill>
          </a:ln>
          <a:effectLst/>
        </p:spPr>
        <p:style>
          <a:lnRef idx="1">
            <a:schemeClr val="accent1"/>
          </a:lnRef>
          <a:fillRef idx="3">
            <a:schemeClr val="accent1"/>
          </a:fillRef>
          <a:effectRef idx="2">
            <a:schemeClr val="accent1"/>
          </a:effectRef>
          <a:fontRef idx="minor">
            <a:schemeClr val="lt1"/>
          </a:fontRef>
        </p:style>
        <p:txBody>
          <a:bodyPr wrap="square" lIns="128016" tIns="164592" rIns="128016" bIns="73152" rtlCol="0" anchor="t"/>
          <a:lstStyle/>
          <a:p>
            <a:pPr algn="ctr">
              <a:defRPr/>
            </a:pPr>
            <a:r>
              <a:rPr sz="3400" b="1" i="0">
                <a:solidFill>
                  <a:srgbClr val="2E8B57"/>
                </a:solidFill>
                <a:latin typeface="Segoe UI"/>
                <a:ea typeface="Segoe UI"/>
                <a:cs typeface="Segoe UI"/>
              </a:rPr>
              <a:t>3</a:t>
            </a:r>
            <a:endParaRPr/>
          </a:p>
        </p:txBody>
      </p:sp>
      <p:sp>
        <p:nvSpPr>
          <p:cNvPr id="2039253366" name="TextBox 12"/>
          <p:cNvSpPr txBox="1"/>
          <p:nvPr/>
        </p:nvSpPr>
        <p:spPr bwMode="auto">
          <a:xfrm>
            <a:off x="5303520" y="2788920"/>
            <a:ext cx="1773936" cy="1463040"/>
          </a:xfrm>
          <a:prstGeom prst="rect">
            <a:avLst/>
          </a:prstGeom>
          <a:noFill/>
        </p:spPr>
        <p:txBody>
          <a:bodyPr wrap="square" lIns="0" tIns="0" rIns="0" bIns="0">
            <a:spAutoFit/>
          </a:bodyPr>
          <a:lstStyle/>
          <a:p>
            <a:pPr>
              <a:lnSpc>
                <a:spcPct val="120000"/>
              </a:lnSpc>
              <a:spcBef>
                <a:spcPts val="0"/>
              </a:spcBef>
              <a:spcAft>
                <a:spcPts val="600"/>
              </a:spcAft>
              <a:defRPr/>
            </a:pPr>
            <a:r>
              <a:rPr sz="1400" b="1" i="0">
                <a:solidFill>
                  <a:srgbClr val="1B2F4B"/>
                </a:solidFill>
                <a:latin typeface="Segoe UI"/>
                <a:ea typeface="Segoe UI"/>
                <a:cs typeface="Segoe UI"/>
              </a:rPr>
              <a:t>Budget split + derived k</a:t>
            </a:r>
            <a:endParaRPr/>
          </a:p>
          <a:p>
            <a:pPr>
              <a:lnSpc>
                <a:spcPct val="130000"/>
              </a:lnSpc>
              <a:spcBef>
                <a:spcPts val="0"/>
              </a:spcBef>
              <a:spcAft>
                <a:spcPts val="0"/>
              </a:spcAft>
              <a:defRPr/>
            </a:pPr>
            <a:r>
              <a:rPr sz="1150" b="0" i="0">
                <a:solidFill>
                  <a:srgbClr val="5A5A5A"/>
                </a:solidFill>
                <a:latin typeface="Segoe UI"/>
                <a:ea typeface="Segoe UI"/>
                <a:cs typeface="Segoe UI"/>
              </a:rPr>
              <a:t>k follows -m, capped at 512</a:t>
            </a:r>
            <a:endParaRPr/>
          </a:p>
        </p:txBody>
      </p:sp>
      <p:sp>
        <p:nvSpPr>
          <p:cNvPr id="1672125050" name="TextBox 13"/>
          <p:cNvSpPr txBox="1"/>
          <p:nvPr/>
        </p:nvSpPr>
        <p:spPr bwMode="auto">
          <a:xfrm>
            <a:off x="5303520" y="4370832"/>
            <a:ext cx="1773936" cy="548640"/>
          </a:xfrm>
          <a:prstGeom prst="rect">
            <a:avLst/>
          </a:prstGeom>
          <a:noFill/>
        </p:spPr>
        <p:txBody>
          <a:bodyPr wrap="square" lIns="0" tIns="0" rIns="0" bIns="0">
            <a:spAutoFit/>
          </a:bodyPr>
          <a:lstStyle/>
          <a:p>
            <a:pPr>
              <a:lnSpc>
                <a:spcPct val="120000"/>
              </a:lnSpc>
              <a:spcBef>
                <a:spcPts val="0"/>
              </a:spcBef>
              <a:spcAft>
                <a:spcPts val="0"/>
              </a:spcAft>
              <a:defRPr/>
            </a:pPr>
            <a:r>
              <a:rPr sz="1050" b="1" i="0">
                <a:solidFill>
                  <a:srgbClr val="2E8B57"/>
                </a:solidFill>
                <a:latin typeface="Segoe UI"/>
                <a:ea typeface="Segoe UI"/>
                <a:cs typeface="Segoe UI"/>
              </a:rPr>
              <a:t>constraint: memory / fds</a:t>
            </a:r>
            <a:endParaRPr/>
          </a:p>
        </p:txBody>
      </p:sp>
      <p:sp>
        <p:nvSpPr>
          <p:cNvPr id="763730532" name="Rounded Rectangle 14"/>
          <p:cNvSpPr/>
          <p:nvPr/>
        </p:nvSpPr>
        <p:spPr bwMode="auto">
          <a:xfrm>
            <a:off x="7388352" y="1965960"/>
            <a:ext cx="2029968" cy="3017519"/>
          </a:xfrm>
          <a:prstGeom prst="roundRect">
            <a:avLst>
              <a:gd name="adj" fmla="val 16667"/>
            </a:avLst>
          </a:prstGeom>
          <a:solidFill>
            <a:srgbClr val="FFFFFF"/>
          </a:solidFill>
          <a:ln w="15875">
            <a:solidFill>
              <a:srgbClr val="E06C2E"/>
            </a:solidFill>
          </a:ln>
          <a:effectLst/>
        </p:spPr>
        <p:style>
          <a:lnRef idx="1">
            <a:schemeClr val="accent1"/>
          </a:lnRef>
          <a:fillRef idx="3">
            <a:schemeClr val="accent1"/>
          </a:fillRef>
          <a:effectRef idx="2">
            <a:schemeClr val="accent1"/>
          </a:effectRef>
          <a:fontRef idx="minor">
            <a:schemeClr val="lt1"/>
          </a:fontRef>
        </p:style>
        <p:txBody>
          <a:bodyPr wrap="square" lIns="128016" tIns="164592" rIns="128016" bIns="73152" rtlCol="0" anchor="t"/>
          <a:lstStyle/>
          <a:p>
            <a:pPr algn="ctr">
              <a:defRPr/>
            </a:pPr>
            <a:r>
              <a:rPr sz="3400" b="1" i="0">
                <a:solidFill>
                  <a:srgbClr val="E06C2E"/>
                </a:solidFill>
                <a:latin typeface="Segoe UI"/>
                <a:ea typeface="Segoe UI"/>
                <a:cs typeface="Segoe UI"/>
              </a:rPr>
              <a:t>4</a:t>
            </a:r>
            <a:endParaRPr/>
          </a:p>
        </p:txBody>
      </p:sp>
      <p:sp>
        <p:nvSpPr>
          <p:cNvPr id="2082606484" name="TextBox 15"/>
          <p:cNvSpPr txBox="1"/>
          <p:nvPr/>
        </p:nvSpPr>
        <p:spPr bwMode="auto">
          <a:xfrm>
            <a:off x="7516368" y="2788920"/>
            <a:ext cx="1773936" cy="1463040"/>
          </a:xfrm>
          <a:prstGeom prst="rect">
            <a:avLst/>
          </a:prstGeom>
          <a:noFill/>
        </p:spPr>
        <p:txBody>
          <a:bodyPr wrap="square" lIns="0" tIns="0" rIns="0" bIns="0">
            <a:spAutoFit/>
          </a:bodyPr>
          <a:lstStyle/>
          <a:p>
            <a:pPr>
              <a:lnSpc>
                <a:spcPct val="120000"/>
              </a:lnSpc>
              <a:spcBef>
                <a:spcPts val="0"/>
              </a:spcBef>
              <a:spcAft>
                <a:spcPts val="600"/>
              </a:spcAft>
              <a:defRPr/>
            </a:pPr>
            <a:r>
              <a:rPr sz="1400" b="1" i="0">
                <a:solidFill>
                  <a:srgbClr val="1B2F4B"/>
                </a:solidFill>
                <a:latin typeface="Segoe UI"/>
                <a:ea typeface="Segoe UI"/>
                <a:cs typeface="Segoe UI"/>
              </a:rPr>
              <a:t>Min-Heap merge</a:t>
            </a:r>
            <a:endParaRPr/>
          </a:p>
          <a:p>
            <a:pPr>
              <a:lnSpc>
                <a:spcPct val="130000"/>
              </a:lnSpc>
              <a:spcBef>
                <a:spcPts val="0"/>
              </a:spcBef>
              <a:spcAft>
                <a:spcPts val="0"/>
              </a:spcAft>
              <a:defRPr/>
            </a:pPr>
            <a:r>
              <a:rPr sz="1150" b="0" i="0">
                <a:solidFill>
                  <a:srgbClr val="5A5A5A"/>
                </a:solidFill>
                <a:latin typeface="Segoe UI"/>
                <a:ea typeface="Segoe UI"/>
                <a:cs typeface="Segoe UI"/>
              </a:rPr>
              <a:t>root replacement: one</a:t>
            </a:r>
            <a:br>
              <a:rPr sz="1150" b="0" i="0">
                <a:solidFill>
                  <a:srgbClr val="5A5A5A"/>
                </a:solidFill>
                <a:latin typeface="Segoe UI"/>
                <a:ea typeface="Segoe UI"/>
                <a:cs typeface="Segoe UI"/>
              </a:rPr>
            </a:br>
            <a:r>
              <a:rPr sz="1150" b="0" i="0">
                <a:solidFill>
                  <a:srgbClr val="5A5A5A"/>
                </a:solidFill>
                <a:latin typeface="Segoe UI"/>
                <a:ea typeface="Segoe UI"/>
                <a:cs typeface="Segoe UI"/>
              </a:rPr>
              <a:t>sift-down per line</a:t>
            </a:r>
            <a:endParaRPr/>
          </a:p>
        </p:txBody>
      </p:sp>
      <p:sp>
        <p:nvSpPr>
          <p:cNvPr id="903355387" name="TextBox 16"/>
          <p:cNvSpPr txBox="1"/>
          <p:nvPr/>
        </p:nvSpPr>
        <p:spPr bwMode="auto">
          <a:xfrm>
            <a:off x="7516368" y="4370832"/>
            <a:ext cx="1773936" cy="548640"/>
          </a:xfrm>
          <a:prstGeom prst="rect">
            <a:avLst/>
          </a:prstGeom>
          <a:noFill/>
        </p:spPr>
        <p:txBody>
          <a:bodyPr wrap="square" lIns="0" tIns="0" rIns="0" bIns="0">
            <a:spAutoFit/>
          </a:bodyPr>
          <a:lstStyle/>
          <a:p>
            <a:pPr>
              <a:lnSpc>
                <a:spcPct val="120000"/>
              </a:lnSpc>
              <a:spcBef>
                <a:spcPts val="0"/>
              </a:spcBef>
              <a:spcAft>
                <a:spcPts val="0"/>
              </a:spcAft>
              <a:defRPr/>
            </a:pPr>
            <a:r>
              <a:rPr sz="1050" b="1" i="0">
                <a:solidFill>
                  <a:srgbClr val="E06C2E"/>
                </a:solidFill>
                <a:latin typeface="Segoe UI"/>
                <a:ea typeface="Segoe UI"/>
                <a:cs typeface="Segoe UI"/>
              </a:rPr>
              <a:t>constraint: I/O cost</a:t>
            </a:r>
            <a:endParaRPr/>
          </a:p>
        </p:txBody>
      </p:sp>
      <p:sp>
        <p:nvSpPr>
          <p:cNvPr id="848642725" name="Rounded Rectangle 17"/>
          <p:cNvSpPr/>
          <p:nvPr/>
        </p:nvSpPr>
        <p:spPr bwMode="auto">
          <a:xfrm>
            <a:off x="9601200" y="1965960"/>
            <a:ext cx="2029968" cy="3017519"/>
          </a:xfrm>
          <a:prstGeom prst="roundRect">
            <a:avLst>
              <a:gd name="adj" fmla="val 16667"/>
            </a:avLst>
          </a:prstGeom>
          <a:solidFill>
            <a:srgbClr val="FFFFFF"/>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128016" tIns="164592" rIns="128016" bIns="73152" rtlCol="0" anchor="t"/>
          <a:lstStyle/>
          <a:p>
            <a:pPr algn="ctr">
              <a:defRPr/>
            </a:pPr>
            <a:r>
              <a:rPr sz="3400" b="1" i="0">
                <a:solidFill>
                  <a:srgbClr val="C0392B"/>
                </a:solidFill>
                <a:latin typeface="Segoe UI"/>
                <a:ea typeface="Segoe UI"/>
                <a:cs typeface="Segoe UI"/>
              </a:rPr>
              <a:t>5</a:t>
            </a:r>
            <a:endParaRPr/>
          </a:p>
        </p:txBody>
      </p:sp>
      <p:sp>
        <p:nvSpPr>
          <p:cNvPr id="1669807864" name="TextBox 18"/>
          <p:cNvSpPr txBox="1"/>
          <p:nvPr/>
        </p:nvSpPr>
        <p:spPr bwMode="auto">
          <a:xfrm>
            <a:off x="9729215" y="2788920"/>
            <a:ext cx="1773936" cy="1463040"/>
          </a:xfrm>
          <a:prstGeom prst="rect">
            <a:avLst/>
          </a:prstGeom>
          <a:noFill/>
        </p:spPr>
        <p:txBody>
          <a:bodyPr wrap="square" lIns="0" tIns="0" rIns="0" bIns="0">
            <a:spAutoFit/>
          </a:bodyPr>
          <a:lstStyle/>
          <a:p>
            <a:pPr>
              <a:lnSpc>
                <a:spcPct val="120000"/>
              </a:lnSpc>
              <a:spcBef>
                <a:spcPts val="0"/>
              </a:spcBef>
              <a:spcAft>
                <a:spcPts val="600"/>
              </a:spcAft>
              <a:defRPr/>
            </a:pPr>
            <a:r>
              <a:rPr sz="1400" b="1" i="0">
                <a:solidFill>
                  <a:srgbClr val="1B2F4B"/>
                </a:solidFill>
                <a:latin typeface="Segoe UI"/>
                <a:ea typeface="Segoe UI"/>
                <a:cs typeface="Segoe UI"/>
              </a:rPr>
              <a:t>Resource safety</a:t>
            </a:r>
            <a:endParaRPr/>
          </a:p>
          <a:p>
            <a:pPr>
              <a:lnSpc>
                <a:spcPct val="130000"/>
              </a:lnSpc>
              <a:spcBef>
                <a:spcPts val="0"/>
              </a:spcBef>
              <a:spcAft>
                <a:spcPts val="0"/>
              </a:spcAft>
              <a:defRPr/>
            </a:pPr>
            <a:r>
              <a:rPr sz="1150" b="0" i="0">
                <a:solidFill>
                  <a:srgbClr val="5A5A5A"/>
                </a:solidFill>
                <a:latin typeface="Segoe UI"/>
                <a:ea typeface="Segoe UI"/>
                <a:cs typeface="Segoe UI"/>
              </a:rPr>
              <a:t>same-file output, mkstemp,</a:t>
            </a:r>
            <a:br>
              <a:rPr sz="1150" b="0" i="0">
                <a:solidFill>
                  <a:srgbClr val="5A5A5A"/>
                </a:solidFill>
                <a:latin typeface="Segoe UI"/>
                <a:ea typeface="Segoe UI"/>
                <a:cs typeface="Segoe UI"/>
              </a:rPr>
            </a:br>
            <a:r>
              <a:rPr sz="1150" b="0" i="0">
                <a:solidFill>
                  <a:srgbClr val="5A5A5A"/>
                </a:solidFill>
                <a:latin typeface="Segoe UI"/>
                <a:ea typeface="Segoe UI"/>
                <a:cs typeface="Segoe UI"/>
              </a:rPr>
              <a:t>over-long lines</a:t>
            </a:r>
            <a:endParaRPr/>
          </a:p>
        </p:txBody>
      </p:sp>
      <p:sp>
        <p:nvSpPr>
          <p:cNvPr id="1860647664" name="TextBox 19"/>
          <p:cNvSpPr txBox="1"/>
          <p:nvPr/>
        </p:nvSpPr>
        <p:spPr bwMode="auto">
          <a:xfrm>
            <a:off x="9729215" y="4370832"/>
            <a:ext cx="1773936" cy="548640"/>
          </a:xfrm>
          <a:prstGeom prst="rect">
            <a:avLst/>
          </a:prstGeom>
          <a:noFill/>
        </p:spPr>
        <p:txBody>
          <a:bodyPr wrap="square" lIns="0" tIns="0" rIns="0" bIns="0">
            <a:spAutoFit/>
          </a:bodyPr>
          <a:lstStyle/>
          <a:p>
            <a:pPr>
              <a:lnSpc>
                <a:spcPct val="120000"/>
              </a:lnSpc>
              <a:spcBef>
                <a:spcPts val="0"/>
              </a:spcBef>
              <a:spcAft>
                <a:spcPts val="0"/>
              </a:spcAft>
              <a:defRPr/>
            </a:pPr>
            <a:r>
              <a:rPr sz="1050" b="1" i="0">
                <a:solidFill>
                  <a:srgbClr val="C0392B"/>
                </a:solidFill>
                <a:latin typeface="Segoe UI"/>
                <a:ea typeface="Segoe UI"/>
                <a:cs typeface="Segoe UI"/>
              </a:rPr>
              <a:t>constraint: data safety</a:t>
            </a:r>
            <a:endParaRPr/>
          </a:p>
        </p:txBody>
      </p:sp>
      <p:sp>
        <p:nvSpPr>
          <p:cNvPr id="2010010420" name="TextBox 20"/>
          <p:cNvSpPr txBox="1"/>
          <p:nvPr/>
        </p:nvSpPr>
        <p:spPr bwMode="auto">
          <a:xfrm>
            <a:off x="749808" y="5285232"/>
            <a:ext cx="10698480" cy="731520"/>
          </a:xfrm>
          <a:prstGeom prst="rect">
            <a:avLst/>
          </a:prstGeom>
          <a:noFill/>
        </p:spPr>
        <p:txBody>
          <a:bodyPr wrap="square" lIns="0" tIns="0" rIns="0" bIns="0">
            <a:spAutoFit/>
          </a:bodyPr>
          <a:lstStyle/>
          <a:p>
            <a:pPr>
              <a:lnSpc>
                <a:spcPct val="135000"/>
              </a:lnSpc>
              <a:spcBef>
                <a:spcPts val="0"/>
              </a:spcBef>
              <a:spcAft>
                <a:spcPts val="600"/>
              </a:spcAft>
              <a:defRPr/>
            </a:pPr>
            <a:r>
              <a:rPr sz="1700" b="1" i="0">
                <a:solidFill>
                  <a:srgbClr val="1B2F4B"/>
                </a:solidFill>
                <a:latin typeface="Segoe UI"/>
                <a:ea typeface="Segoe UI"/>
                <a:cs typeface="Segoe UI"/>
              </a:rPr>
              <a:t>Through-line: </a:t>
            </a:r>
            <a:r>
              <a:rPr sz="1700" b="1" i="0">
                <a:solidFill>
                  <a:srgbClr val="2E6DA4"/>
                </a:solidFill>
                <a:latin typeface="Segoe UI"/>
                <a:ea typeface="Segoe UI"/>
                <a:cs typeface="Segoe UI"/>
              </a:rPr>
              <a:t>how do we make correctness and the memory limit hold at the same time?</a:t>
            </a:r>
            <a:endParaRPr/>
          </a:p>
          <a:p>
            <a:pPr>
              <a:lnSpc>
                <a:spcPct val="135000"/>
              </a:lnSpc>
              <a:spcBef>
                <a:spcPts val="0"/>
              </a:spcBef>
              <a:spcAft>
                <a:spcPts val="0"/>
              </a:spcAft>
              <a:defRPr/>
            </a:pPr>
            <a:r>
              <a:rPr sz="1400" b="0" i="0">
                <a:solidFill>
                  <a:srgbClr val="5A5A5A"/>
                </a:solidFill>
                <a:latin typeface="Segoe UI"/>
                <a:ea typeface="Segoe UI"/>
                <a:cs typeface="Segoe UI"/>
              </a:rPr>
              <a:t>Every design decision answers one question: what breaks if I do it this way, and how do I prove it won't?</a:t>
            </a:r>
            <a:endParaRPr/>
          </a:p>
        </p:txBody>
      </p:sp>
      <p:sp>
        <p:nvSpPr>
          <p:cNvPr id="727990479" name="TextBox 21"/>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729651785" name="TextBox 22"/>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5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78699387"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2068801323"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Idea 1: One Shared Comparator</a:t>
            </a:r>
            <a:endParaRPr/>
          </a:p>
        </p:txBody>
      </p:sp>
      <p:sp>
        <p:nvSpPr>
          <p:cNvPr id="87887367"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Written once, so the two phases cannot disagree</a:t>
            </a:r>
            <a:endParaRPr/>
          </a:p>
        </p:txBody>
      </p:sp>
      <p:sp>
        <p:nvSpPr>
          <p:cNvPr id="104814280"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543733904" name="TextBox 5"/>
          <p:cNvSpPr txBox="1"/>
          <p:nvPr/>
        </p:nvSpPr>
        <p:spPr bwMode="auto">
          <a:xfrm>
            <a:off x="749808" y="1536192"/>
            <a:ext cx="5120640" cy="4206240"/>
          </a:xfrm>
          <a:prstGeom prst="rect">
            <a:avLst/>
          </a:prstGeom>
          <a:noFill/>
        </p:spPr>
        <p:txBody>
          <a:bodyPr wrap="square" lIns="0" tIns="0" rIns="0" bIns="0">
            <a:spAutoFit/>
          </a:bodyPr>
          <a:lstStyle/>
          <a:p>
            <a:pPr>
              <a:lnSpc>
                <a:spcPct val="135000"/>
              </a:lnSpc>
              <a:spcBef>
                <a:spcPts val="0"/>
              </a:spcBef>
              <a:spcAft>
                <a:spcPts val="800"/>
              </a:spcAft>
              <a:defRPr/>
            </a:pPr>
            <a:r>
              <a:rPr sz="1550" b="1" i="0">
                <a:solidFill>
                  <a:srgbClr val="2E6DA4"/>
                </a:solidFill>
                <a:latin typeface="Segoe UI"/>
                <a:ea typeface="Segoe UI"/>
                <a:cs typeface="Segoe UI"/>
              </a:rPr>
              <a:t>✗  </a:t>
            </a:r>
            <a:r>
              <a:rPr sz="1550" b="1" i="0">
                <a:solidFill>
                  <a:srgbClr val="C0392B"/>
                </a:solidFill>
                <a:latin typeface="Segoe UI"/>
                <a:ea typeface="Segoe UI"/>
                <a:cs typeface="Segoe UI"/>
              </a:rPr>
              <a:t>Classic bug: </a:t>
            </a:r>
            <a:r>
              <a:rPr sz="1550" b="0" i="0">
                <a:solidFill>
                  <a:srgbClr val="5A5A5A"/>
                </a:solidFill>
                <a:latin typeface="Segoe UI"/>
                <a:ea typeface="Segoe UI"/>
                <a:cs typeface="Segoe UI"/>
              </a:rPr>
              <a:t>writing the comparison twice — phase one sorts lexicographically, phase two merges numerically.</a:t>
            </a:r>
            <a:endParaRPr/>
          </a:p>
          <a:p>
            <a:pPr>
              <a:lnSpc>
                <a:spcPct val="140000"/>
              </a:lnSpc>
              <a:spcBef>
                <a:spcPts val="0"/>
              </a:spcBef>
              <a:spcAft>
                <a:spcPts val="1600"/>
              </a:spcAft>
              <a:defRPr/>
            </a:pPr>
            <a:r>
              <a:rPr sz="1350" b="0" i="0">
                <a:solidFill>
                  <a:srgbClr val="5A5A5A"/>
                </a:solidFill>
                <a:latin typeface="Segoe UI"/>
                <a:ea typeface="Segoe UI"/>
                <a:cs typeface="Segoe UI"/>
              </a:rPr>
              <a:t>The result is silently wrong, and with large data the only symptom is "looks mostly sorted" — very hard to notice.</a:t>
            </a:r>
            <a:endParaRPr/>
          </a:p>
          <a:p>
            <a:pPr>
              <a:lnSpc>
                <a:spcPct val="135000"/>
              </a:lnSpc>
              <a:spcBef>
                <a:spcPts val="0"/>
              </a:spcBef>
              <a:spcAft>
                <a:spcPts val="800"/>
              </a:spcAft>
              <a:defRPr/>
            </a:pPr>
            <a:r>
              <a:rPr sz="1550" b="1" i="0">
                <a:solidFill>
                  <a:srgbClr val="2E6DA4"/>
                </a:solidFill>
                <a:latin typeface="Segoe UI"/>
                <a:ea typeface="Segoe UI"/>
                <a:cs typeface="Segoe UI"/>
              </a:rPr>
              <a:t>✓  </a:t>
            </a:r>
            <a:r>
              <a:rPr sz="1550" b="1" i="0">
                <a:solidFill>
                  <a:srgbClr val="2E8B57"/>
                </a:solidFill>
                <a:latin typeface="Segoe UI"/>
                <a:ea typeface="Segoe UI"/>
                <a:cs typeface="Segoe UI"/>
              </a:rPr>
              <a:t>Fix: </a:t>
            </a:r>
            <a:r>
              <a:rPr sz="1550" b="0" i="0">
                <a:solidFill>
                  <a:srgbClr val="5A5A5A"/>
                </a:solidFill>
                <a:latin typeface="Segoe UI"/>
                <a:ea typeface="Segoe UI"/>
                <a:cs typeface="Segoe UI"/>
              </a:rPr>
              <a:t>both paths call cmp_strings(); only the interface differs.</a:t>
            </a:r>
            <a:endParaRPr/>
          </a:p>
          <a:p>
            <a:pPr>
              <a:lnSpc>
                <a:spcPct val="150000"/>
              </a:lnSpc>
              <a:spcBef>
                <a:spcPts val="0"/>
              </a:spcBef>
              <a:spcAft>
                <a:spcPts val="1600"/>
              </a:spcAft>
              <a:defRPr/>
            </a:pPr>
            <a:r>
              <a:rPr sz="1250" b="0" i="0">
                <a:solidFill>
                  <a:srgbClr val="5A5A5A"/>
                </a:solidFill>
                <a:latin typeface="Consolas"/>
                <a:ea typeface="Consolas"/>
                <a:cs typeface="Consolas"/>
              </a:rPr>
              <a:t>qsort() gets char** → one extra dereference</a:t>
            </a:r>
            <a:br>
              <a:rPr sz="1250" b="0" i="0">
                <a:solidFill>
                  <a:srgbClr val="5A5A5A"/>
                </a:solidFill>
                <a:latin typeface="Consolas"/>
                <a:ea typeface="Consolas"/>
                <a:cs typeface="Consolas"/>
              </a:rPr>
            </a:br>
            <a:r>
              <a:rPr sz="1250" b="0" i="0">
                <a:solidFill>
                  <a:srgbClr val="5A5A5A"/>
                </a:solidFill>
                <a:latin typeface="Consolas"/>
                <a:ea typeface="Consolas"/>
                <a:cs typeface="Consolas"/>
              </a:rPr>
              <a:t>Min-Heap gets HeapItem → uses the pointer inside</a:t>
            </a:r>
            <a:endParaRPr/>
          </a:p>
          <a:p>
            <a:pPr>
              <a:lnSpc>
                <a:spcPct val="135000"/>
              </a:lnSpc>
              <a:spcBef>
                <a:spcPts val="0"/>
              </a:spcBef>
              <a:spcAft>
                <a:spcPts val="800"/>
              </a:spcAft>
              <a:defRPr/>
            </a:pPr>
            <a:r>
              <a:rPr sz="1350" b="1" i="0">
                <a:solidFill>
                  <a:srgbClr val="1B2F4B"/>
                </a:solidFill>
                <a:latin typeface="Segoe UI"/>
                <a:ea typeface="Segoe UI"/>
                <a:cs typeface="Segoe UI"/>
              </a:rPr>
              <a:t>Order  </a:t>
            </a:r>
            <a:r>
              <a:rPr sz="1350" b="0" i="0">
                <a:solidFill>
                  <a:srgbClr val="2E6DA4"/>
                </a:solidFill>
                <a:latin typeface="Consolas"/>
                <a:ea typeface="Consolas"/>
                <a:cs typeface="Consolas"/>
              </a:rPr>
              <a:t>-l length → -n numeric → dictionary (-c) → -r reverse</a:t>
            </a:r>
            <a:endParaRPr/>
          </a:p>
          <a:p>
            <a:pPr>
              <a:lnSpc>
                <a:spcPct val="135000"/>
              </a:lnSpc>
              <a:spcBef>
                <a:spcPts val="0"/>
              </a:spcBef>
              <a:spcAft>
                <a:spcPts val="0"/>
              </a:spcAft>
              <a:defRPr/>
            </a:pPr>
            <a:r>
              <a:rPr sz="1350" b="0" i="0">
                <a:solidFill>
                  <a:srgbClr val="5A5A5A"/>
                </a:solidFill>
                <a:latin typeface="Segoe UI"/>
                <a:ea typeface="Segoe UI"/>
                <a:cs typeface="Segoe UI"/>
              </a:rPr>
              <a:t>-n compares with &lt; and &gt; instead of subtracting: </a:t>
            </a:r>
            <a:r>
              <a:rPr sz="1350" b="0" i="0">
                <a:solidFill>
                  <a:srgbClr val="C0392B"/>
                </a:solidFill>
                <a:latin typeface="Segoe UI"/>
                <a:ea typeface="Segoe UI"/>
                <a:cs typeface="Segoe UI"/>
              </a:rPr>
              <a:t>atoi() returns int; subtracting large values overflows.</a:t>
            </a:r>
            <a:endParaRPr/>
          </a:p>
        </p:txBody>
      </p:sp>
      <p:sp>
        <p:nvSpPr>
          <p:cNvPr id="1018211948" name="Rectangle 6"/>
          <p:cNvSpPr/>
          <p:nvPr/>
        </p:nvSpPr>
        <p:spPr bwMode="auto">
          <a:xfrm>
            <a:off x="6172200" y="1783080"/>
            <a:ext cx="5303520" cy="4081653"/>
          </a:xfrm>
          <a:prstGeom prst="rect">
            <a:avLst/>
          </a:prstGeom>
          <a:solidFill>
            <a:srgbClr val="F4F5F7"/>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36576" rtlCol="0" anchor="t"/>
          <a:lstStyle/>
          <a:p>
            <a:pPr algn="ctr">
              <a:lnSpc>
                <a:spcPct val="100000"/>
              </a:lnSpc>
              <a:spcBef>
                <a:spcPts val="0"/>
              </a:spcBef>
              <a:spcAft>
                <a:spcPts val="0"/>
              </a:spcAft>
              <a:defRPr/>
            </a:pPr>
            <a:r>
              <a:rPr sz="950" b="0" i="0">
                <a:solidFill>
                  <a:srgbClr val="24292E"/>
                </a:solidFill>
                <a:latin typeface="Consolas"/>
                <a:ea typeface="Consolas"/>
                <a:cs typeface="Consolas"/>
              </a:rPr>
              <a:t>static int cmp_strings(const char *a, const char *b)</a:t>
            </a:r>
            <a:endParaRPr/>
          </a:p>
          <a:p>
            <a:pPr>
              <a:lnSpc>
                <a:spcPct val="100000"/>
              </a:lnSpc>
              <a:spcBef>
                <a:spcPts val="0"/>
              </a:spcBef>
              <a:spcAft>
                <a:spcPts val="0"/>
              </a:spcAft>
              <a:defRPr/>
            </a:pPr>
            <a:r>
              <a:rPr sz="950" b="0" i="0">
                <a:solidFill>
                  <a:srgbClr val="24292E"/>
                </a:solidFill>
                <a:latin typeface="Consolas"/>
                <a:ea typeface="Consolas"/>
                <a:cs typeface="Consolas"/>
              </a:rPr>
              <a:t>{</a:t>
            </a:r>
            <a:endParaRPr/>
          </a:p>
          <a:p>
            <a:pPr>
              <a:lnSpc>
                <a:spcPct val="100000"/>
              </a:lnSpc>
              <a:spcBef>
                <a:spcPts val="0"/>
              </a:spcBef>
              <a:spcAft>
                <a:spcPts val="0"/>
              </a:spcAft>
              <a:defRPr/>
            </a:pPr>
            <a:r>
              <a:rPr sz="950" b="0" i="0">
                <a:solidFill>
                  <a:srgbClr val="24292E"/>
                </a:solidFill>
                <a:latin typeface="Consolas"/>
                <a:ea typeface="Consolas"/>
                <a:cs typeface="Consolas"/>
              </a:rPr>
              <a:t>    int result = 0;</a:t>
            </a:r>
            <a:endParaRPr/>
          </a:p>
          <a:p>
            <a:pPr>
              <a:lnSpc>
                <a:spcPct val="100000"/>
              </a:lnSpc>
              <a:spcBef>
                <a:spcPts val="0"/>
              </a:spcBef>
              <a:spcAft>
                <a:spcPts val="0"/>
              </a:spcAft>
              <a:defRPr/>
            </a:pPr>
            <a:r>
              <a:rPr sz="950" b="0" i="0">
                <a:solidFill>
                  <a:srgbClr val="24292E"/>
                </a:solidFill>
                <a:latin typeface="Consolas"/>
                <a:ea typeface="Consolas"/>
                <a:cs typeface="Consolas"/>
              </a:rPr>
              <a:t>        ...</a:t>
            </a:r>
            <a:endParaRPr/>
          </a:p>
          <a:p>
            <a:pPr>
              <a:lnSpc>
                <a:spcPct val="100000"/>
              </a:lnSpc>
              <a:spcBef>
                <a:spcPts val="0"/>
              </a:spcBef>
              <a:spcAft>
                <a:spcPts val="0"/>
              </a:spcAft>
              <a:defRPr/>
            </a:pPr>
            <a:r>
              <a:rPr sz="950" b="0" i="0">
                <a:solidFill>
                  <a:srgbClr val="24292E"/>
                </a:solidFill>
                <a:latin typeface="Consolas"/>
                <a:ea typeface="Consolas"/>
                <a:cs typeface="Consolas"/>
              </a:rPr>
              <a:t>    if (g_opts.by_length) {</a:t>
            </a:r>
            <a:endParaRPr/>
          </a:p>
          <a:p>
            <a:pPr>
              <a:lnSpc>
                <a:spcPct val="100000"/>
              </a:lnSpc>
              <a:spcBef>
                <a:spcPts val="0"/>
              </a:spcBef>
              <a:spcAft>
                <a:spcPts val="0"/>
              </a:spcAft>
              <a:defRPr/>
            </a:pPr>
            <a:r>
              <a:rPr sz="950" b="0" i="0">
                <a:solidFill>
                  <a:srgbClr val="24292E"/>
                </a:solidFill>
                <a:latin typeface="Consolas"/>
                <a:ea typeface="Consolas"/>
                <a:cs typeface="Consolas"/>
              </a:rPr>
              <a:t>        size_t la = strlen(a);</a:t>
            </a:r>
            <a:endParaRPr/>
          </a:p>
          <a:p>
            <a:pPr>
              <a:lnSpc>
                <a:spcPct val="100000"/>
              </a:lnSpc>
              <a:spcBef>
                <a:spcPts val="0"/>
              </a:spcBef>
              <a:spcAft>
                <a:spcPts val="0"/>
              </a:spcAft>
              <a:defRPr/>
            </a:pPr>
            <a:r>
              <a:rPr sz="950" b="0" i="0">
                <a:solidFill>
                  <a:srgbClr val="24292E"/>
                </a:solidFill>
                <a:latin typeface="Consolas"/>
                <a:ea typeface="Consolas"/>
                <a:cs typeface="Consolas"/>
              </a:rPr>
              <a:t>        size_t lb = strlen(b);</a:t>
            </a:r>
            <a:endParaRPr/>
          </a:p>
          <a:p>
            <a:pPr>
              <a:lnSpc>
                <a:spcPct val="100000"/>
              </a:lnSpc>
              <a:spcBef>
                <a:spcPts val="0"/>
              </a:spcBef>
              <a:spcAft>
                <a:spcPts val="0"/>
              </a:spcAft>
              <a:defRPr/>
            </a:pPr>
            <a:r>
              <a:rPr sz="950" b="0" i="0">
                <a:solidFill>
                  <a:srgbClr val="24292E"/>
                </a:solidFill>
                <a:latin typeface="Consolas"/>
                <a:ea typeface="Consolas"/>
                <a:cs typeface="Consolas"/>
              </a:rPr>
              <a:t>        if (la &lt; lb)</a:t>
            </a:r>
            <a:endParaRPr/>
          </a:p>
          <a:p>
            <a:pPr>
              <a:lnSpc>
                <a:spcPct val="100000"/>
              </a:lnSpc>
              <a:spcBef>
                <a:spcPts val="0"/>
              </a:spcBef>
              <a:spcAft>
                <a:spcPts val="0"/>
              </a:spcAft>
              <a:defRPr/>
            </a:pPr>
            <a:r>
              <a:rPr sz="950" b="0" i="0">
                <a:solidFill>
                  <a:srgbClr val="24292E"/>
                </a:solidFill>
                <a:latin typeface="Consolas"/>
                <a:ea typeface="Consolas"/>
                <a:cs typeface="Consolas"/>
              </a:rPr>
              <a:t>            result = -1;</a:t>
            </a:r>
            <a:endParaRPr/>
          </a:p>
          <a:p>
            <a:pPr>
              <a:lnSpc>
                <a:spcPct val="100000"/>
              </a:lnSpc>
              <a:spcBef>
                <a:spcPts val="0"/>
              </a:spcBef>
              <a:spcAft>
                <a:spcPts val="0"/>
              </a:spcAft>
              <a:defRPr/>
            </a:pPr>
            <a:r>
              <a:rPr sz="950" b="0" i="0">
                <a:solidFill>
                  <a:srgbClr val="24292E"/>
                </a:solidFill>
                <a:latin typeface="Consolas"/>
                <a:ea typeface="Consolas"/>
                <a:cs typeface="Consolas"/>
              </a:rPr>
              <a:t>        else if (la &gt; lb)</a:t>
            </a:r>
            <a:endParaRPr/>
          </a:p>
          <a:p>
            <a:pPr>
              <a:lnSpc>
                <a:spcPct val="100000"/>
              </a:lnSpc>
              <a:spcBef>
                <a:spcPts val="0"/>
              </a:spcBef>
              <a:spcAft>
                <a:spcPts val="0"/>
              </a:spcAft>
              <a:defRPr/>
            </a:pPr>
            <a:r>
              <a:rPr sz="950" b="0" i="0">
                <a:solidFill>
                  <a:srgbClr val="24292E"/>
                </a:solidFill>
                <a:latin typeface="Consolas"/>
                <a:ea typeface="Consolas"/>
                <a:cs typeface="Consolas"/>
              </a:rPr>
              <a:t>            result = 1;</a:t>
            </a:r>
            <a:endParaRPr/>
          </a:p>
          <a:p>
            <a:pPr>
              <a:lnSpc>
                <a:spcPct val="100000"/>
              </a:lnSpc>
              <a:spcBef>
                <a:spcPts val="0"/>
              </a:spcBef>
              <a:spcAft>
                <a:spcPts val="0"/>
              </a:spcAft>
              <a:defRPr/>
            </a:pPr>
            <a:r>
              <a:rPr sz="950" b="0" i="0">
                <a:solidFill>
                  <a:srgbClr val="24292E"/>
                </a:solidFill>
                <a:latin typeface="Consolas"/>
                <a:ea typeface="Consolas"/>
                <a:cs typeface="Consolas"/>
              </a:rPr>
              <a:t>        ...</a:t>
            </a:r>
            <a:endParaRPr/>
          </a:p>
          <a:p>
            <a:pPr>
              <a:lnSpc>
                <a:spcPct val="100000"/>
              </a:lnSpc>
              <a:spcBef>
                <a:spcPts val="0"/>
              </a:spcBef>
              <a:spcAft>
                <a:spcPts val="0"/>
              </a:spcAft>
              <a:defRPr/>
            </a:pPr>
            <a:r>
              <a:rPr sz="950" b="0" i="0">
                <a:solidFill>
                  <a:srgbClr val="24292E"/>
                </a:solidFill>
                <a:latin typeface="Consolas"/>
                <a:ea typeface="Consolas"/>
                <a:cs typeface="Consolas"/>
              </a:rPr>
              <a:t>    if (result == 0) {</a:t>
            </a:r>
            <a:endParaRPr/>
          </a:p>
          <a:p>
            <a:pPr>
              <a:lnSpc>
                <a:spcPct val="100000"/>
              </a:lnSpc>
              <a:spcBef>
                <a:spcPts val="0"/>
              </a:spcBef>
              <a:spcAft>
                <a:spcPts val="0"/>
              </a:spcAft>
              <a:defRPr/>
            </a:pPr>
            <a:r>
              <a:rPr sz="950" b="0" i="0">
                <a:solidFill>
                  <a:srgbClr val="24292E"/>
                </a:solidFill>
                <a:latin typeface="Consolas"/>
                <a:ea typeface="Consolas"/>
                <a:cs typeface="Consolas"/>
              </a:rPr>
              <a:t>        if (g_opts.numeric) {</a:t>
            </a:r>
            <a:endParaRPr/>
          </a:p>
          <a:p>
            <a:pPr>
              <a:lnSpc>
                <a:spcPct val="100000"/>
              </a:lnSpc>
              <a:spcBef>
                <a:spcPts val="0"/>
              </a:spcBef>
              <a:spcAft>
                <a:spcPts val="0"/>
              </a:spcAft>
              <a:defRPr/>
            </a:pPr>
            <a:r>
              <a:rPr sz="950" b="0" i="0">
                <a:solidFill>
                  <a:srgbClr val="24292E"/>
                </a:solidFill>
                <a:latin typeface="Consolas"/>
                <a:ea typeface="Consolas"/>
                <a:cs typeface="Consolas"/>
              </a:rPr>
              <a:t>            int na = atoi(a);</a:t>
            </a:r>
            <a:endParaRPr/>
          </a:p>
          <a:p>
            <a:pPr>
              <a:lnSpc>
                <a:spcPct val="100000"/>
              </a:lnSpc>
              <a:spcBef>
                <a:spcPts val="0"/>
              </a:spcBef>
              <a:spcAft>
                <a:spcPts val="0"/>
              </a:spcAft>
              <a:defRPr/>
            </a:pPr>
            <a:r>
              <a:rPr sz="950" b="0" i="0">
                <a:solidFill>
                  <a:srgbClr val="24292E"/>
                </a:solidFill>
                <a:latin typeface="Consolas"/>
                <a:ea typeface="Consolas"/>
                <a:cs typeface="Consolas"/>
              </a:rPr>
              <a:t>            int nb = atoi(b);</a:t>
            </a:r>
            <a:endParaRPr/>
          </a:p>
          <a:p>
            <a:pPr>
              <a:lnSpc>
                <a:spcPct val="100000"/>
              </a:lnSpc>
              <a:spcBef>
                <a:spcPts val="0"/>
              </a:spcBef>
              <a:spcAft>
                <a:spcPts val="0"/>
              </a:spcAft>
              <a:defRPr/>
            </a:pPr>
            <a:r>
              <a:rPr sz="950" b="0" i="0">
                <a:solidFill>
                  <a:srgbClr val="24292E"/>
                </a:solidFill>
                <a:latin typeface="Consolas"/>
                <a:ea typeface="Consolas"/>
                <a:cs typeface="Consolas"/>
              </a:rPr>
              <a:t>            if (na &lt; nb)</a:t>
            </a:r>
            <a:endParaRPr/>
          </a:p>
          <a:p>
            <a:pPr>
              <a:lnSpc>
                <a:spcPct val="100000"/>
              </a:lnSpc>
              <a:spcBef>
                <a:spcPts val="0"/>
              </a:spcBef>
              <a:spcAft>
                <a:spcPts val="0"/>
              </a:spcAft>
              <a:defRPr/>
            </a:pPr>
            <a:r>
              <a:rPr sz="950" b="0" i="0">
                <a:solidFill>
                  <a:srgbClr val="24292E"/>
                </a:solidFill>
                <a:latin typeface="Consolas"/>
                <a:ea typeface="Consolas"/>
                <a:cs typeface="Consolas"/>
              </a:rPr>
              <a:t>                result = -1;</a:t>
            </a:r>
            <a:endParaRPr/>
          </a:p>
          <a:p>
            <a:pPr>
              <a:lnSpc>
                <a:spcPct val="100000"/>
              </a:lnSpc>
              <a:spcBef>
                <a:spcPts val="0"/>
              </a:spcBef>
              <a:spcAft>
                <a:spcPts val="0"/>
              </a:spcAft>
              <a:defRPr/>
            </a:pPr>
            <a:r>
              <a:rPr sz="950" b="0" i="0">
                <a:solidFill>
                  <a:srgbClr val="24292E"/>
                </a:solidFill>
                <a:latin typeface="Consolas"/>
                <a:ea typeface="Consolas"/>
                <a:cs typeface="Consolas"/>
              </a:rPr>
              <a:t>            else if (na &gt; nb)</a:t>
            </a:r>
            <a:endParaRPr/>
          </a:p>
          <a:p>
            <a:pPr>
              <a:lnSpc>
                <a:spcPct val="100000"/>
              </a:lnSpc>
              <a:spcBef>
                <a:spcPts val="0"/>
              </a:spcBef>
              <a:spcAft>
                <a:spcPts val="0"/>
              </a:spcAft>
              <a:defRPr/>
            </a:pPr>
            <a:r>
              <a:rPr sz="950" b="0" i="0">
                <a:solidFill>
                  <a:srgbClr val="24292E"/>
                </a:solidFill>
                <a:latin typeface="Consolas"/>
                <a:ea typeface="Consolas"/>
                <a:cs typeface="Consolas"/>
              </a:rPr>
              <a:t>                result = 1;</a:t>
            </a:r>
            <a:endParaRPr/>
          </a:p>
          <a:p>
            <a:pPr>
              <a:lnSpc>
                <a:spcPct val="100000"/>
              </a:lnSpc>
              <a:spcBef>
                <a:spcPts val="0"/>
              </a:spcBef>
              <a:spcAft>
                <a:spcPts val="0"/>
              </a:spcAft>
              <a:defRPr/>
            </a:pPr>
            <a:r>
              <a:rPr sz="950" b="0" i="0">
                <a:solidFill>
                  <a:srgbClr val="24292E"/>
                </a:solidFill>
                <a:latin typeface="Consolas"/>
                <a:ea typeface="Consolas"/>
                <a:cs typeface="Consolas"/>
              </a:rPr>
              <a:t>            else</a:t>
            </a:r>
            <a:endParaRPr/>
          </a:p>
          <a:p>
            <a:pPr>
              <a:lnSpc>
                <a:spcPct val="100000"/>
              </a:lnSpc>
              <a:spcBef>
                <a:spcPts val="0"/>
              </a:spcBef>
              <a:spcAft>
                <a:spcPts val="0"/>
              </a:spcAft>
              <a:defRPr/>
            </a:pPr>
            <a:r>
              <a:rPr sz="950" b="0" i="0">
                <a:solidFill>
                  <a:srgbClr val="24292E"/>
                </a:solidFill>
                <a:latin typeface="Consolas"/>
                <a:ea typeface="Consolas"/>
                <a:cs typeface="Consolas"/>
              </a:rPr>
              <a:t>                result = g_opts.fold_case ? strcasecmp(a, b) : strcmp(a, b);</a:t>
            </a:r>
            <a:endParaRPr/>
          </a:p>
          <a:p>
            <a:pPr>
              <a:lnSpc>
                <a:spcPct val="100000"/>
              </a:lnSpc>
              <a:spcBef>
                <a:spcPts val="0"/>
              </a:spcBef>
              <a:spcAft>
                <a:spcPts val="0"/>
              </a:spcAft>
              <a:defRPr/>
            </a:pPr>
            <a:r>
              <a:rPr sz="950" b="0" i="0">
                <a:solidFill>
                  <a:srgbClr val="24292E"/>
                </a:solidFill>
                <a:latin typeface="Consolas"/>
                <a:ea typeface="Consolas"/>
                <a:cs typeface="Consolas"/>
              </a:rPr>
              <a:t>        ...</a:t>
            </a:r>
            <a:endParaRPr/>
          </a:p>
          <a:p>
            <a:pPr>
              <a:lnSpc>
                <a:spcPct val="100000"/>
              </a:lnSpc>
              <a:spcBef>
                <a:spcPts val="0"/>
              </a:spcBef>
              <a:spcAft>
                <a:spcPts val="0"/>
              </a:spcAft>
              <a:defRPr/>
            </a:pPr>
            <a:r>
              <a:rPr sz="950" b="0" i="0">
                <a:solidFill>
                  <a:srgbClr val="24292E"/>
                </a:solidFill>
                <a:latin typeface="Consolas"/>
                <a:ea typeface="Consolas"/>
                <a:cs typeface="Consolas"/>
              </a:rPr>
              <a:t>    if (g_opts.reverse)</a:t>
            </a:r>
            <a:endParaRPr/>
          </a:p>
          <a:p>
            <a:pPr>
              <a:lnSpc>
                <a:spcPct val="100000"/>
              </a:lnSpc>
              <a:spcBef>
                <a:spcPts val="0"/>
              </a:spcBef>
              <a:spcAft>
                <a:spcPts val="0"/>
              </a:spcAft>
              <a:defRPr/>
            </a:pPr>
            <a:r>
              <a:rPr sz="950" b="0" i="0">
                <a:solidFill>
                  <a:srgbClr val="24292E"/>
                </a:solidFill>
                <a:latin typeface="Consolas"/>
                <a:ea typeface="Consolas"/>
                <a:cs typeface="Consolas"/>
              </a:rPr>
              <a:t>        result = -result;</a:t>
            </a:r>
            <a:endParaRPr/>
          </a:p>
          <a:p>
            <a:pPr>
              <a:lnSpc>
                <a:spcPct val="100000"/>
              </a:lnSpc>
              <a:spcBef>
                <a:spcPts val="0"/>
              </a:spcBef>
              <a:spcAft>
                <a:spcPts val="0"/>
              </a:spcAft>
              <a:defRPr/>
            </a:pPr>
            <a:r>
              <a:rPr sz="950" b="0" i="0">
                <a:solidFill>
                  <a:srgbClr val="24292E"/>
                </a:solidFill>
                <a:latin typeface="Consolas"/>
                <a:ea typeface="Consolas"/>
                <a:cs typeface="Consolas"/>
              </a:rPr>
              <a:t>    return result;</a:t>
            </a:r>
            <a:endParaRPr/>
          </a:p>
          <a:p>
            <a:pPr>
              <a:lnSpc>
                <a:spcPct val="100000"/>
              </a:lnSpc>
              <a:spcBef>
                <a:spcPts val="0"/>
              </a:spcBef>
              <a:spcAft>
                <a:spcPts val="0"/>
              </a:spcAft>
              <a:defRPr/>
            </a:pPr>
            <a:r>
              <a:rPr sz="950" b="0" i="0">
                <a:solidFill>
                  <a:srgbClr val="24292E"/>
                </a:solidFill>
                <a:latin typeface="Consolas"/>
                <a:ea typeface="Consolas"/>
                <a:cs typeface="Consolas"/>
              </a:rPr>
              <a:t>}</a:t>
            </a:r>
            <a:endParaRPr/>
          </a:p>
        </p:txBody>
      </p:sp>
      <p:sp>
        <p:nvSpPr>
          <p:cNvPr id="1352294566" name="TextBox 7"/>
          <p:cNvSpPr txBox="1"/>
          <p:nvPr/>
        </p:nvSpPr>
        <p:spPr bwMode="auto">
          <a:xfrm>
            <a:off x="6172200" y="1536192"/>
            <a:ext cx="5303520" cy="228600"/>
          </a:xfrm>
          <a:prstGeom prst="rect">
            <a:avLst/>
          </a:prstGeom>
          <a:noFill/>
        </p:spPr>
        <p:txBody>
          <a:bodyPr wrap="square" lIns="0" tIns="0" rIns="0" bIns="0">
            <a:spAutoFit/>
          </a:bodyPr>
          <a:lstStyle/>
          <a:p>
            <a:pPr>
              <a:lnSpc>
                <a:spcPct val="135000"/>
              </a:lnSpc>
              <a:spcBef>
                <a:spcPts val="0"/>
              </a:spcBef>
              <a:spcAft>
                <a:spcPts val="0"/>
              </a:spcAft>
              <a:defRPr/>
            </a:pPr>
            <a:r>
              <a:rPr sz="1150" b="1" i="0">
                <a:solidFill>
                  <a:srgbClr val="2E6DA4"/>
                </a:solidFill>
                <a:latin typeface="Segoe UI"/>
                <a:ea typeface="Segoe UI"/>
                <a:cs typeface="Segoe UI"/>
              </a:rPr>
              <a:t>esort.c : cmp_strings()  (L133)</a:t>
            </a:r>
            <a:endParaRPr/>
          </a:p>
        </p:txBody>
      </p:sp>
      <p:sp>
        <p:nvSpPr>
          <p:cNvPr id="837344503" name="TextBox 8"/>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985472406" name="TextBox 9"/>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6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9980257"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761070748"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Idea 2: Arena Memory Pool</a:t>
            </a:r>
            <a:endParaRPr/>
          </a:p>
        </p:txBody>
      </p:sp>
      <p:sp>
        <p:nvSpPr>
          <p:cNvPr id="1242223876"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Fixed-size chained blocks — pointers never dangle, peak never doubles</a:t>
            </a:r>
            <a:endParaRPr/>
          </a:p>
        </p:txBody>
      </p:sp>
      <p:sp>
        <p:nvSpPr>
          <p:cNvPr id="740770281"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393096458" name="TextBox 5"/>
          <p:cNvSpPr txBox="1"/>
          <p:nvPr/>
        </p:nvSpPr>
        <p:spPr bwMode="auto">
          <a:xfrm>
            <a:off x="749808" y="1536192"/>
            <a:ext cx="4985279" cy="3053947"/>
          </a:xfrm>
          <a:prstGeom prst="rect">
            <a:avLst/>
          </a:prstGeom>
          <a:noFill/>
        </p:spPr>
        <p:txBody>
          <a:bodyPr wrap="square" lIns="0" tIns="0" rIns="0" bIns="0">
            <a:spAutoFit/>
          </a:bodyPr>
          <a:lstStyle/>
          <a:p>
            <a:pPr>
              <a:lnSpc>
                <a:spcPct val="135000"/>
              </a:lnSpc>
              <a:spcBef>
                <a:spcPts val="0"/>
              </a:spcBef>
              <a:spcAft>
                <a:spcPts val="800"/>
              </a:spcAft>
              <a:defRPr/>
            </a:pPr>
            <a:r>
              <a:rPr sz="1550" b="1" i="0">
                <a:solidFill>
                  <a:srgbClr val="2E6DA4"/>
                </a:solidFill>
                <a:latin typeface="Segoe UI"/>
                <a:ea typeface="Segoe UI"/>
                <a:cs typeface="Segoe UI"/>
              </a:rPr>
              <a:t>▪  </a:t>
            </a:r>
            <a:r>
              <a:rPr sz="1550" b="1" i="0">
                <a:solidFill>
                  <a:srgbClr val="C0392B"/>
                </a:solidFill>
                <a:latin typeface="Segoe UI"/>
                <a:ea typeface="Segoe UI"/>
                <a:cs typeface="Segoe UI"/>
              </a:rPr>
              <a:t>Problem: </a:t>
            </a:r>
            <a:r>
              <a:rPr sz="1550" b="0" i="0">
                <a:solidFill>
                  <a:srgbClr val="5A5A5A"/>
                </a:solidFill>
                <a:latin typeface="Segoe UI"/>
                <a:ea typeface="Segoe UI"/>
                <a:cs typeface="Segoe UI"/>
              </a:rPr>
              <a:t>the pointer array must grow, so realloc() may move the whole block.</a:t>
            </a:r>
            <a:endParaRPr/>
          </a:p>
          <a:p>
            <a:pPr>
              <a:lnSpc>
                <a:spcPct val="150000"/>
              </a:lnSpc>
              <a:spcBef>
                <a:spcPts val="0"/>
              </a:spcBef>
              <a:spcAft>
                <a:spcPts val="1600"/>
              </a:spcAft>
              <a:defRPr/>
            </a:pPr>
            <a:r>
              <a:rPr sz="1250" b="0" i="0">
                <a:solidFill>
                  <a:srgbClr val="5A5A5A"/>
                </a:solidFill>
                <a:latin typeface="Segoe UI"/>
                <a:ea typeface="Segoe UI"/>
                <a:cs typeface="Segoe UI"/>
              </a:rPr>
              <a:t>1. every pointer is invalidated at once</a:t>
            </a:r>
            <a:br>
              <a:rPr sz="1250" b="0" i="0">
                <a:solidFill>
                  <a:srgbClr val="5A5A5A"/>
                </a:solidFill>
                <a:latin typeface="Segoe UI"/>
                <a:ea typeface="Segoe UI"/>
                <a:cs typeface="Segoe UI"/>
              </a:rPr>
            </a:br>
            <a:r>
              <a:rPr sz="1250" b="0" i="0">
                <a:solidFill>
                  <a:srgbClr val="5A5A5A"/>
                </a:solidFill>
                <a:latin typeface="Segoe UI"/>
                <a:ea typeface="Segoe UI"/>
                <a:cs typeface="Segoe UI"/>
              </a:rPr>
              <a:t>2. during the move both copies exist → peak doubles</a:t>
            </a:r>
            <a:endParaRPr/>
          </a:p>
          <a:p>
            <a:pPr>
              <a:lnSpc>
                <a:spcPct val="135000"/>
              </a:lnSpc>
              <a:spcBef>
                <a:spcPts val="0"/>
              </a:spcBef>
              <a:spcAft>
                <a:spcPts val="800"/>
              </a:spcAft>
              <a:defRPr/>
            </a:pPr>
            <a:r>
              <a:rPr sz="1550" b="1" i="0">
                <a:solidFill>
                  <a:srgbClr val="2E6DA4"/>
                </a:solidFill>
                <a:latin typeface="Segoe UI"/>
                <a:ea typeface="Segoe UI"/>
                <a:cs typeface="Segoe UI"/>
              </a:rPr>
              <a:t>▪  </a:t>
            </a:r>
            <a:r>
              <a:rPr sz="1550" b="1" i="0">
                <a:solidFill>
                  <a:srgbClr val="2E8B57"/>
                </a:solidFill>
                <a:latin typeface="Segoe UI"/>
                <a:ea typeface="Segoe UI"/>
                <a:cs typeface="Segoe UI"/>
              </a:rPr>
              <a:t>Fix: </a:t>
            </a:r>
            <a:r>
              <a:rPr sz="1550" b="0" i="0">
                <a:solidFill>
                  <a:srgbClr val="5A5A5A"/>
                </a:solidFill>
                <a:latin typeface="Segoe UI"/>
                <a:ea typeface="Segoe UI"/>
                <a:cs typeface="Segoe UI"/>
              </a:rPr>
              <a:t>64 KB blocks chained together, never moved.</a:t>
            </a:r>
            <a:endParaRPr/>
          </a:p>
          <a:p>
            <a:pPr>
              <a:lnSpc>
                <a:spcPct val="140000"/>
              </a:lnSpc>
              <a:spcBef>
                <a:spcPts val="0"/>
              </a:spcBef>
              <a:spcAft>
                <a:spcPts val="0"/>
              </a:spcAft>
              <a:defRPr/>
            </a:pPr>
            <a:r>
              <a:rPr sz="1250" b="0" i="0">
                <a:solidFill>
                  <a:srgbClr val="5A5A5A"/>
                </a:solidFill>
                <a:latin typeface="Segoe UI"/>
                <a:ea typeface="Segoe UI"/>
                <a:cs typeface="Segoe UI"/>
              </a:rPr>
              <a:t>A line's pointer stays valid from write until the batch is sorted, and peak memory is fully under our control because I choose the block size.</a:t>
            </a:r>
            <a:endParaRPr/>
          </a:p>
        </p:txBody>
      </p:sp>
      <p:sp>
        <p:nvSpPr>
          <p:cNvPr id="1864472091" name="Rounded Rectangle 6"/>
          <p:cNvSpPr/>
          <p:nvPr/>
        </p:nvSpPr>
        <p:spPr bwMode="auto">
          <a:xfrm>
            <a:off x="868680" y="4658868"/>
            <a:ext cx="4754880" cy="1371600"/>
          </a:xfrm>
          <a:prstGeom prst="roundRect">
            <a:avLst>
              <a:gd name="adj" fmla="val 16667"/>
            </a:avLst>
          </a:prstGeom>
          <a:solidFill>
            <a:srgbClr val="F7F9FB"/>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73152" rtlCol="0" anchor="t"/>
          <a:lstStyle/>
          <a:p>
            <a:pPr algn="ctr">
              <a:lnSpc>
                <a:spcPct val="135000"/>
              </a:lnSpc>
              <a:spcBef>
                <a:spcPts val="0"/>
              </a:spcBef>
              <a:spcAft>
                <a:spcPts val="600"/>
              </a:spcAft>
              <a:defRPr/>
            </a:pPr>
            <a:r>
              <a:rPr sz="1200" b="1" i="0">
                <a:solidFill>
                  <a:srgbClr val="1B2F4B"/>
                </a:solidFill>
                <a:latin typeface="Segoe UI"/>
                <a:ea typeface="Segoe UI"/>
                <a:cs typeface="Segoe UI"/>
              </a:rPr>
              <a:t>ArenaBlock chain (64 KB each, never moved)</a:t>
            </a:r>
            <a:endParaRPr/>
          </a:p>
        </p:txBody>
      </p:sp>
      <p:sp>
        <p:nvSpPr>
          <p:cNvPr id="2013506007" name="Rectangle 7"/>
          <p:cNvSpPr/>
          <p:nvPr/>
        </p:nvSpPr>
        <p:spPr bwMode="auto">
          <a:xfrm>
            <a:off x="1051560" y="5207508"/>
            <a:ext cx="1143000" cy="502920"/>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000" b="0" i="0">
                <a:solidFill>
                  <a:srgbClr val="FFFFFF"/>
                </a:solidFill>
                <a:latin typeface="Segoe UI"/>
                <a:ea typeface="Segoe UI"/>
                <a:cs typeface="Segoe UI"/>
              </a:rPr>
              <a:t>used / size</a:t>
            </a:r>
            <a:endParaRPr/>
          </a:p>
        </p:txBody>
      </p:sp>
      <p:sp>
        <p:nvSpPr>
          <p:cNvPr id="1558456240" name="Rectangle 8"/>
          <p:cNvSpPr/>
          <p:nvPr/>
        </p:nvSpPr>
        <p:spPr bwMode="auto">
          <a:xfrm>
            <a:off x="2331720" y="5207508"/>
            <a:ext cx="1143000" cy="502920"/>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000" b="0" i="0">
                <a:solidFill>
                  <a:srgbClr val="FFFFFF"/>
                </a:solidFill>
                <a:latin typeface="Segoe UI"/>
                <a:ea typeface="Segoe UI"/>
                <a:cs typeface="Segoe UI"/>
              </a:rPr>
              <a:t>used / size</a:t>
            </a:r>
            <a:endParaRPr/>
          </a:p>
        </p:txBody>
      </p:sp>
      <p:sp>
        <p:nvSpPr>
          <p:cNvPr id="594273462" name="Rectangle 9"/>
          <p:cNvSpPr/>
          <p:nvPr/>
        </p:nvSpPr>
        <p:spPr bwMode="auto">
          <a:xfrm>
            <a:off x="3611880" y="5207508"/>
            <a:ext cx="1783080" cy="50292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000" b="0" i="0">
                <a:solidFill>
                  <a:srgbClr val="5A5A5A"/>
                </a:solidFill>
                <a:latin typeface="Segoe UI"/>
                <a:ea typeface="Segoe UI"/>
                <a:cs typeface="Segoe UI"/>
              </a:rPr>
              <a:t>used / size</a:t>
            </a:r>
            <a:endParaRPr/>
          </a:p>
        </p:txBody>
      </p:sp>
      <p:sp>
        <p:nvSpPr>
          <p:cNvPr id="1200881430" name="Rectangle 10"/>
          <p:cNvSpPr/>
          <p:nvPr/>
        </p:nvSpPr>
        <p:spPr bwMode="auto">
          <a:xfrm>
            <a:off x="5989320" y="1783080"/>
            <a:ext cx="5486400" cy="2185924"/>
          </a:xfrm>
          <a:prstGeom prst="rect">
            <a:avLst/>
          </a:prstGeom>
          <a:solidFill>
            <a:srgbClr val="F4F5F7"/>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36576" rtlCol="0" anchor="t"/>
          <a:lstStyle/>
          <a:p>
            <a:pPr algn="ctr">
              <a:lnSpc>
                <a:spcPct val="100000"/>
              </a:lnSpc>
              <a:spcBef>
                <a:spcPts val="0"/>
              </a:spcBef>
              <a:spcAft>
                <a:spcPts val="0"/>
              </a:spcAft>
              <a:defRPr/>
            </a:pPr>
            <a:r>
              <a:rPr sz="1000" b="0" i="0">
                <a:solidFill>
                  <a:srgbClr val="24292E"/>
                </a:solidFill>
                <a:latin typeface="Consolas"/>
                <a:ea typeface="Consolas"/>
                <a:cs typeface="Consolas"/>
              </a:rPr>
              <a:t>#define CHUNK_USED(c) ((c)-&gt;arena_bytes + (c)-&gt;lines_cap * sizeof(char *))</a:t>
            </a:r>
            <a:endParaRPr/>
          </a:p>
          <a:p>
            <a:pPr>
              <a:lnSpc>
                <a:spcPct val="100000"/>
              </a:lnSpc>
              <a:spcBef>
                <a:spcPts val="0"/>
              </a:spcBef>
              <a:spcAft>
                <a:spcPts val="0"/>
              </a:spcAft>
              <a:defRPr/>
            </a:pPr>
            <a:r>
              <a:rPr sz="1000" b="0" i="0">
                <a:solidFill>
                  <a:srgbClr val="24292E"/>
                </a:solidFill>
                <a:latin typeface="Consolas"/>
                <a:ea typeface="Consolas"/>
                <a:cs typeface="Consolas"/>
              </a:rPr>
              <a:t>        ...</a:t>
            </a:r>
            <a:endParaRPr/>
          </a:p>
          <a:p>
            <a:pPr>
              <a:lnSpc>
                <a:spcPct val="100000"/>
              </a:lnSpc>
              <a:spcBef>
                <a:spcPts val="0"/>
              </a:spcBef>
              <a:spcAft>
                <a:spcPts val="0"/>
              </a:spcAft>
              <a:defRPr/>
            </a:pPr>
            <a:r>
              <a:rPr sz="1000" b="0" i="0">
                <a:solidFill>
                  <a:srgbClr val="24292E"/>
                </a:solidFill>
                <a:latin typeface="Consolas"/>
                <a:ea typeface="Consolas"/>
                <a:cs typeface="Consolas"/>
              </a:rPr>
              <a:t>static char *chunk_alloc(Chunk *c, size_t need)</a:t>
            </a:r>
            <a:endParaRPr/>
          </a:p>
          <a:p>
            <a:pPr>
              <a:lnSpc>
                <a:spcPct val="100000"/>
              </a:lnSpc>
              <a:spcBef>
                <a:spcPts val="0"/>
              </a:spcBef>
              <a:spcAft>
                <a:spcPts val="0"/>
              </a:spcAft>
              <a:defRPr/>
            </a:pPr>
            <a:r>
              <a:rPr sz="1000" b="0" i="0">
                <a:solidFill>
                  <a:srgbClr val="24292E"/>
                </a:solidFill>
                <a:latin typeface="Consolas"/>
                <a:ea typeface="Consolas"/>
                <a:cs typeface="Consolas"/>
              </a:rPr>
              <a:t>{</a:t>
            </a:r>
            <a:endParaRPr/>
          </a:p>
          <a:p>
            <a:pPr>
              <a:lnSpc>
                <a:spcPct val="100000"/>
              </a:lnSpc>
              <a:spcBef>
                <a:spcPts val="0"/>
              </a:spcBef>
              <a:spcAft>
                <a:spcPts val="0"/>
              </a:spcAft>
              <a:defRPr/>
            </a:pPr>
            <a:r>
              <a:rPr sz="1000" b="0" i="0">
                <a:solidFill>
                  <a:srgbClr val="24292E"/>
                </a:solidFill>
                <a:latin typeface="Consolas"/>
                <a:ea typeface="Consolas"/>
                <a:cs typeface="Consolas"/>
              </a:rPr>
              <a:t>    ArenaBlock *b;</a:t>
            </a:r>
            <a:endParaRPr/>
          </a:p>
          <a:p>
            <a:pPr>
              <a:lnSpc>
                <a:spcPct val="100000"/>
              </a:lnSpc>
              <a:spcBef>
                <a:spcPts val="0"/>
              </a:spcBef>
              <a:spcAft>
                <a:spcPts val="0"/>
              </a:spcAft>
              <a:defRPr/>
            </a:pPr>
            <a:r>
              <a:rPr sz="1000" b="0" i="0">
                <a:solidFill>
                  <a:srgbClr val="24292E"/>
                </a:solidFill>
                <a:latin typeface="Consolas"/>
                <a:ea typeface="Consolas"/>
                <a:cs typeface="Consolas"/>
              </a:rPr>
              <a:t>    size_t block_size;</a:t>
            </a:r>
            <a:endParaRPr/>
          </a:p>
          <a:p>
            <a:pPr>
              <a:lnSpc>
                <a:spcPct val="100000"/>
              </a:lnSpc>
              <a:spcBef>
                <a:spcPts val="0"/>
              </a:spcBef>
              <a:spcAft>
                <a:spcPts val="0"/>
              </a:spcAft>
              <a:defRPr/>
            </a:pPr>
            <a:r>
              <a:rPr sz="1000" b="0" i="0">
                <a:solidFill>
                  <a:srgbClr val="24292E"/>
                </a:solidFill>
                <a:latin typeface="Consolas"/>
                <a:ea typeface="Consolas"/>
                <a:cs typeface="Consolas"/>
              </a:rPr>
              <a:t>    char  *p;</a:t>
            </a:r>
            <a:endParaRPr/>
          </a:p>
          <a:p>
            <a:pPr>
              <a:lnSpc>
                <a:spcPct val="100000"/>
              </a:lnSpc>
              <a:spcBef>
                <a:spcPts val="0"/>
              </a:spcBef>
              <a:spcAft>
                <a:spcPts val="0"/>
              </a:spcAft>
              <a:defRPr/>
            </a:pPr>
            <a:r>
              <a:rPr sz="1000" b="0" i="0">
                <a:solidFill>
                  <a:srgbClr val="24292E"/>
                </a:solidFill>
                <a:latin typeface="Consolas"/>
                <a:ea typeface="Consolas"/>
                <a:cs typeface="Consolas"/>
              </a:rPr>
              <a:t>    if (need == 0)</a:t>
            </a:r>
            <a:endParaRPr/>
          </a:p>
          <a:p>
            <a:pPr>
              <a:lnSpc>
                <a:spcPct val="100000"/>
              </a:lnSpc>
              <a:spcBef>
                <a:spcPts val="0"/>
              </a:spcBef>
              <a:spcAft>
                <a:spcPts val="0"/>
              </a:spcAft>
              <a:defRPr/>
            </a:pPr>
            <a:r>
              <a:rPr sz="1000" b="0" i="0">
                <a:solidFill>
                  <a:srgbClr val="24292E"/>
                </a:solidFill>
                <a:latin typeface="Consolas"/>
                <a:ea typeface="Consolas"/>
                <a:cs typeface="Consolas"/>
              </a:rPr>
              <a:t>        need = 1;                    /* 空字串仍需要 NUL */</a:t>
            </a:r>
            <a:endParaRPr/>
          </a:p>
          <a:p>
            <a:pPr>
              <a:lnSpc>
                <a:spcPct val="100000"/>
              </a:lnSpc>
              <a:spcBef>
                <a:spcPts val="0"/>
              </a:spcBef>
              <a:spcAft>
                <a:spcPts val="0"/>
              </a:spcAft>
              <a:defRPr/>
            </a:pPr>
            <a:r>
              <a:rPr sz="1000" b="0" i="0">
                <a:solidFill>
                  <a:srgbClr val="24292E"/>
                </a:solidFill>
                <a:latin typeface="Consolas"/>
                <a:ea typeface="Consolas"/>
                <a:cs typeface="Consolas"/>
              </a:rPr>
              <a:t>    if (c-&gt;nlines &gt;= c-&gt;lines_cap) {</a:t>
            </a:r>
            <a:endParaRPr/>
          </a:p>
          <a:p>
            <a:pPr>
              <a:lnSpc>
                <a:spcPct val="100000"/>
              </a:lnSpc>
              <a:spcBef>
                <a:spcPts val="0"/>
              </a:spcBef>
              <a:spcAft>
                <a:spcPts val="0"/>
              </a:spcAft>
              <a:defRPr/>
            </a:pPr>
            <a:r>
              <a:rPr sz="1000" b="0" i="0">
                <a:solidFill>
                  <a:srgbClr val="24292E"/>
                </a:solidFill>
                <a:latin typeface="Consolas"/>
                <a:ea typeface="Consolas"/>
                <a:cs typeface="Consolas"/>
              </a:rPr>
              <a:t>        size_t newcap = chunk_next_cap(c);</a:t>
            </a:r>
            <a:endParaRPr/>
          </a:p>
          <a:p>
            <a:pPr>
              <a:lnSpc>
                <a:spcPct val="100000"/>
              </a:lnSpc>
              <a:spcBef>
                <a:spcPts val="0"/>
              </a:spcBef>
              <a:spcAft>
                <a:spcPts val="0"/>
              </a:spcAft>
              <a:defRPr/>
            </a:pPr>
            <a:r>
              <a:rPr sz="1000" b="0" i="0">
                <a:solidFill>
                  <a:srgbClr val="24292E"/>
                </a:solidFill>
                <a:latin typeface="Consolas"/>
                <a:ea typeface="Consolas"/>
                <a:cs typeface="Consolas"/>
              </a:rPr>
              <a:t>        size_t grow   = (newcap - c-&gt;lines_cap) * sizeof(char *);</a:t>
            </a:r>
            <a:endParaRPr/>
          </a:p>
          <a:p>
            <a:pPr>
              <a:lnSpc>
                <a:spcPct val="100000"/>
              </a:lnSpc>
              <a:spcBef>
                <a:spcPts val="0"/>
              </a:spcBef>
              <a:spcAft>
                <a:spcPts val="0"/>
              </a:spcAft>
              <a:defRPr/>
            </a:pPr>
            <a:r>
              <a:rPr sz="1000" b="0" i="0">
                <a:solidFill>
                  <a:srgbClr val="24292E"/>
                </a:solidFill>
                <a:latin typeface="Consolas"/>
                <a:ea typeface="Consolas"/>
                <a:cs typeface="Consolas"/>
              </a:rPr>
              <a:t>        if (CHUNK_USED(c) + grow + need &gt; c-&gt;budget)</a:t>
            </a:r>
            <a:endParaRPr/>
          </a:p>
        </p:txBody>
      </p:sp>
      <p:sp>
        <p:nvSpPr>
          <p:cNvPr id="2092064486" name="TextBox 11"/>
          <p:cNvSpPr txBox="1"/>
          <p:nvPr/>
        </p:nvSpPr>
        <p:spPr bwMode="auto">
          <a:xfrm>
            <a:off x="5989320" y="1536192"/>
            <a:ext cx="5486400" cy="228600"/>
          </a:xfrm>
          <a:prstGeom prst="rect">
            <a:avLst/>
          </a:prstGeom>
          <a:noFill/>
        </p:spPr>
        <p:txBody>
          <a:bodyPr wrap="square" lIns="0" tIns="0" rIns="0" bIns="0">
            <a:spAutoFit/>
          </a:bodyPr>
          <a:lstStyle/>
          <a:p>
            <a:pPr>
              <a:lnSpc>
                <a:spcPct val="135000"/>
              </a:lnSpc>
              <a:spcBef>
                <a:spcPts val="0"/>
              </a:spcBef>
              <a:spcAft>
                <a:spcPts val="0"/>
              </a:spcAft>
              <a:defRPr/>
            </a:pPr>
            <a:r>
              <a:rPr sz="1150" b="1" i="0">
                <a:solidFill>
                  <a:srgbClr val="2E6DA4"/>
                </a:solidFill>
                <a:latin typeface="Segoe UI"/>
                <a:ea typeface="Segoe UI"/>
                <a:cs typeface="Segoe UI"/>
              </a:rPr>
              <a:t>esort.c : CHUNK_USED + chunk_alloc()  (L450)</a:t>
            </a:r>
            <a:endParaRPr/>
          </a:p>
        </p:txBody>
      </p:sp>
      <p:sp>
        <p:nvSpPr>
          <p:cNvPr id="1958816588" name="Rounded Rectangle 12"/>
          <p:cNvSpPr/>
          <p:nvPr/>
        </p:nvSpPr>
        <p:spPr bwMode="auto">
          <a:xfrm>
            <a:off x="5989320" y="4197604"/>
            <a:ext cx="5486400" cy="822960"/>
          </a:xfrm>
          <a:prstGeom prst="roundRect">
            <a:avLst>
              <a:gd name="adj" fmla="val 16667"/>
            </a:avLst>
          </a:prstGeom>
          <a:solidFill>
            <a:srgbClr val="FFF6EC"/>
          </a:solidFill>
          <a:ln w="15875">
            <a:solidFill>
              <a:srgbClr val="E06C2E"/>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28016" bIns="73152" rtlCol="0" anchor="ctr"/>
          <a:lstStyle/>
          <a:p>
            <a:pPr algn="ctr">
              <a:lnSpc>
                <a:spcPct val="130000"/>
              </a:lnSpc>
              <a:spcBef>
                <a:spcPts val="0"/>
              </a:spcBef>
              <a:spcAft>
                <a:spcPts val="0"/>
              </a:spcAft>
              <a:defRPr/>
            </a:pPr>
            <a:r>
              <a:rPr sz="1300" b="1" i="0">
                <a:solidFill>
                  <a:srgbClr val="E06C2E"/>
                </a:solidFill>
                <a:latin typeface="Segoe UI"/>
                <a:ea typeface="Segoe UI"/>
                <a:cs typeface="Segoe UI"/>
              </a:rPr>
              <a:t>Pointers count too! </a:t>
            </a:r>
            <a:r>
              <a:rPr sz="1300" b="0" i="0">
                <a:solidFill>
                  <a:srgbClr val="5A5A5A"/>
                </a:solidFill>
                <a:latin typeface="Segoe UI"/>
                <a:ea typeface="Segoe UI"/>
                <a:cs typeface="Segoe UI"/>
              </a:rPr>
              <a:t>the spec counts dynamically allocated arrays; capacity grows as a power of two, so it gets expensive.</a:t>
            </a:r>
            <a:endParaRPr/>
          </a:p>
        </p:txBody>
      </p:sp>
      <p:sp>
        <p:nvSpPr>
          <p:cNvPr id="1750408523" name="TextBox 13"/>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1143002613" name="TextBox 14"/>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7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3292684"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77327813"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Idea 3: Splitting the Budget and Deriving k</a:t>
            </a:r>
            <a:endParaRPr/>
          </a:p>
        </p:txBody>
      </p:sp>
      <p:sp>
        <p:nvSpPr>
          <p:cNvPr id="129092837"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k is not hard-coded — small -m degrades instead of crashing</a:t>
            </a:r>
            <a:endParaRPr/>
          </a:p>
        </p:txBody>
      </p:sp>
      <p:sp>
        <p:nvSpPr>
          <p:cNvPr id="1189302916"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417736158" name="TextBox 5"/>
          <p:cNvSpPr txBox="1"/>
          <p:nvPr/>
        </p:nvSpPr>
        <p:spPr bwMode="auto">
          <a:xfrm>
            <a:off x="749808" y="1536192"/>
            <a:ext cx="5852160" cy="2286000"/>
          </a:xfrm>
          <a:prstGeom prst="rect">
            <a:avLst/>
          </a:prstGeom>
          <a:noFill/>
        </p:spPr>
        <p:txBody>
          <a:bodyPr wrap="square" lIns="0" tIns="0" rIns="0" bIns="0">
            <a:spAutoFit/>
          </a:bodyPr>
          <a:lstStyle/>
          <a:p>
            <a:pPr>
              <a:lnSpc>
                <a:spcPct val="135000"/>
              </a:lnSpc>
              <a:spcBef>
                <a:spcPts val="0"/>
              </a:spcBef>
              <a:spcAft>
                <a:spcPts val="800"/>
              </a:spcAft>
              <a:defRPr/>
            </a:pPr>
            <a:r>
              <a:rPr sz="1550" b="1" i="0">
                <a:solidFill>
                  <a:srgbClr val="2E6DA4"/>
                </a:solidFill>
                <a:latin typeface="Segoe UI"/>
                <a:ea typeface="Segoe UI"/>
                <a:cs typeface="Segoe UI"/>
              </a:rPr>
              <a:t>▪  </a:t>
            </a:r>
            <a:r>
              <a:rPr sz="1550" b="1" i="0">
                <a:solidFill>
                  <a:srgbClr val="1B2F4B"/>
                </a:solidFill>
                <a:latin typeface="Segoe UI"/>
                <a:ea typeface="Segoe UI"/>
                <a:cs typeface="Segoe UI"/>
              </a:rPr>
              <a:t>Budget: </a:t>
            </a:r>
            <a:r>
              <a:rPr sz="1550" b="0" i="0">
                <a:solidFill>
                  <a:srgbClr val="5A5A5A"/>
                </a:solidFill>
                <a:latin typeface="Segoe UI"/>
                <a:ea typeface="Segoe UI"/>
                <a:cs typeface="Segoe UI"/>
              </a:rPr>
              <a:t>every run stays open during merging, each with an 8 KB read buffer and a 4 KB line buffer.</a:t>
            </a:r>
            <a:endParaRPr/>
          </a:p>
          <a:p>
            <a:pPr>
              <a:lnSpc>
                <a:spcPct val="140000"/>
              </a:lnSpc>
              <a:spcBef>
                <a:spcPts val="0"/>
              </a:spcBef>
              <a:spcAft>
                <a:spcPts val="1600"/>
              </a:spcAft>
              <a:defRPr/>
            </a:pPr>
            <a:r>
              <a:rPr sz="1250" b="0" i="0">
                <a:solidFill>
                  <a:srgbClr val="5A5A5A"/>
                </a:solidFill>
                <a:latin typeface="Segoe UI"/>
                <a:ea typeface="Segoe UI"/>
                <a:cs typeface="Segoe UI"/>
              </a:rPr>
              <a:t>That memory must be reserved before phase one even finishes, or we read everything and only then find none is left.</a:t>
            </a:r>
            <a:endParaRPr/>
          </a:p>
          <a:p>
            <a:pPr>
              <a:lnSpc>
                <a:spcPct val="135000"/>
              </a:lnSpc>
              <a:spcBef>
                <a:spcPts val="0"/>
              </a:spcBef>
              <a:spcAft>
                <a:spcPts val="800"/>
              </a:spcAft>
              <a:defRPr/>
            </a:pPr>
            <a:r>
              <a:rPr sz="1550" b="1" i="0">
                <a:solidFill>
                  <a:srgbClr val="2E6DA4"/>
                </a:solidFill>
                <a:latin typeface="Segoe UI"/>
                <a:ea typeface="Segoe UI"/>
                <a:cs typeface="Segoe UI"/>
              </a:rPr>
              <a:t>✗  </a:t>
            </a:r>
            <a:r>
              <a:rPr sz="1550" b="1" i="0">
                <a:solidFill>
                  <a:srgbClr val="C0392B"/>
                </a:solidFill>
                <a:latin typeface="Segoe UI"/>
                <a:ea typeface="Segoe UI"/>
                <a:cs typeface="Segoe UI"/>
              </a:rPr>
              <a:t>Classic bug: </a:t>
            </a:r>
            <a:r>
              <a:rPr sz="1550" b="0" i="0">
                <a:solidFill>
                  <a:srgbClr val="5A5A5A"/>
                </a:solidFill>
                <a:latin typeface="Segoe UI"/>
                <a:ea typeface="Segoe UI"/>
                <a:cs typeface="Segoe UI"/>
              </a:rPr>
              <a:t>hard-coding k = 512 costs 512 × 12 KB ≈ 6 MB on its own; with -m 1 it simply does not fit.</a:t>
            </a:r>
            <a:endParaRPr/>
          </a:p>
          <a:p>
            <a:pPr>
              <a:lnSpc>
                <a:spcPct val="135000"/>
              </a:lnSpc>
              <a:spcBef>
                <a:spcPts val="0"/>
              </a:spcBef>
              <a:spcAft>
                <a:spcPts val="0"/>
              </a:spcAft>
              <a:defRPr/>
            </a:pPr>
            <a:r>
              <a:rPr sz="1550" b="1" i="0">
                <a:solidFill>
                  <a:srgbClr val="2E6DA4"/>
                </a:solidFill>
                <a:latin typeface="Segoe UI"/>
                <a:ea typeface="Segoe UI"/>
                <a:cs typeface="Segoe UI"/>
              </a:rPr>
              <a:t>✓  </a:t>
            </a:r>
            <a:r>
              <a:rPr sz="1550" b="1" i="0">
                <a:solidFill>
                  <a:srgbClr val="2E8B57"/>
                </a:solidFill>
                <a:latin typeface="Segoe UI"/>
                <a:ea typeface="Segoe UI"/>
                <a:cs typeface="Segoe UI"/>
              </a:rPr>
              <a:t>Fix: </a:t>
            </a:r>
            <a:r>
              <a:rPr sz="1550" b="0" i="0">
                <a:solidFill>
                  <a:srgbClr val="5A5A5A"/>
                </a:solidFill>
                <a:latin typeface="Segoe UI"/>
                <a:ea typeface="Segoe UI"/>
                <a:cs typeface="Segoe UI"/>
              </a:rPr>
              <a:t>derive k from the budget, cap at 512, and fall back to multi-pass merging.</a:t>
            </a:r>
            <a:endParaRPr/>
          </a:p>
        </p:txBody>
      </p:sp>
      <p:graphicFrame>
        <p:nvGraphicFramePr>
          <p:cNvPr id="1142283438" name="Table 6"/>
          <p:cNvGraphicFramePr>
            <a:graphicFrameLocks xmlns:a="http://schemas.openxmlformats.org/drawingml/2006/main" noGrp="1"/>
          </p:cNvGraphicFramePr>
          <p:nvPr/>
        </p:nvGraphicFramePr>
        <p:xfrm rot="0">
          <a:off x="749808" y="4538470"/>
          <a:ext cx="5852158" cy="1819656"/>
        </p:xfrm>
        <a:graphic>
          <a:graphicData uri="http://schemas.openxmlformats.org/drawingml/2006/table">
            <a:tbl>
              <a:tblPr firstRow="1" firstCol="0" lastRow="0" lastCol="0" bandRow="1" bandCol="0">
                <a:tableStyleId>{5C22544A-7EE6-4342-B048-85BDC9FD1C3A}</a:tableStyleId>
              </a:tblPr>
              <a:tblGrid>
                <a:gridCol w="721499"/>
                <a:gridCol w="881832"/>
                <a:gridCol w="1202498"/>
                <a:gridCol w="1282665"/>
                <a:gridCol w="1763664"/>
              </a:tblGrid>
              <a:tr h="283464">
                <a:tc>
                  <a:txBody>
                    <a:bodyPr/>
                    <a:p>
                      <a:pPr>
                        <a:defRPr/>
                      </a:pPr>
                      <a:r>
                        <a:rPr sz="1200" b="1" i="0">
                          <a:solidFill>
                            <a:srgbClr val="FFFFFF"/>
                          </a:solidFill>
                          <a:latin typeface="Segoe UI"/>
                          <a:ea typeface="Segoe UI"/>
                          <a:cs typeface="Segoe UI"/>
                        </a:rPr>
                        <a:t>-m</a:t>
                      </a:r>
                      <a:endParaRPr/>
                    </a:p>
                  </a:txBody>
                  <a:tcPr marL="91440" marR="54864" marT="18288" marB="18288" anchor="ctr">
                    <a:solidFill>
                      <a:srgbClr val="1B2F4B"/>
                    </a:solidFill>
                  </a:tcPr>
                </a:tc>
                <a:tc>
                  <a:txBody>
                    <a:bodyPr/>
                    <a:p>
                      <a:pPr>
                        <a:defRPr/>
                      </a:pPr>
                      <a:r>
                        <a:rPr sz="1200" b="1" i="0">
                          <a:solidFill>
                            <a:srgbClr val="FFFFFF"/>
                          </a:solidFill>
                          <a:latin typeface="Segoe UI"/>
                          <a:ea typeface="Segoe UI"/>
                          <a:cs typeface="Segoe UI"/>
                        </a:rPr>
                        <a:t>derived k</a:t>
                      </a:r>
                      <a:endParaRPr/>
                    </a:p>
                  </a:txBody>
                  <a:tcPr marL="91440" marR="54864" marT="18288" marB="18288" anchor="ctr">
                    <a:solidFill>
                      <a:srgbClr val="1B2F4B"/>
                    </a:solidFill>
                  </a:tcPr>
                </a:tc>
                <a:tc>
                  <a:txBody>
                    <a:bodyPr/>
                    <a:p>
                      <a:pPr>
                        <a:defRPr/>
                      </a:pPr>
                      <a:r>
                        <a:rPr sz="1200" b="1" i="0">
                          <a:solidFill>
                            <a:srgbClr val="FFFFFF"/>
                          </a:solidFill>
                          <a:latin typeface="Segoe UI"/>
                          <a:ea typeface="Segoe UI"/>
                          <a:cs typeface="Segoe UI"/>
                        </a:rPr>
                        <a:t>merge reserve</a:t>
                      </a:r>
                      <a:endParaRPr/>
                    </a:p>
                  </a:txBody>
                  <a:tcPr marL="91440" marR="54864" marT="18288" marB="18288" anchor="ctr">
                    <a:solidFill>
                      <a:srgbClr val="1B2F4B"/>
                    </a:solidFill>
                  </a:tcPr>
                </a:tc>
                <a:tc>
                  <a:txBody>
                    <a:bodyPr/>
                    <a:p>
                      <a:pPr>
                        <a:defRPr/>
                      </a:pPr>
                      <a:r>
                        <a:rPr sz="1200" b="1" i="0">
                          <a:solidFill>
                            <a:srgbClr val="FFFFFF"/>
                          </a:solidFill>
                          <a:latin typeface="Segoe UI"/>
                          <a:ea typeface="Segoe UI"/>
                          <a:cs typeface="Segoe UI"/>
                        </a:rPr>
                        <a:t>phase 1 budget</a:t>
                      </a:r>
                      <a:endParaRPr/>
                    </a:p>
                  </a:txBody>
                  <a:tcPr marL="91440" marR="54864" marT="18288" marB="18288" anchor="ctr">
                    <a:solidFill>
                      <a:srgbClr val="1B2F4B"/>
                    </a:solidFill>
                  </a:tcPr>
                </a:tc>
                <a:tc>
                  <a:txBody>
                    <a:bodyPr/>
                    <a:p>
                      <a:pPr>
                        <a:defRPr/>
                      </a:pPr>
                      <a:r>
                        <a:rPr sz="1200" b="1" i="0">
                          <a:solidFill>
                            <a:srgbClr val="FFFFFF"/>
                          </a:solidFill>
                          <a:latin typeface="Segoe UI"/>
                          <a:ea typeface="Segoe UI"/>
                          <a:cs typeface="Segoe UI"/>
                        </a:rPr>
                        <a:t>runs &gt; k ?</a:t>
                      </a:r>
                      <a:endParaRPr/>
                    </a:p>
                  </a:txBody>
                  <a:tcPr marL="91440" marR="54864" marT="18288" marB="18288" anchor="ctr">
                    <a:solidFill>
                      <a:srgbClr val="1B2F4B"/>
                    </a:solidFill>
                  </a:tcPr>
                </a:tc>
              </a:tr>
              <a:tr h="283464">
                <a:tc>
                  <a:txBody>
                    <a:bodyPr/>
                    <a:p>
                      <a:pPr>
                        <a:defRPr/>
                      </a:pPr>
                      <a:r>
                        <a:rPr sz="1200" b="1" i="0">
                          <a:solidFill>
                            <a:srgbClr val="5A5A5A"/>
                          </a:solidFill>
                          <a:latin typeface="Segoe UI"/>
                          <a:ea typeface="Segoe UI"/>
                          <a:cs typeface="Segoe UI"/>
                        </a:rPr>
                        <a:t>100</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512</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6.16 MB</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93.84 MB</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no</a:t>
                      </a:r>
                      <a:endParaRPr/>
                    </a:p>
                  </a:txBody>
                  <a:tcPr marL="91440" marR="54864" marT="18288" marB="18288" anchor="ctr">
                    <a:solidFill>
                      <a:srgbClr val="FFFFFF"/>
                    </a:solidFill>
                  </a:tcPr>
                </a:tc>
              </a:tr>
              <a:tr h="283464">
                <a:tc>
                  <a:txBody>
                    <a:bodyPr/>
                    <a:p>
                      <a:pPr>
                        <a:defRPr/>
                      </a:pPr>
                      <a:r>
                        <a:rPr sz="1200" b="1" i="0">
                          <a:solidFill>
                            <a:srgbClr val="5A5A5A"/>
                          </a:solidFill>
                          <a:latin typeface="Segoe UI"/>
                          <a:ea typeface="Segoe UI"/>
                          <a:cs typeface="Segoe UI"/>
                        </a:rPr>
                        <a:t>16</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512</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6.16 MB</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9.84 MB</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no</a:t>
                      </a:r>
                      <a:endParaRPr/>
                    </a:p>
                  </a:txBody>
                  <a:tcPr marL="91440" marR="54864" marT="18288" marB="18288" anchor="ctr">
                    <a:solidFill>
                      <a:srgbClr val="F2F5F8"/>
                    </a:solidFill>
                  </a:tcPr>
                </a:tc>
              </a:tr>
              <a:tr h="283464">
                <a:tc>
                  <a:txBody>
                    <a:bodyPr/>
                    <a:p>
                      <a:pPr>
                        <a:defRPr/>
                      </a:pPr>
                      <a:r>
                        <a:rPr sz="1200" b="1" i="0">
                          <a:solidFill>
                            <a:srgbClr val="5A5A5A"/>
                          </a:solidFill>
                          <a:latin typeface="Segoe UI"/>
                          <a:ea typeface="Segoe UI"/>
                          <a:cs typeface="Segoe UI"/>
                        </a:rPr>
                        <a:t>8</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328</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3.99 MB</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4.01 MB</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no</a:t>
                      </a:r>
                      <a:endParaRPr/>
                    </a:p>
                  </a:txBody>
                  <a:tcPr marL="91440" marR="54864" marT="18288" marB="18288" anchor="ctr">
                    <a:solidFill>
                      <a:srgbClr val="FFFFFF"/>
                    </a:solidFill>
                  </a:tcPr>
                </a:tc>
              </a:tr>
              <a:tr h="283464">
                <a:tc>
                  <a:txBody>
                    <a:bodyPr/>
                    <a:p>
                      <a:pPr>
                        <a:defRPr/>
                      </a:pPr>
                      <a:r>
                        <a:rPr sz="1200" b="1" i="0">
                          <a:solidFill>
                            <a:srgbClr val="5A5A5A"/>
                          </a:solidFill>
                          <a:latin typeface="Segoe UI"/>
                          <a:ea typeface="Segoe UI"/>
                          <a:cs typeface="Segoe UI"/>
                        </a:rPr>
                        <a:t>4</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158</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1.99 MB</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2.01 MB</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no</a:t>
                      </a:r>
                      <a:endParaRPr/>
                    </a:p>
                  </a:txBody>
                  <a:tcPr marL="91440" marR="54864" marT="18288" marB="18288" anchor="ctr">
                    <a:solidFill>
                      <a:srgbClr val="F2F5F8"/>
                    </a:solidFill>
                  </a:tcPr>
                </a:tc>
              </a:tr>
              <a:tr h="283464">
                <a:tc>
                  <a:txBody>
                    <a:bodyPr/>
                    <a:p>
                      <a:pPr>
                        <a:defRPr/>
                      </a:pPr>
                      <a:r>
                        <a:rPr sz="1200" b="1" i="0">
                          <a:solidFill>
                            <a:srgbClr val="5A5A5A"/>
                          </a:solidFill>
                          <a:latin typeface="Segoe UI"/>
                          <a:ea typeface="Segoe UI"/>
                          <a:cs typeface="Segoe UI"/>
                        </a:rPr>
                        <a:t>1</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31</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0.49 MB</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0.51 MB</a:t>
                      </a:r>
                      <a:endParaRPr/>
                    </a:p>
                  </a:txBody>
                  <a:tcPr marL="91440" marR="54864" marT="18288" marB="18288" anchor="ctr">
                    <a:solidFill>
                      <a:srgbClr val="FFFFFF"/>
                    </a:solidFill>
                  </a:tcPr>
                </a:tc>
                <a:tc>
                  <a:txBody>
                    <a:bodyPr/>
                    <a:p>
                      <a:pPr>
                        <a:defRPr/>
                      </a:pPr>
                      <a:r>
                        <a:rPr sz="1200" b="0" i="0">
                          <a:solidFill>
                            <a:srgbClr val="E06C2E"/>
                          </a:solidFill>
                          <a:latin typeface="Segoe UI"/>
                          <a:ea typeface="Segoe UI"/>
                          <a:cs typeface="Segoe UI"/>
                        </a:rPr>
                        <a:t>yes → multi-pass</a:t>
                      </a:r>
                      <a:endParaRPr/>
                    </a:p>
                  </a:txBody>
                  <a:tcPr marL="91440" marR="54864" marT="18288" marB="18288" anchor="ctr">
                    <a:solidFill>
                      <a:srgbClr val="FFFFFF"/>
                    </a:solidFill>
                  </a:tcPr>
                </a:tc>
              </a:tr>
            </a:tbl>
          </a:graphicData>
        </a:graphic>
      </p:graphicFrame>
      <p:sp>
        <p:nvSpPr>
          <p:cNvPr id="828431650" name="Rectangle 7"/>
          <p:cNvSpPr/>
          <p:nvPr/>
        </p:nvSpPr>
        <p:spPr bwMode="auto">
          <a:xfrm>
            <a:off x="6812280" y="1783080"/>
            <a:ext cx="4663440" cy="2755391"/>
          </a:xfrm>
          <a:prstGeom prst="rect">
            <a:avLst/>
          </a:prstGeom>
          <a:solidFill>
            <a:srgbClr val="F4F5F7"/>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36576" rtlCol="0" anchor="t"/>
          <a:lstStyle/>
          <a:p>
            <a:pPr algn="ctr">
              <a:lnSpc>
                <a:spcPct val="100000"/>
              </a:lnSpc>
              <a:spcBef>
                <a:spcPts val="0"/>
              </a:spcBef>
              <a:spcAft>
                <a:spcPts val="0"/>
              </a:spcAft>
              <a:defRPr/>
            </a:pPr>
            <a:r>
              <a:rPr sz="1050" b="0" i="0">
                <a:solidFill>
                  <a:srgbClr val="24292E"/>
                </a:solidFill>
                <a:latin typeface="Consolas"/>
                <a:ea typeface="Consolas"/>
                <a:cs typeface="Consolas"/>
              </a:rPr>
              <a:t>static size_t calc_fanin(size_t mem_limit)</a:t>
            </a:r>
            <a:endParaRPr/>
          </a:p>
          <a:p>
            <a:pPr>
              <a:lnSpc>
                <a:spcPct val="100000"/>
              </a:lnSpc>
              <a:spcBef>
                <a:spcPts val="0"/>
              </a:spcBef>
              <a:spcAft>
                <a:spcPts val="0"/>
              </a:spcAft>
              <a:defRPr/>
            </a:pPr>
            <a:r>
              <a:rPr sz="1050" b="0" i="0">
                <a:solidFill>
                  <a:srgbClr val="24292E"/>
                </a:solidFill>
                <a:latin typeface="Consolas"/>
                <a:ea typeface="Consolas"/>
                <a:cs typeface="Consolas"/>
              </a:rPr>
              <a:t>{</a:t>
            </a:r>
            <a:endParaRPr/>
          </a:p>
          <a:p>
            <a:pPr>
              <a:lnSpc>
                <a:spcPct val="100000"/>
              </a:lnSpc>
              <a:spcBef>
                <a:spcPts val="0"/>
              </a:spcBef>
              <a:spcAft>
                <a:spcPts val="0"/>
              </a:spcAft>
              <a:defRPr/>
            </a:pPr>
            <a:r>
              <a:rPr sz="1050" b="0" i="0">
                <a:solidFill>
                  <a:srgbClr val="24292E"/>
                </a:solidFill>
                <a:latin typeface="Consolas"/>
                <a:ea typeface="Consolas"/>
                <a:cs typeface="Consolas"/>
              </a:rPr>
              <a:t>    size_t per_run = sizeof(MergeRun) + RUN_READER_BUF_SIZE</a:t>
            </a:r>
            <a:endParaRPr/>
          </a:p>
          <a:p>
            <a:pPr>
              <a:lnSpc>
                <a:spcPct val="100000"/>
              </a:lnSpc>
              <a:spcBef>
                <a:spcPts val="0"/>
              </a:spcBef>
              <a:spcAft>
                <a:spcPts val="0"/>
              </a:spcAft>
              <a:defRPr/>
            </a:pPr>
            <a:r>
              <a:rPr sz="1050" b="0" i="0">
                <a:solidFill>
                  <a:srgbClr val="24292E"/>
                </a:solidFill>
                <a:latin typeface="Consolas"/>
                <a:ea typeface="Consolas"/>
                <a:cs typeface="Consolas"/>
              </a:rPr>
              <a:t>                   + MAX_LINE_LENGTH + sizeof(HeapItem);</a:t>
            </a:r>
            <a:endParaRPr/>
          </a:p>
          <a:p>
            <a:pPr>
              <a:lnSpc>
                <a:spcPct val="100000"/>
              </a:lnSpc>
              <a:spcBef>
                <a:spcPts val="0"/>
              </a:spcBef>
              <a:spcAft>
                <a:spcPts val="0"/>
              </a:spcAft>
              <a:defRPr/>
            </a:pPr>
            <a:r>
              <a:rPr sz="1050" b="0" i="0">
                <a:solidFill>
                  <a:srgbClr val="24292E"/>
                </a:solidFill>
                <a:latin typeface="Consolas"/>
                <a:ea typeface="Consolas"/>
                <a:cs typeface="Consolas"/>
              </a:rPr>
              <a:t>    size_t avail   = mem_limit / 2;               /* 合併階段最多用一半預算 */</a:t>
            </a:r>
            <a:endParaRPr/>
          </a:p>
          <a:p>
            <a:pPr>
              <a:lnSpc>
                <a:spcPct val="100000"/>
              </a:lnSpc>
              <a:spcBef>
                <a:spcPts val="0"/>
              </a:spcBef>
              <a:spcAft>
                <a:spcPts val="0"/>
              </a:spcAft>
              <a:defRPr/>
            </a:pPr>
            <a:r>
              <a:rPr sz="1050" b="0" i="0">
                <a:solidFill>
                  <a:srgbClr val="24292E"/>
                </a:solidFill>
                <a:latin typeface="Consolas"/>
                <a:ea typeface="Consolas"/>
                <a:cs typeface="Consolas"/>
              </a:rPr>
              <a:t>    size_t fanin;</a:t>
            </a:r>
            <a:endParaRPr/>
          </a:p>
          <a:p>
            <a:pPr>
              <a:lnSpc>
                <a:spcPct val="100000"/>
              </a:lnSpc>
              <a:spcBef>
                <a:spcPts val="0"/>
              </a:spcBef>
              <a:spcAft>
                <a:spcPts val="0"/>
              </a:spcAft>
              <a:defRPr/>
            </a:pPr>
            <a:r>
              <a:rPr sz="1050" b="0" i="0">
                <a:solidFill>
                  <a:srgbClr val="24292E"/>
                </a:solidFill>
                <a:latin typeface="Consolas"/>
                <a:ea typeface="Consolas"/>
                <a:cs typeface="Consolas"/>
              </a:rPr>
              <a:t>    if (avail &gt; 2 * IO_BUF_SIZE)</a:t>
            </a:r>
            <a:endParaRPr/>
          </a:p>
          <a:p>
            <a:pPr>
              <a:lnSpc>
                <a:spcPct val="100000"/>
              </a:lnSpc>
              <a:spcBef>
                <a:spcPts val="0"/>
              </a:spcBef>
              <a:spcAft>
                <a:spcPts val="0"/>
              </a:spcAft>
              <a:defRPr/>
            </a:pPr>
            <a:r>
              <a:rPr sz="1050" b="0" i="0">
                <a:solidFill>
                  <a:srgbClr val="24292E"/>
                </a:solidFill>
                <a:latin typeface="Consolas"/>
                <a:ea typeface="Consolas"/>
                <a:cs typeface="Consolas"/>
              </a:rPr>
              <a:t>        fanin = (avail - 2 * IO_BUF_SIZE) / per_run;</a:t>
            </a:r>
            <a:endParaRPr/>
          </a:p>
          <a:p>
            <a:pPr>
              <a:lnSpc>
                <a:spcPct val="100000"/>
              </a:lnSpc>
              <a:spcBef>
                <a:spcPts val="0"/>
              </a:spcBef>
              <a:spcAft>
                <a:spcPts val="0"/>
              </a:spcAft>
              <a:defRPr/>
            </a:pPr>
            <a:r>
              <a:rPr sz="1050" b="0" i="0">
                <a:solidFill>
                  <a:srgbClr val="24292E"/>
                </a:solidFill>
                <a:latin typeface="Consolas"/>
                <a:ea typeface="Consolas"/>
                <a:cs typeface="Consolas"/>
              </a:rPr>
              <a:t>    else</a:t>
            </a:r>
            <a:endParaRPr/>
          </a:p>
          <a:p>
            <a:pPr>
              <a:lnSpc>
                <a:spcPct val="100000"/>
              </a:lnSpc>
              <a:spcBef>
                <a:spcPts val="0"/>
              </a:spcBef>
              <a:spcAft>
                <a:spcPts val="0"/>
              </a:spcAft>
              <a:defRPr/>
            </a:pPr>
            <a:r>
              <a:rPr sz="1050" b="0" i="0">
                <a:solidFill>
                  <a:srgbClr val="24292E"/>
                </a:solidFill>
                <a:latin typeface="Consolas"/>
                <a:ea typeface="Consolas"/>
                <a:cs typeface="Consolas"/>
              </a:rPr>
              <a:t>        fanin = 2;</a:t>
            </a:r>
            <a:endParaRPr/>
          </a:p>
          <a:p>
            <a:pPr>
              <a:lnSpc>
                <a:spcPct val="100000"/>
              </a:lnSpc>
              <a:spcBef>
                <a:spcPts val="0"/>
              </a:spcBef>
              <a:spcAft>
                <a:spcPts val="0"/>
              </a:spcAft>
              <a:defRPr/>
            </a:pPr>
            <a:r>
              <a:rPr sz="1050" b="0" i="0">
                <a:solidFill>
                  <a:srgbClr val="24292E"/>
                </a:solidFill>
                <a:latin typeface="Consolas"/>
                <a:ea typeface="Consolas"/>
                <a:cs typeface="Consolas"/>
              </a:rPr>
              <a:t>    if (fanin &gt; MAX_MERGE_FANIN)</a:t>
            </a:r>
            <a:endParaRPr/>
          </a:p>
          <a:p>
            <a:pPr>
              <a:lnSpc>
                <a:spcPct val="100000"/>
              </a:lnSpc>
              <a:spcBef>
                <a:spcPts val="0"/>
              </a:spcBef>
              <a:spcAft>
                <a:spcPts val="0"/>
              </a:spcAft>
              <a:defRPr/>
            </a:pPr>
            <a:r>
              <a:rPr sz="1050" b="0" i="0">
                <a:solidFill>
                  <a:srgbClr val="24292E"/>
                </a:solidFill>
                <a:latin typeface="Consolas"/>
                <a:ea typeface="Consolas"/>
                <a:cs typeface="Consolas"/>
              </a:rPr>
              <a:t>        fanin = MAX_MERGE_FANIN;</a:t>
            </a:r>
            <a:endParaRPr/>
          </a:p>
          <a:p>
            <a:pPr>
              <a:lnSpc>
                <a:spcPct val="100000"/>
              </a:lnSpc>
              <a:spcBef>
                <a:spcPts val="0"/>
              </a:spcBef>
              <a:spcAft>
                <a:spcPts val="0"/>
              </a:spcAft>
              <a:defRPr/>
            </a:pPr>
            <a:r>
              <a:rPr sz="1050" b="0" i="0">
                <a:solidFill>
                  <a:srgbClr val="24292E"/>
                </a:solidFill>
                <a:latin typeface="Consolas"/>
                <a:ea typeface="Consolas"/>
                <a:cs typeface="Consolas"/>
              </a:rPr>
              <a:t>    if (fanin &lt; 2)</a:t>
            </a:r>
            <a:endParaRPr/>
          </a:p>
          <a:p>
            <a:pPr>
              <a:lnSpc>
                <a:spcPct val="100000"/>
              </a:lnSpc>
              <a:spcBef>
                <a:spcPts val="0"/>
              </a:spcBef>
              <a:spcAft>
                <a:spcPts val="0"/>
              </a:spcAft>
              <a:defRPr/>
            </a:pPr>
            <a:r>
              <a:rPr sz="1050" b="0" i="0">
                <a:solidFill>
                  <a:srgbClr val="24292E"/>
                </a:solidFill>
                <a:latin typeface="Consolas"/>
                <a:ea typeface="Consolas"/>
                <a:cs typeface="Consolas"/>
              </a:rPr>
              <a:t>        fanin = 2;</a:t>
            </a:r>
            <a:endParaRPr/>
          </a:p>
          <a:p>
            <a:pPr>
              <a:lnSpc>
                <a:spcPct val="100000"/>
              </a:lnSpc>
              <a:spcBef>
                <a:spcPts val="0"/>
              </a:spcBef>
              <a:spcAft>
                <a:spcPts val="0"/>
              </a:spcAft>
              <a:defRPr/>
            </a:pPr>
            <a:r>
              <a:rPr sz="1050" b="0" i="0">
                <a:solidFill>
                  <a:srgbClr val="24292E"/>
                </a:solidFill>
                <a:latin typeface="Consolas"/>
                <a:ea typeface="Consolas"/>
                <a:cs typeface="Consolas"/>
              </a:rPr>
              <a:t>    return fanin;</a:t>
            </a:r>
            <a:endParaRPr/>
          </a:p>
          <a:p>
            <a:pPr>
              <a:lnSpc>
                <a:spcPct val="100000"/>
              </a:lnSpc>
              <a:spcBef>
                <a:spcPts val="0"/>
              </a:spcBef>
              <a:spcAft>
                <a:spcPts val="0"/>
              </a:spcAft>
              <a:defRPr/>
            </a:pPr>
            <a:r>
              <a:rPr sz="1050" b="0" i="0">
                <a:solidFill>
                  <a:srgbClr val="24292E"/>
                </a:solidFill>
                <a:latin typeface="Consolas"/>
                <a:ea typeface="Consolas"/>
                <a:cs typeface="Consolas"/>
              </a:rPr>
              <a:t>}</a:t>
            </a:r>
            <a:endParaRPr/>
          </a:p>
        </p:txBody>
      </p:sp>
      <p:sp>
        <p:nvSpPr>
          <p:cNvPr id="1762933411" name="TextBox 8"/>
          <p:cNvSpPr txBox="1"/>
          <p:nvPr/>
        </p:nvSpPr>
        <p:spPr bwMode="auto">
          <a:xfrm>
            <a:off x="6812280" y="1536192"/>
            <a:ext cx="4663440" cy="228600"/>
          </a:xfrm>
          <a:prstGeom prst="rect">
            <a:avLst/>
          </a:prstGeom>
          <a:noFill/>
        </p:spPr>
        <p:txBody>
          <a:bodyPr wrap="square" lIns="0" tIns="0" rIns="0" bIns="0">
            <a:spAutoFit/>
          </a:bodyPr>
          <a:lstStyle/>
          <a:p>
            <a:pPr>
              <a:lnSpc>
                <a:spcPct val="135000"/>
              </a:lnSpc>
              <a:spcBef>
                <a:spcPts val="0"/>
              </a:spcBef>
              <a:spcAft>
                <a:spcPts val="0"/>
              </a:spcAft>
              <a:defRPr/>
            </a:pPr>
            <a:r>
              <a:rPr sz="1150" b="1" i="0">
                <a:solidFill>
                  <a:srgbClr val="2E6DA4"/>
                </a:solidFill>
                <a:latin typeface="Segoe UI"/>
                <a:ea typeface="Segoe UI"/>
                <a:cs typeface="Segoe UI"/>
              </a:rPr>
              <a:t>esort.c : calc_fanin()  (L983)</a:t>
            </a:r>
            <a:endParaRPr/>
          </a:p>
        </p:txBody>
      </p:sp>
      <p:sp>
        <p:nvSpPr>
          <p:cNvPr id="553568524" name="TextBox 9"/>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1500178090" name="TextBox 10"/>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8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595779"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152795341"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Idea 4: Min-Heap Merge with Root Replacement</a:t>
            </a:r>
            <a:endParaRPr/>
          </a:p>
        </p:txBody>
      </p:sp>
      <p:sp>
        <p:nvSpPr>
          <p:cNvPr id="1615619490"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One sift-down per line instead of two passes</a:t>
            </a:r>
            <a:endParaRPr/>
          </a:p>
        </p:txBody>
      </p:sp>
      <p:sp>
        <p:nvSpPr>
          <p:cNvPr id="700354644"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639008272" name="TextBox 5"/>
          <p:cNvSpPr txBox="1"/>
          <p:nvPr/>
        </p:nvSpPr>
        <p:spPr bwMode="auto">
          <a:xfrm>
            <a:off x="749808" y="1536192"/>
            <a:ext cx="5029200" cy="2743200"/>
          </a:xfrm>
          <a:prstGeom prst="rect">
            <a:avLst/>
          </a:prstGeom>
          <a:noFill/>
        </p:spPr>
        <p:txBody>
          <a:bodyPr wrap="square" lIns="0" tIns="0" rIns="0" bIns="0">
            <a:spAutoFit/>
          </a:bodyPr>
          <a:lstStyle/>
          <a:p>
            <a:pPr>
              <a:lnSpc>
                <a:spcPct val="135000"/>
              </a:lnSpc>
              <a:spcBef>
                <a:spcPts val="0"/>
              </a:spcBef>
              <a:spcAft>
                <a:spcPts val="800"/>
              </a:spcAft>
              <a:defRPr/>
            </a:pPr>
            <a:r>
              <a:rPr sz="1550" b="1" i="0">
                <a:solidFill>
                  <a:srgbClr val="2E6DA4"/>
                </a:solidFill>
                <a:latin typeface="Segoe UI"/>
                <a:ea typeface="Segoe UI"/>
                <a:cs typeface="Segoe UI"/>
              </a:rPr>
              <a:t>▪  </a:t>
            </a:r>
            <a:r>
              <a:rPr sz="1550" b="1" i="0">
                <a:solidFill>
                  <a:srgbClr val="5A5A5A"/>
                </a:solidFill>
                <a:latin typeface="Segoe UI"/>
                <a:ea typeface="Segoe UI"/>
                <a:cs typeface="Segoe UI"/>
              </a:rPr>
              <a:t>Textbook: </a:t>
            </a:r>
            <a:r>
              <a:rPr sz="1550" b="0" i="0">
                <a:solidFill>
                  <a:srgbClr val="5A5A5A"/>
                </a:solidFill>
                <a:latin typeface="Segoe UI"/>
                <a:ea typeface="Segoe UI"/>
                <a:cs typeface="Segoe UI"/>
              </a:rPr>
              <a:t>pop the root, write it, push a new item back.</a:t>
            </a:r>
            <a:endParaRPr/>
          </a:p>
          <a:p>
            <a:pPr>
              <a:lnSpc>
                <a:spcPct val="140000"/>
              </a:lnSpc>
              <a:spcBef>
                <a:spcPts val="0"/>
              </a:spcBef>
              <a:spcAft>
                <a:spcPts val="1600"/>
              </a:spcAft>
              <a:defRPr/>
            </a:pPr>
            <a:r>
              <a:rPr sz="1250" b="0" i="0">
                <a:solidFill>
                  <a:srgbClr val="5A5A5A"/>
                </a:solidFill>
                <a:latin typeface="Segoe UI"/>
                <a:ea typeface="Segoe UI"/>
                <a:cs typeface="Segoe UI"/>
              </a:rPr>
              <a:t>pop needs sift_down, push needs sift_up → two heap passes per line.</a:t>
            </a:r>
            <a:endParaRPr/>
          </a:p>
          <a:p>
            <a:pPr>
              <a:lnSpc>
                <a:spcPct val="135000"/>
              </a:lnSpc>
              <a:spcBef>
                <a:spcPts val="0"/>
              </a:spcBef>
              <a:spcAft>
                <a:spcPts val="800"/>
              </a:spcAft>
              <a:defRPr/>
            </a:pPr>
            <a:r>
              <a:rPr sz="1550" b="1" i="0">
                <a:solidFill>
                  <a:srgbClr val="2E6DA4"/>
                </a:solidFill>
                <a:latin typeface="Segoe UI"/>
                <a:ea typeface="Segoe UI"/>
                <a:cs typeface="Segoe UI"/>
              </a:rPr>
              <a:t>▪  </a:t>
            </a:r>
            <a:r>
              <a:rPr sz="1550" b="1" i="0">
                <a:solidFill>
                  <a:srgbClr val="1B2F4B"/>
                </a:solidFill>
                <a:latin typeface="Segoe UI"/>
                <a:ea typeface="Segoe UI"/>
                <a:cs typeface="Segoe UI"/>
              </a:rPr>
              <a:t>Property to exploit: </a:t>
            </a:r>
            <a:r>
              <a:rPr sz="1550" b="0" i="0">
                <a:solidFill>
                  <a:srgbClr val="5A5A5A"/>
                </a:solidFill>
                <a:latin typeface="Segoe UI"/>
                <a:ea typeface="Segoe UI"/>
                <a:cs typeface="Segoe UI"/>
              </a:rPr>
              <a:t>the popped element and the replacement always come from the same run.</a:t>
            </a:r>
            <a:endParaRPr/>
          </a:p>
          <a:p>
            <a:pPr>
              <a:lnSpc>
                <a:spcPct val="140000"/>
              </a:lnSpc>
              <a:spcBef>
                <a:spcPts val="0"/>
              </a:spcBef>
              <a:spcAft>
                <a:spcPts val="1600"/>
              </a:spcAft>
              <a:defRPr/>
            </a:pPr>
            <a:r>
              <a:rPr sz="1250" b="0" i="0">
                <a:solidFill>
                  <a:srgbClr val="5A5A5A"/>
                </a:solidFill>
                <a:latin typeface="Segoe UI"/>
                <a:ea typeface="Segoe UI"/>
                <a:cs typeface="Segoe UI"/>
              </a:rPr>
              <a:t>Only the root position changes, so overwrite it and do one sift_down — semantically identical, minus the sift_up.</a:t>
            </a:r>
            <a:endParaRPr/>
          </a:p>
          <a:p>
            <a:pPr>
              <a:lnSpc>
                <a:spcPct val="135000"/>
              </a:lnSpc>
              <a:spcBef>
                <a:spcPts val="0"/>
              </a:spcBef>
              <a:spcAft>
                <a:spcPts val="800"/>
              </a:spcAft>
              <a:defRPr/>
            </a:pPr>
            <a:r>
              <a:rPr sz="1550" b="1" i="0">
                <a:solidFill>
                  <a:srgbClr val="2E6DA4"/>
                </a:solidFill>
                <a:latin typeface="Segoe UI"/>
                <a:ea typeface="Segoe UI"/>
                <a:cs typeface="Segoe UI"/>
              </a:rPr>
              <a:t>→  </a:t>
            </a:r>
            <a:r>
              <a:rPr sz="1550" b="1" i="0">
                <a:solidFill>
                  <a:srgbClr val="2E8B57"/>
                </a:solidFill>
                <a:latin typeface="Segoe UI"/>
                <a:ea typeface="Segoe UI"/>
                <a:cs typeface="Segoe UI"/>
              </a:rPr>
              <a:t>Measured: </a:t>
            </a:r>
            <a:r>
              <a:rPr sz="1550" b="1" i="0">
                <a:solidFill>
                  <a:srgbClr val="2E8B57"/>
                </a:solidFill>
                <a:latin typeface="Segoe UI"/>
                <a:ea typeface="Segoe UI"/>
                <a:cs typeface="Segoe UI"/>
              </a:rPr>
              <a:t>−8 to 11% comparator calls, 3 to 4% faster</a:t>
            </a:r>
            <a:endParaRPr/>
          </a:p>
          <a:p>
            <a:pPr>
              <a:lnSpc>
                <a:spcPct val="140000"/>
              </a:lnSpc>
              <a:spcBef>
                <a:spcPts val="0"/>
              </a:spcBef>
              <a:spcAft>
                <a:spcPts val="0"/>
              </a:spcAft>
              <a:defRPr/>
            </a:pPr>
            <a:r>
              <a:rPr sz="1250" b="0" i="0">
                <a:solidFill>
                  <a:srgbClr val="5A5A5A"/>
                </a:solidFill>
                <a:latin typeface="Segoe UI"/>
                <a:ea typeface="Segoe UI"/>
                <a:cs typeface="Segoe UI"/>
              </a:rPr>
              <a:t>Honest caveat: less than the "nearly half" I expected — sift_up after a push usually stops at the first level. The real win is halving the worst case; the deeper the heap, the more it helps.</a:t>
            </a:r>
            <a:endParaRPr/>
          </a:p>
        </p:txBody>
      </p:sp>
      <p:sp>
        <p:nvSpPr>
          <p:cNvPr id="1045154600" name="Rectangle 6"/>
          <p:cNvSpPr/>
          <p:nvPr/>
        </p:nvSpPr>
        <p:spPr bwMode="auto">
          <a:xfrm>
            <a:off x="6080760" y="1783080"/>
            <a:ext cx="5394960" cy="2942717"/>
          </a:xfrm>
          <a:prstGeom prst="rect">
            <a:avLst/>
          </a:prstGeom>
          <a:solidFill>
            <a:srgbClr val="F4F5F7"/>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36576" rtlCol="0" anchor="t"/>
          <a:lstStyle/>
          <a:p>
            <a:pPr algn="ctr">
              <a:lnSpc>
                <a:spcPct val="100000"/>
              </a:lnSpc>
              <a:spcBef>
                <a:spcPts val="0"/>
              </a:spcBef>
              <a:spcAft>
                <a:spcPts val="0"/>
              </a:spcAft>
              <a:defRPr/>
            </a:pPr>
            <a:r>
              <a:rPr sz="950" b="0" i="0">
                <a:solidFill>
                  <a:srgbClr val="24292E"/>
                </a:solidFill>
                <a:latin typeface="Consolas"/>
                <a:ea typeface="Consolas"/>
                <a:cs typeface="Consolas"/>
              </a:rPr>
              <a:t>    while (hsize &gt; 0) {</a:t>
            </a:r>
            <a:endParaRPr/>
          </a:p>
          <a:p>
            <a:pPr>
              <a:lnSpc>
                <a:spcPct val="100000"/>
              </a:lnSpc>
              <a:spcBef>
                <a:spcPts val="0"/>
              </a:spcBef>
              <a:spcAft>
                <a:spcPts val="0"/>
              </a:spcAft>
              <a:defRPr/>
            </a:pPr>
            <a:r>
              <a:rPr sz="950" b="0" i="0">
                <a:solidFill>
                  <a:srgbClr val="24292E"/>
                </a:solidFill>
                <a:latin typeface="Consolas"/>
                <a:ea typeface="Consolas"/>
                <a:cs typeface="Consolas"/>
              </a:rPr>
              <a:t>        HeapItem  top = heap[0];</a:t>
            </a:r>
            <a:endParaRPr/>
          </a:p>
          <a:p>
            <a:pPr>
              <a:lnSpc>
                <a:spcPct val="100000"/>
              </a:lnSpc>
              <a:spcBef>
                <a:spcPts val="0"/>
              </a:spcBef>
              <a:spcAft>
                <a:spcPts val="0"/>
              </a:spcAft>
              <a:defRPr/>
            </a:pPr>
            <a:r>
              <a:rPr sz="950" b="0" i="0">
                <a:solidFill>
                  <a:srgbClr val="24292E"/>
                </a:solidFill>
                <a:latin typeface="Consolas"/>
                <a:ea typeface="Consolas"/>
                <a:cs typeface="Consolas"/>
              </a:rPr>
              <a:t>        MergeRun *run = &amp;runs[top.run];</a:t>
            </a:r>
            <a:endParaRPr/>
          </a:p>
          <a:p>
            <a:pPr>
              <a:lnSpc>
                <a:spcPct val="100000"/>
              </a:lnSpc>
              <a:spcBef>
                <a:spcPts val="0"/>
              </a:spcBef>
              <a:spcAft>
                <a:spcPts val="0"/>
              </a:spcAft>
              <a:defRPr/>
            </a:pPr>
            <a:r>
              <a:rPr sz="950" b="0" i="0">
                <a:solidFill>
                  <a:srgbClr val="24292E"/>
                </a:solidFill>
                <a:latin typeface="Consolas"/>
                <a:ea typeface="Consolas"/>
                <a:cs typeface="Consolas"/>
              </a:rPr>
              <a:t>        size_t    len;</a:t>
            </a:r>
            <a:endParaRPr/>
          </a:p>
          <a:p>
            <a:pPr>
              <a:lnSpc>
                <a:spcPct val="100000"/>
              </a:lnSpc>
              <a:spcBef>
                <a:spcPts val="0"/>
              </a:spcBef>
              <a:spcAft>
                <a:spcPts val="0"/>
              </a:spcAft>
              <a:defRPr/>
            </a:pPr>
            <a:r>
              <a:rPr sz="950" b="0" i="0">
                <a:solidFill>
                  <a:srgbClr val="24292E"/>
                </a:solidFill>
                <a:latin typeface="Consolas"/>
                <a:ea typeface="Consolas"/>
                <a:cs typeface="Consolas"/>
              </a:rPr>
              <a:t>        int       r;</a:t>
            </a:r>
            <a:endParaRPr/>
          </a:p>
          <a:p>
            <a:pPr>
              <a:lnSpc>
                <a:spcPct val="100000"/>
              </a:lnSpc>
              <a:spcBef>
                <a:spcPts val="0"/>
              </a:spcBef>
              <a:spcAft>
                <a:spcPts val="0"/>
              </a:spcAft>
              <a:defRPr/>
            </a:pPr>
            <a:r>
              <a:rPr sz="950" b="0" i="0">
                <a:solidFill>
                  <a:srgbClr val="24292E"/>
                </a:solidFill>
                <a:latin typeface="Consolas"/>
                <a:ea typeface="Consolas"/>
                <a:cs typeface="Consolas"/>
              </a:rPr>
              <a:t>        if (lw_put(&amp;lw, top.line) != 0)</a:t>
            </a:r>
            <a:endParaRPr/>
          </a:p>
          <a:p>
            <a:pPr>
              <a:lnSpc>
                <a:spcPct val="100000"/>
              </a:lnSpc>
              <a:spcBef>
                <a:spcPts val="0"/>
              </a:spcBef>
              <a:spcAft>
                <a:spcPts val="0"/>
              </a:spcAft>
              <a:defRPr/>
            </a:pPr>
            <a:r>
              <a:rPr sz="950" b="0" i="0">
                <a:solidFill>
                  <a:srgbClr val="24292E"/>
                </a:solidFill>
                <a:latin typeface="Consolas"/>
                <a:ea typeface="Consolas"/>
                <a:cs typeface="Consolas"/>
              </a:rPr>
              <a:t>            goto done;</a:t>
            </a:r>
            <a:endParaRPr/>
          </a:p>
          <a:p>
            <a:pPr>
              <a:lnSpc>
                <a:spcPct val="100000"/>
              </a:lnSpc>
              <a:spcBef>
                <a:spcPts val="0"/>
              </a:spcBef>
              <a:spcAft>
                <a:spcPts val="0"/>
              </a:spcAft>
              <a:defRPr/>
            </a:pPr>
            <a:r>
              <a:rPr sz="950" b="0" i="0">
                <a:solidFill>
                  <a:srgbClr val="24292E"/>
                </a:solidFill>
                <a:latin typeface="Consolas"/>
                <a:ea typeface="Consolas"/>
                <a:cs typeface="Consolas"/>
              </a:rPr>
              <a:t>        r = lr_next(&amp;run-&gt;lr, run-&gt;line, MAX_LINE_LENGTH, &amp;len);</a:t>
            </a:r>
            <a:endParaRPr/>
          </a:p>
          <a:p>
            <a:pPr>
              <a:lnSpc>
                <a:spcPct val="100000"/>
              </a:lnSpc>
              <a:spcBef>
                <a:spcPts val="0"/>
              </a:spcBef>
              <a:spcAft>
                <a:spcPts val="0"/>
              </a:spcAft>
              <a:defRPr/>
            </a:pPr>
            <a:r>
              <a:rPr sz="950" b="0" i="0">
                <a:solidFill>
                  <a:srgbClr val="24292E"/>
                </a:solidFill>
                <a:latin typeface="Consolas"/>
                <a:ea typeface="Consolas"/>
                <a:cs typeface="Consolas"/>
              </a:rPr>
              <a:t>        if (r &lt; 0)</a:t>
            </a:r>
            <a:endParaRPr/>
          </a:p>
          <a:p>
            <a:pPr>
              <a:lnSpc>
                <a:spcPct val="100000"/>
              </a:lnSpc>
              <a:spcBef>
                <a:spcPts val="0"/>
              </a:spcBef>
              <a:spcAft>
                <a:spcPts val="0"/>
              </a:spcAft>
              <a:defRPr/>
            </a:pPr>
            <a:r>
              <a:rPr sz="950" b="0" i="0">
                <a:solidFill>
                  <a:srgbClr val="24292E"/>
                </a:solidFill>
                <a:latin typeface="Consolas"/>
                <a:ea typeface="Consolas"/>
                <a:cs typeface="Consolas"/>
              </a:rPr>
              <a:t>            goto done;</a:t>
            </a:r>
            <a:endParaRPr/>
          </a:p>
          <a:p>
            <a:pPr>
              <a:lnSpc>
                <a:spcPct val="100000"/>
              </a:lnSpc>
              <a:spcBef>
                <a:spcPts val="0"/>
              </a:spcBef>
              <a:spcAft>
                <a:spcPts val="0"/>
              </a:spcAft>
              <a:defRPr/>
            </a:pPr>
            <a:r>
              <a:rPr sz="950" b="0" i="0">
                <a:solidFill>
                  <a:srgbClr val="24292E"/>
                </a:solidFill>
                <a:latin typeface="Consolas"/>
                <a:ea typeface="Consolas"/>
                <a:cs typeface="Consolas"/>
              </a:rPr>
              <a:t>        if (r == 1) {</a:t>
            </a:r>
            <a:endParaRPr/>
          </a:p>
          <a:p>
            <a:pPr>
              <a:lnSpc>
                <a:spcPct val="100000"/>
              </a:lnSpc>
              <a:spcBef>
                <a:spcPts val="0"/>
              </a:spcBef>
              <a:spcAft>
                <a:spcPts val="0"/>
              </a:spcAft>
              <a:defRPr/>
            </a:pPr>
            <a:r>
              <a:rPr sz="950" b="0" i="0">
                <a:solidFill>
                  <a:srgbClr val="24292E"/>
                </a:solidFill>
                <a:latin typeface="Consolas"/>
                <a:ea typeface="Consolas"/>
                <a:cs typeface="Consolas"/>
              </a:rPr>
              <a:t>            HeapItem it;</a:t>
            </a:r>
            <a:endParaRPr/>
          </a:p>
          <a:p>
            <a:pPr>
              <a:lnSpc>
                <a:spcPct val="100000"/>
              </a:lnSpc>
              <a:spcBef>
                <a:spcPts val="0"/>
              </a:spcBef>
              <a:spcAft>
                <a:spcPts val="0"/>
              </a:spcAft>
              <a:defRPr/>
            </a:pPr>
            <a:r>
              <a:rPr sz="950" b="0" i="0">
                <a:solidFill>
                  <a:srgbClr val="24292E"/>
                </a:solidFill>
                <a:latin typeface="Consolas"/>
                <a:ea typeface="Consolas"/>
                <a:cs typeface="Consolas"/>
              </a:rPr>
              <a:t>            it.line = run-&gt;line;</a:t>
            </a:r>
            <a:endParaRPr/>
          </a:p>
          <a:p>
            <a:pPr>
              <a:lnSpc>
                <a:spcPct val="100000"/>
              </a:lnSpc>
              <a:spcBef>
                <a:spcPts val="0"/>
              </a:spcBef>
              <a:spcAft>
                <a:spcPts val="0"/>
              </a:spcAft>
              <a:defRPr/>
            </a:pPr>
            <a:r>
              <a:rPr sz="950" b="0" i="0">
                <a:solidFill>
                  <a:srgbClr val="24292E"/>
                </a:solidFill>
                <a:latin typeface="Consolas"/>
                <a:ea typeface="Consolas"/>
                <a:cs typeface="Consolas"/>
              </a:rPr>
              <a:t>            it.run  = top.run;</a:t>
            </a:r>
            <a:endParaRPr/>
          </a:p>
          <a:p>
            <a:pPr>
              <a:lnSpc>
                <a:spcPct val="100000"/>
              </a:lnSpc>
              <a:spcBef>
                <a:spcPts val="0"/>
              </a:spcBef>
              <a:spcAft>
                <a:spcPts val="0"/>
              </a:spcAft>
              <a:defRPr/>
            </a:pPr>
            <a:r>
              <a:rPr sz="950" b="0" i="0">
                <a:solidFill>
                  <a:srgbClr val="24292E"/>
                </a:solidFill>
                <a:latin typeface="Consolas"/>
                <a:ea typeface="Consolas"/>
                <a:cs typeface="Consolas"/>
              </a:rPr>
              <a:t>            heap_set_top(heap, hsize, it);</a:t>
            </a:r>
            <a:endParaRPr/>
          </a:p>
          <a:p>
            <a:pPr>
              <a:lnSpc>
                <a:spcPct val="100000"/>
              </a:lnSpc>
              <a:spcBef>
                <a:spcPts val="0"/>
              </a:spcBef>
              <a:spcAft>
                <a:spcPts val="0"/>
              </a:spcAft>
              <a:defRPr/>
            </a:pPr>
            <a:r>
              <a:rPr sz="950" b="0" i="0">
                <a:solidFill>
                  <a:srgbClr val="24292E"/>
                </a:solidFill>
                <a:latin typeface="Consolas"/>
                <a:ea typeface="Consolas"/>
                <a:cs typeface="Consolas"/>
              </a:rPr>
              <a:t>        } else {</a:t>
            </a:r>
            <a:endParaRPr/>
          </a:p>
          <a:p>
            <a:pPr>
              <a:lnSpc>
                <a:spcPct val="100000"/>
              </a:lnSpc>
              <a:spcBef>
                <a:spcPts val="0"/>
              </a:spcBef>
              <a:spcAft>
                <a:spcPts val="0"/>
              </a:spcAft>
              <a:defRPr/>
            </a:pPr>
            <a:r>
              <a:rPr sz="950" b="0" i="0">
                <a:solidFill>
                  <a:srgbClr val="24292E"/>
                </a:solidFill>
                <a:latin typeface="Consolas"/>
                <a:ea typeface="Consolas"/>
                <a:cs typeface="Consolas"/>
              </a:rPr>
              <a:t>            (void)heap_remove_top(heap, &amp;hsize);</a:t>
            </a:r>
            <a:endParaRPr/>
          </a:p>
          <a:p>
            <a:pPr>
              <a:lnSpc>
                <a:spcPct val="100000"/>
              </a:lnSpc>
              <a:spcBef>
                <a:spcPts val="0"/>
              </a:spcBef>
              <a:spcAft>
                <a:spcPts val="0"/>
              </a:spcAft>
              <a:defRPr/>
            </a:pPr>
            <a:r>
              <a:rPr sz="950" b="0" i="0">
                <a:solidFill>
                  <a:srgbClr val="24292E"/>
                </a:solidFill>
                <a:latin typeface="Consolas"/>
                <a:ea typeface="Consolas"/>
                <a:cs typeface="Consolas"/>
              </a:rPr>
              <a:t>        }</a:t>
            </a:r>
            <a:endParaRPr/>
          </a:p>
          <a:p>
            <a:pPr>
              <a:lnSpc>
                <a:spcPct val="100000"/>
              </a:lnSpc>
              <a:spcBef>
                <a:spcPts val="0"/>
              </a:spcBef>
              <a:spcAft>
                <a:spcPts val="0"/>
              </a:spcAft>
              <a:defRPr/>
            </a:pPr>
            <a:r>
              <a:rPr sz="950" b="0" i="0">
                <a:solidFill>
                  <a:srgbClr val="24292E"/>
                </a:solidFill>
                <a:latin typeface="Consolas"/>
                <a:ea typeface="Consolas"/>
                <a:cs typeface="Consolas"/>
              </a:rPr>
              <a:t>    }</a:t>
            </a:r>
            <a:endParaRPr/>
          </a:p>
        </p:txBody>
      </p:sp>
      <p:sp>
        <p:nvSpPr>
          <p:cNvPr id="1812419701" name="TextBox 7"/>
          <p:cNvSpPr txBox="1"/>
          <p:nvPr/>
        </p:nvSpPr>
        <p:spPr bwMode="auto">
          <a:xfrm>
            <a:off x="6080760" y="1536192"/>
            <a:ext cx="5394960" cy="228600"/>
          </a:xfrm>
          <a:prstGeom prst="rect">
            <a:avLst/>
          </a:prstGeom>
          <a:noFill/>
        </p:spPr>
        <p:txBody>
          <a:bodyPr wrap="square" lIns="0" tIns="0" rIns="0" bIns="0">
            <a:spAutoFit/>
          </a:bodyPr>
          <a:lstStyle/>
          <a:p>
            <a:pPr>
              <a:lnSpc>
                <a:spcPct val="135000"/>
              </a:lnSpc>
              <a:spcBef>
                <a:spcPts val="0"/>
              </a:spcBef>
              <a:spcAft>
                <a:spcPts val="0"/>
              </a:spcAft>
              <a:defRPr/>
            </a:pPr>
            <a:r>
              <a:rPr sz="1150" b="1" i="0">
                <a:solidFill>
                  <a:srgbClr val="2E6DA4"/>
                </a:solidFill>
                <a:latin typeface="Segoe UI"/>
                <a:ea typeface="Segoe UI"/>
                <a:cs typeface="Segoe UI"/>
              </a:rPr>
              <a:t>esort.c : merge loop  (L819)</a:t>
            </a:r>
            <a:endParaRPr/>
          </a:p>
        </p:txBody>
      </p:sp>
      <p:sp>
        <p:nvSpPr>
          <p:cNvPr id="884847936" name="Rounded Rectangle 8"/>
          <p:cNvSpPr/>
          <p:nvPr/>
        </p:nvSpPr>
        <p:spPr bwMode="auto">
          <a:xfrm>
            <a:off x="6080760" y="4926965"/>
            <a:ext cx="5394960" cy="640080"/>
          </a:xfrm>
          <a:prstGeom prst="roundRect">
            <a:avLst>
              <a:gd name="adj" fmla="val 16667"/>
            </a:avLst>
          </a:prstGeom>
          <a:solidFill>
            <a:srgbClr val="FFF6EC"/>
          </a:solidFill>
          <a:ln w="15875">
            <a:solidFill>
              <a:srgbClr val="E06C2E"/>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28016" bIns="73152" rtlCol="0" anchor="ctr"/>
          <a:lstStyle/>
          <a:p>
            <a:pPr algn="ctr">
              <a:lnSpc>
                <a:spcPct val="135000"/>
              </a:lnSpc>
              <a:spcBef>
                <a:spcPts val="0"/>
              </a:spcBef>
              <a:spcAft>
                <a:spcPts val="0"/>
              </a:spcAft>
              <a:defRPr/>
            </a:pPr>
            <a:r>
              <a:rPr sz="1250" b="1" i="0">
                <a:solidFill>
                  <a:srgbClr val="E06C2E"/>
                </a:solidFill>
                <a:latin typeface="Segoe UI"/>
                <a:ea typeface="Segoe UI"/>
                <a:cs typeface="Segoe UI"/>
              </a:rPr>
              <a:t>Careful: </a:t>
            </a:r>
            <a:r>
              <a:rPr sz="1250" b="0" i="0">
                <a:solidFill>
                  <a:srgbClr val="5A5A5A"/>
                </a:solidFill>
                <a:latin typeface="Segoe UI"/>
                <a:ea typeface="Segoe UI"/>
                <a:cs typeface="Segoe UI"/>
              </a:rPr>
              <a:t>run-&gt;line is the buffer the root points at — write it out before overwriting it.</a:t>
            </a:r>
            <a:endParaRPr/>
          </a:p>
        </p:txBody>
      </p:sp>
      <p:sp>
        <p:nvSpPr>
          <p:cNvPr id="352308116" name="TextBox 9"/>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1508747352" name="TextBox 10"/>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9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96777936"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339294691"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Idea 5: Resource-Safety Details</a:t>
            </a:r>
            <a:endParaRPr/>
          </a:p>
        </p:txBody>
      </p:sp>
      <p:sp>
        <p:nvSpPr>
          <p:cNvPr id="630762015"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Small things that silently corrupt results</a:t>
            </a:r>
            <a:endParaRPr/>
          </a:p>
        </p:txBody>
      </p:sp>
      <p:sp>
        <p:nvSpPr>
          <p:cNvPr id="1492633525"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05224729" name="Rounded Rectangle 5"/>
          <p:cNvSpPr/>
          <p:nvPr/>
        </p:nvSpPr>
        <p:spPr bwMode="auto">
          <a:xfrm>
            <a:off x="749808" y="1691640"/>
            <a:ext cx="10725912" cy="1325880"/>
          </a:xfrm>
          <a:prstGeom prst="roundRect">
            <a:avLst>
              <a:gd name="adj" fmla="val 16667"/>
            </a:avLst>
          </a:prstGeom>
          <a:solidFill>
            <a:srgbClr val="FAFBFC"/>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344336554" name="Rounded Rectangle 6"/>
          <p:cNvSpPr/>
          <p:nvPr/>
        </p:nvSpPr>
        <p:spPr bwMode="auto">
          <a:xfrm>
            <a:off x="960120" y="2075688"/>
            <a:ext cx="548640" cy="548640"/>
          </a:xfrm>
          <a:prstGeom prst="roundRect">
            <a:avLst>
              <a:gd name="adj" fmla="val 16667"/>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2000" b="1" i="0">
                <a:solidFill>
                  <a:srgbClr val="FFFFFF"/>
                </a:solidFill>
                <a:latin typeface="Segoe UI"/>
                <a:ea typeface="Segoe UI"/>
                <a:cs typeface="Segoe UI"/>
              </a:rPr>
              <a:t>A</a:t>
            </a:r>
            <a:endParaRPr/>
          </a:p>
        </p:txBody>
      </p:sp>
      <p:sp>
        <p:nvSpPr>
          <p:cNvPr id="1609358800" name="TextBox 7"/>
          <p:cNvSpPr txBox="1"/>
          <p:nvPr/>
        </p:nvSpPr>
        <p:spPr bwMode="auto">
          <a:xfrm>
            <a:off x="1783080" y="1856232"/>
            <a:ext cx="9509760" cy="1051560"/>
          </a:xfrm>
          <a:prstGeom prst="rect">
            <a:avLst/>
          </a:prstGeom>
          <a:noFill/>
        </p:spPr>
        <p:txBody>
          <a:bodyPr wrap="square" lIns="0" tIns="0" rIns="0" bIns="0">
            <a:spAutoFit/>
          </a:bodyPr>
          <a:lstStyle/>
          <a:p>
            <a:pPr>
              <a:lnSpc>
                <a:spcPct val="135000"/>
              </a:lnSpc>
              <a:spcBef>
                <a:spcPts val="0"/>
              </a:spcBef>
              <a:spcAft>
                <a:spcPts val="500"/>
              </a:spcAft>
              <a:defRPr/>
            </a:pPr>
            <a:r>
              <a:rPr sz="1650" b="1" i="0">
                <a:solidFill>
                  <a:srgbClr val="1B2F4B"/>
                </a:solidFill>
                <a:latin typeface="Segoe UI"/>
                <a:ea typeface="Segoe UI"/>
                <a:cs typeface="Segoe UI"/>
              </a:rPr>
              <a:t>-o may name the input file</a:t>
            </a:r>
            <a:endParaRPr/>
          </a:p>
          <a:p>
            <a:pPr>
              <a:lnSpc>
                <a:spcPct val="135000"/>
              </a:lnSpc>
              <a:spcBef>
                <a:spcPts val="0"/>
              </a:spcBef>
              <a:spcAft>
                <a:spcPts val="0"/>
              </a:spcAft>
              <a:defRPr/>
            </a:pPr>
            <a:r>
              <a:rPr sz="1250" b="0" i="0">
                <a:solidFill>
                  <a:srgbClr val="5A5A5A"/>
                </a:solidFill>
                <a:latin typeface="Segoe UI"/>
                <a:ea typeface="Segoe UI"/>
                <a:cs typeface="Segoe UI"/>
              </a:rPr>
              <a:t>Opening it for writing destroys data that has not been read yet.</a:t>
            </a:r>
            <a:br>
              <a:rPr sz="1250" b="0" i="0">
                <a:solidFill>
                  <a:srgbClr val="5A5A5A"/>
                </a:solidFill>
                <a:latin typeface="Segoe UI"/>
                <a:ea typeface="Segoe UI"/>
                <a:cs typeface="Segoe UI"/>
              </a:rPr>
            </a:br>
            <a:r>
              <a:rPr sz="1250" b="0" i="0">
                <a:solidFill>
                  <a:srgbClr val="5A5A5A"/>
                </a:solidFill>
                <a:latin typeface="Segoe UI"/>
                <a:ea typeface="Segoe UI"/>
                <a:cs typeface="Segoe UI"/>
              </a:rPr>
              <a:t>Fix: compare the path strings and stat() st_dev/st_ino; if identical, write to a temporary file and overwrite only after the merge completes.</a:t>
            </a:r>
            <a:endParaRPr/>
          </a:p>
        </p:txBody>
      </p:sp>
      <p:sp>
        <p:nvSpPr>
          <p:cNvPr id="699040783" name="Rounded Rectangle 8"/>
          <p:cNvSpPr/>
          <p:nvPr/>
        </p:nvSpPr>
        <p:spPr bwMode="auto">
          <a:xfrm>
            <a:off x="749808" y="3172968"/>
            <a:ext cx="10725912" cy="1325880"/>
          </a:xfrm>
          <a:prstGeom prst="roundRect">
            <a:avLst>
              <a:gd name="adj" fmla="val 16667"/>
            </a:avLst>
          </a:prstGeom>
          <a:solidFill>
            <a:srgbClr val="FAFBFC"/>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2082836831" name="Rounded Rectangle 9"/>
          <p:cNvSpPr/>
          <p:nvPr/>
        </p:nvSpPr>
        <p:spPr bwMode="auto">
          <a:xfrm>
            <a:off x="960120" y="3557016"/>
            <a:ext cx="548640" cy="548640"/>
          </a:xfrm>
          <a:prstGeom prst="roundRect">
            <a:avLst>
              <a:gd name="adj" fmla="val 16667"/>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2000" b="1" i="0">
                <a:solidFill>
                  <a:srgbClr val="FFFFFF"/>
                </a:solidFill>
                <a:latin typeface="Segoe UI"/>
                <a:ea typeface="Segoe UI"/>
                <a:cs typeface="Segoe UI"/>
              </a:rPr>
              <a:t>B</a:t>
            </a:r>
            <a:endParaRPr/>
          </a:p>
        </p:txBody>
      </p:sp>
      <p:sp>
        <p:nvSpPr>
          <p:cNvPr id="1926593427" name="TextBox 10"/>
          <p:cNvSpPr txBox="1"/>
          <p:nvPr/>
        </p:nvSpPr>
        <p:spPr bwMode="auto">
          <a:xfrm>
            <a:off x="1783080" y="3337560"/>
            <a:ext cx="9509760" cy="1051560"/>
          </a:xfrm>
          <a:prstGeom prst="rect">
            <a:avLst/>
          </a:prstGeom>
          <a:noFill/>
        </p:spPr>
        <p:txBody>
          <a:bodyPr wrap="square" lIns="0" tIns="0" rIns="0" bIns="0">
            <a:spAutoFit/>
          </a:bodyPr>
          <a:lstStyle/>
          <a:p>
            <a:pPr>
              <a:lnSpc>
                <a:spcPct val="135000"/>
              </a:lnSpc>
              <a:spcBef>
                <a:spcPts val="0"/>
              </a:spcBef>
              <a:spcAft>
                <a:spcPts val="500"/>
              </a:spcAft>
              <a:defRPr/>
            </a:pPr>
            <a:r>
              <a:rPr sz="1650" b="1" i="0">
                <a:solidFill>
                  <a:srgbClr val="1B2F4B"/>
                </a:solidFill>
                <a:latin typeface="Segoe UI"/>
                <a:ea typeface="Segoe UI"/>
                <a:cs typeface="Segoe UI"/>
              </a:rPr>
              <a:t>Temp file names must not be invented</a:t>
            </a:r>
            <a:endParaRPr/>
          </a:p>
          <a:p>
            <a:pPr>
              <a:lnSpc>
                <a:spcPct val="135000"/>
              </a:lnSpc>
              <a:spcBef>
                <a:spcPts val="0"/>
              </a:spcBef>
              <a:spcAft>
                <a:spcPts val="0"/>
              </a:spcAft>
              <a:defRPr/>
            </a:pPr>
            <a:r>
              <a:rPr sz="1250" b="0" i="0">
                <a:solidFill>
                  <a:srgbClr val="5A5A5A"/>
                </a:solidFill>
                <a:latin typeface="Segoe UI"/>
                <a:ea typeface="Segoe UI"/>
                <a:cs typeface="Segoe UI"/>
              </a:rPr>
              <a:t>A shared /tmp has races — another process may take or overwrite the name.</a:t>
            </a:r>
            <a:br>
              <a:rPr sz="1250" b="0" i="0">
                <a:solidFill>
                  <a:srgbClr val="5A5A5A"/>
                </a:solidFill>
                <a:latin typeface="Segoe UI"/>
                <a:ea typeface="Segoe UI"/>
                <a:cs typeface="Segoe UI"/>
              </a:rPr>
            </a:br>
            <a:r>
              <a:rPr sz="1250" b="0" i="0">
                <a:solidFill>
                  <a:srgbClr val="5A5A5A"/>
                </a:solidFill>
                <a:latin typeface="Segoe UI"/>
                <a:ea typeface="Segoe UI"/>
                <a:cs typeface="Segoe UI"/>
              </a:rPr>
              <a:t>Fix: mkstemp() lets the kernel guarantee uniqueness.</a:t>
            </a:r>
            <a:endParaRPr/>
          </a:p>
        </p:txBody>
      </p:sp>
      <p:sp>
        <p:nvSpPr>
          <p:cNvPr id="1533515385" name="Rounded Rectangle 11"/>
          <p:cNvSpPr/>
          <p:nvPr/>
        </p:nvSpPr>
        <p:spPr bwMode="auto">
          <a:xfrm>
            <a:off x="749808" y="4654296"/>
            <a:ext cx="10725912" cy="1325880"/>
          </a:xfrm>
          <a:prstGeom prst="roundRect">
            <a:avLst>
              <a:gd name="adj" fmla="val 16667"/>
            </a:avLst>
          </a:prstGeom>
          <a:solidFill>
            <a:srgbClr val="FAFBFC"/>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011219795" name="Rounded Rectangle 12"/>
          <p:cNvSpPr/>
          <p:nvPr/>
        </p:nvSpPr>
        <p:spPr bwMode="auto">
          <a:xfrm>
            <a:off x="960120" y="5038344"/>
            <a:ext cx="548640" cy="548640"/>
          </a:xfrm>
          <a:prstGeom prst="roundRect">
            <a:avLst>
              <a:gd name="adj" fmla="val 16667"/>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2000" b="1" i="0">
                <a:solidFill>
                  <a:srgbClr val="FFFFFF"/>
                </a:solidFill>
                <a:latin typeface="Segoe UI"/>
                <a:ea typeface="Segoe UI"/>
                <a:cs typeface="Segoe UI"/>
              </a:rPr>
              <a:t>C</a:t>
            </a:r>
            <a:endParaRPr/>
          </a:p>
        </p:txBody>
      </p:sp>
      <p:sp>
        <p:nvSpPr>
          <p:cNvPr id="1575548089" name="TextBox 13"/>
          <p:cNvSpPr txBox="1"/>
          <p:nvPr/>
        </p:nvSpPr>
        <p:spPr bwMode="auto">
          <a:xfrm>
            <a:off x="1783080" y="4818888"/>
            <a:ext cx="9509760" cy="1051560"/>
          </a:xfrm>
          <a:prstGeom prst="rect">
            <a:avLst/>
          </a:prstGeom>
          <a:noFill/>
        </p:spPr>
        <p:txBody>
          <a:bodyPr wrap="square" lIns="0" tIns="0" rIns="0" bIns="0">
            <a:spAutoFit/>
          </a:bodyPr>
          <a:lstStyle/>
          <a:p>
            <a:pPr>
              <a:lnSpc>
                <a:spcPct val="135000"/>
              </a:lnSpc>
              <a:spcBef>
                <a:spcPts val="0"/>
              </a:spcBef>
              <a:spcAft>
                <a:spcPts val="500"/>
              </a:spcAft>
              <a:defRPr/>
            </a:pPr>
            <a:r>
              <a:rPr sz="1650" b="1" i="0">
                <a:solidFill>
                  <a:srgbClr val="1B2F4B"/>
                </a:solidFill>
                <a:latin typeface="Segoe UI"/>
                <a:ea typeface="Segoe UI"/>
                <a:cs typeface="Segoe UI"/>
              </a:rPr>
              <a:t>Input edge cases</a:t>
            </a:r>
            <a:endParaRPr/>
          </a:p>
          <a:p>
            <a:pPr>
              <a:lnSpc>
                <a:spcPct val="135000"/>
              </a:lnSpc>
              <a:spcBef>
                <a:spcPts val="0"/>
              </a:spcBef>
              <a:spcAft>
                <a:spcPts val="0"/>
              </a:spcAft>
              <a:defRPr/>
            </a:pPr>
            <a:r>
              <a:rPr sz="1250" b="0" i="0">
                <a:solidFill>
                  <a:srgbClr val="5A5A5A"/>
                </a:solidFill>
                <a:latin typeface="Segoe UI"/>
                <a:ea typeface="Segoe UI"/>
                <a:cs typeface="Segoe UI"/>
              </a:rPr>
              <a:t>A final line with no newline, Windows \r\n, lines longer than 4,096 bytes.</a:t>
            </a:r>
            <a:br>
              <a:rPr sz="1250" b="0" i="0">
                <a:solidFill>
                  <a:srgbClr val="5A5A5A"/>
                </a:solidFill>
                <a:latin typeface="Segoe UI"/>
                <a:ea typeface="Segoe UI"/>
                <a:cs typeface="Segoe UI"/>
              </a:rPr>
            </a:br>
            <a:r>
              <a:rPr sz="1250" b="0" i="0">
                <a:solidFill>
                  <a:srgbClr val="5A5A5A"/>
                </a:solidFill>
                <a:latin typeface="Segoe UI"/>
                <a:ea typeface="Segoe UI"/>
                <a:cs typeface="Segoe UI"/>
              </a:rPr>
              <a:t>Fix: truncate over-long lines but still count them as one line — the line count must never drift.</a:t>
            </a:r>
            <a:endParaRPr/>
          </a:p>
        </p:txBody>
      </p:sp>
      <p:sp>
        <p:nvSpPr>
          <p:cNvPr id="918111347" name="TextBox 14"/>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1566885519" name="TextBox 15"/>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10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6258400"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57394651"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Relationship to sort, and Complexity</a:t>
            </a:r>
            <a:endParaRPr/>
          </a:p>
        </p:txBody>
      </p:sp>
      <p:sp>
        <p:nvSpPr>
          <p:cNvPr id="507820063"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Same algorithm family, different memory model</a:t>
            </a:r>
            <a:endParaRPr/>
          </a:p>
        </p:txBody>
      </p:sp>
      <p:sp>
        <p:nvSpPr>
          <p:cNvPr id="1783263615"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graphicFrame>
        <p:nvGraphicFramePr>
          <p:cNvPr id="280442773" name="Table 5"/>
          <p:cNvGraphicFramePr>
            <a:graphicFrameLocks xmlns:a="http://schemas.openxmlformats.org/drawingml/2006/main" noGrp="1"/>
          </p:cNvGraphicFramePr>
          <p:nvPr/>
        </p:nvGraphicFramePr>
        <p:xfrm rot="0">
          <a:off x="749808" y="1691640"/>
          <a:ext cx="10725910" cy="2304288"/>
        </p:xfrm>
        <a:graphic>
          <a:graphicData uri="http://schemas.openxmlformats.org/drawingml/2006/table">
            <a:tbl>
              <a:tblPr firstRow="1" firstCol="0" lastRow="0" lastCol="0" bandRow="1" bandCol="0">
                <a:tableStyleId>{5C22544A-7EE6-4342-B048-85BDC9FD1C3A}</a:tableStyleId>
              </a:tblPr>
              <a:tblGrid>
                <a:gridCol w="2263265"/>
                <a:gridCol w="4723337"/>
                <a:gridCol w="3739307"/>
              </a:tblGrid>
              <a:tr h="384048">
                <a:tc>
                  <a:txBody>
                    <a:bodyPr/>
                    <a:p>
                      <a:pPr>
                        <a:defRPr/>
                      </a:pPr>
                      <a:r>
                        <a:rPr sz="1350" b="1" i="0">
                          <a:solidFill>
                            <a:srgbClr val="FFFFFF"/>
                          </a:solidFill>
                          <a:latin typeface="Segoe UI"/>
                          <a:ea typeface="Segoe UI"/>
                          <a:cs typeface="Segoe UI"/>
                        </a:rPr>
                        <a:t>Aspect</a:t>
                      </a:r>
                      <a:endParaRPr/>
                    </a:p>
                  </a:txBody>
                  <a:tcPr marL="91440" marR="54864" marT="18288" marB="18288" anchor="ctr">
                    <a:solidFill>
                      <a:srgbClr val="1B2F4B"/>
                    </a:solidFill>
                  </a:tcPr>
                </a:tc>
                <a:tc>
                  <a:txBody>
                    <a:bodyPr/>
                    <a:p>
                      <a:pPr>
                        <a:defRPr/>
                      </a:pPr>
                      <a:r>
                        <a:rPr sz="1350" b="1" i="0">
                          <a:solidFill>
                            <a:srgbClr val="FFFFFF"/>
                          </a:solidFill>
                          <a:latin typeface="Segoe UI"/>
                          <a:ea typeface="Segoe UI"/>
                          <a:cs typeface="Segoe UI"/>
                        </a:rPr>
                        <a:t>esort (this project)</a:t>
                      </a:r>
                      <a:endParaRPr/>
                    </a:p>
                  </a:txBody>
                  <a:tcPr marL="91440" marR="54864" marT="18288" marB="18288" anchor="ctr">
                    <a:solidFill>
                      <a:srgbClr val="1B2F4B"/>
                    </a:solidFill>
                  </a:tcPr>
                </a:tc>
                <a:tc>
                  <a:txBody>
                    <a:bodyPr/>
                    <a:p>
                      <a:pPr>
                        <a:defRPr/>
                      </a:pPr>
                      <a:r>
                        <a:rPr sz="1350" b="1" i="0">
                          <a:solidFill>
                            <a:srgbClr val="FFFFFF"/>
                          </a:solidFill>
                          <a:latin typeface="Segoe UI"/>
                          <a:ea typeface="Segoe UI"/>
                          <a:cs typeface="Segoe UI"/>
                        </a:rPr>
                        <a:t>GNU sort</a:t>
                      </a:r>
                      <a:endParaRPr/>
                    </a:p>
                  </a:txBody>
                  <a:tcPr marL="91440" marR="54864" marT="18288" marB="18288" anchor="ctr">
                    <a:solidFill>
                      <a:srgbClr val="1B2F4B"/>
                    </a:solidFill>
                  </a:tcPr>
                </a:tc>
              </a:tr>
              <a:tr h="384048">
                <a:tc>
                  <a:txBody>
                    <a:bodyPr/>
                    <a:p>
                      <a:pPr>
                        <a:defRPr/>
                      </a:pPr>
                      <a:r>
                        <a:rPr sz="1350" b="1" i="0">
                          <a:solidFill>
                            <a:srgbClr val="5A5A5A"/>
                          </a:solidFill>
                          <a:latin typeface="Segoe UI"/>
                          <a:ea typeface="Segoe UI"/>
                          <a:cs typeface="Segoe UI"/>
                        </a:rPr>
                        <a:t>Algorithm</a:t>
                      </a:r>
                      <a:endParaRPr/>
                    </a:p>
                  </a:txBody>
                  <a:tcPr marL="91440" marR="54864" marT="18288" marB="18288" anchor="ctr">
                    <a:solidFill>
                      <a:srgbClr val="FFFFFF"/>
                    </a:solidFill>
                  </a:tcPr>
                </a:tc>
                <a:tc>
                  <a:txBody>
                    <a:bodyPr/>
                    <a:p>
                      <a:pPr>
                        <a:defRPr/>
                      </a:pPr>
                      <a:r>
                        <a:rPr sz="1350" b="0" i="0">
                          <a:solidFill>
                            <a:srgbClr val="5A5A5A"/>
                          </a:solidFill>
                          <a:latin typeface="Segoe UI"/>
                          <a:ea typeface="Segoe UI"/>
                          <a:cs typeface="Segoe UI"/>
                        </a:rPr>
                        <a:t>external merge sort, two phases</a:t>
                      </a:r>
                      <a:endParaRPr/>
                    </a:p>
                  </a:txBody>
                  <a:tcPr marL="91440" marR="54864" marT="18288" marB="18288" anchor="ctr">
                    <a:solidFill>
                      <a:srgbClr val="FFFFFF"/>
                    </a:solidFill>
                  </a:tcPr>
                </a:tc>
                <a:tc>
                  <a:txBody>
                    <a:bodyPr/>
                    <a:p>
                      <a:pPr>
                        <a:defRPr/>
                      </a:pPr>
                      <a:r>
                        <a:rPr sz="1350" b="0" i="0">
                          <a:solidFill>
                            <a:srgbClr val="5A5A5A"/>
                          </a:solidFill>
                          <a:latin typeface="Segoe UI"/>
                          <a:ea typeface="Segoe UI"/>
                          <a:cs typeface="Segoe UI"/>
                        </a:rPr>
                        <a:t>also external merge sort</a:t>
                      </a:r>
                      <a:endParaRPr/>
                    </a:p>
                  </a:txBody>
                  <a:tcPr marL="91440" marR="54864" marT="18288" marB="18288" anchor="ctr">
                    <a:solidFill>
                      <a:srgbClr val="FFFFFF"/>
                    </a:solidFill>
                  </a:tcPr>
                </a:tc>
              </a:tr>
              <a:tr h="384048">
                <a:tc>
                  <a:txBody>
                    <a:bodyPr/>
                    <a:p>
                      <a:pPr>
                        <a:defRPr/>
                      </a:pPr>
                      <a:r>
                        <a:rPr sz="1350" b="1" i="0">
                          <a:solidFill>
                            <a:srgbClr val="5A5A5A"/>
                          </a:solidFill>
                          <a:latin typeface="Segoe UI"/>
                          <a:ea typeface="Segoe UI"/>
                          <a:cs typeface="Segoe UI"/>
                        </a:rPr>
                        <a:t>Memory</a:t>
                      </a:r>
                      <a:endParaRPr/>
                    </a:p>
                  </a:txBody>
                  <a:tcPr marL="91440" marR="54864" marT="18288" marB="18288" anchor="ctr">
                    <a:solidFill>
                      <a:srgbClr val="F2F5F8"/>
                    </a:solidFill>
                  </a:tcPr>
                </a:tc>
                <a:tc>
                  <a:txBody>
                    <a:bodyPr/>
                    <a:p>
                      <a:pPr>
                        <a:defRPr/>
                      </a:pPr>
                      <a:r>
                        <a:rPr sz="1350" b="0" i="0">
                          <a:solidFill>
                            <a:srgbClr val="5A5A5A"/>
                          </a:solidFill>
                          <a:latin typeface="Segoe UI"/>
                          <a:ea typeface="Segoe UI"/>
                          <a:cs typeface="Segoe UI"/>
                        </a:rPr>
                        <a:t>-m is a hard ceiling, precisely set</a:t>
                      </a:r>
                      <a:endParaRPr/>
                    </a:p>
                  </a:txBody>
                  <a:tcPr marL="91440" marR="54864" marT="18288" marB="18288" anchor="ctr">
                    <a:solidFill>
                      <a:srgbClr val="F2F5F8"/>
                    </a:solidFill>
                  </a:tcPr>
                </a:tc>
                <a:tc>
                  <a:txBody>
                    <a:bodyPr/>
                    <a:p>
                      <a:pPr>
                        <a:defRPr/>
                      </a:pPr>
                      <a:r>
                        <a:rPr sz="1350" b="0" i="0">
                          <a:solidFill>
                            <a:srgbClr val="5A5A5A"/>
                          </a:solidFill>
                          <a:latin typeface="Segoe UI"/>
                          <a:ea typeface="Segoe UI"/>
                          <a:cs typeface="Segoe UI"/>
                        </a:rPr>
                        <a:t>uses whatever is available</a:t>
                      </a:r>
                      <a:endParaRPr/>
                    </a:p>
                  </a:txBody>
                  <a:tcPr marL="91440" marR="54864" marT="18288" marB="18288" anchor="ctr">
                    <a:solidFill>
                      <a:srgbClr val="F2F5F8"/>
                    </a:solidFill>
                  </a:tcPr>
                </a:tc>
              </a:tr>
              <a:tr h="384048">
                <a:tc>
                  <a:txBody>
                    <a:bodyPr/>
                    <a:p>
                      <a:pPr>
                        <a:defRPr/>
                      </a:pPr>
                      <a:r>
                        <a:rPr sz="1350" b="1" i="0">
                          <a:solidFill>
                            <a:srgbClr val="5A5A5A"/>
                          </a:solidFill>
                          <a:latin typeface="Segoe UI"/>
                          <a:ea typeface="Segoe UI"/>
                          <a:cs typeface="Segoe UI"/>
                        </a:rPr>
                        <a:t>When memory is tight</a:t>
                      </a:r>
                      <a:endParaRPr/>
                    </a:p>
                  </a:txBody>
                  <a:tcPr marL="91440" marR="54864" marT="18288" marB="18288" anchor="ctr">
                    <a:solidFill>
                      <a:srgbClr val="FFFFFF"/>
                    </a:solidFill>
                  </a:tcPr>
                </a:tc>
                <a:tc>
                  <a:txBody>
                    <a:bodyPr/>
                    <a:p>
                      <a:pPr>
                        <a:defRPr/>
                      </a:pPr>
                      <a:r>
                        <a:rPr sz="1350" b="0" i="0">
                          <a:solidFill>
                            <a:srgbClr val="5A5A5A"/>
                          </a:solidFill>
                          <a:latin typeface="Segoe UI"/>
                          <a:ea typeface="Segoe UI"/>
                          <a:cs typeface="Segoe UI"/>
                        </a:rPr>
                        <a:t>k shrinks automatically → multi-pass, predictable</a:t>
                      </a:r>
                      <a:endParaRPr/>
                    </a:p>
                  </a:txBody>
                  <a:tcPr marL="91440" marR="54864" marT="18288" marB="18288" anchor="ctr">
                    <a:solidFill>
                      <a:srgbClr val="FFFFFF"/>
                    </a:solidFill>
                  </a:tcPr>
                </a:tc>
                <a:tc>
                  <a:txBody>
                    <a:bodyPr/>
                    <a:p>
                      <a:pPr>
                        <a:defRPr/>
                      </a:pPr>
                      <a:r>
                        <a:rPr sz="1350" b="0" i="0">
                          <a:solidFill>
                            <a:srgbClr val="5A5A5A"/>
                          </a:solidFill>
                          <a:latin typeface="Segoe UI"/>
                          <a:ea typeface="Segoe UI"/>
                          <a:cs typeface="Segoe UI"/>
                        </a:rPr>
                        <a:t>picks its own merge strategy</a:t>
                      </a:r>
                      <a:endParaRPr/>
                    </a:p>
                  </a:txBody>
                  <a:tcPr marL="91440" marR="54864" marT="18288" marB="18288" anchor="ctr">
                    <a:solidFill>
                      <a:srgbClr val="FFFFFF"/>
                    </a:solidFill>
                  </a:tcPr>
                </a:tc>
              </a:tr>
              <a:tr h="384048">
                <a:tc>
                  <a:txBody>
                    <a:bodyPr/>
                    <a:p>
                      <a:pPr>
                        <a:defRPr/>
                      </a:pPr>
                      <a:r>
                        <a:rPr sz="1350" b="1" i="0">
                          <a:solidFill>
                            <a:srgbClr val="5A5A5A"/>
                          </a:solidFill>
                          <a:latin typeface="Segoe UI"/>
                          <a:ea typeface="Segoe UI"/>
                          <a:cs typeface="Segoe UI"/>
                        </a:rPr>
                        <a:t>Output</a:t>
                      </a:r>
                      <a:endParaRPr/>
                    </a:p>
                  </a:txBody>
                  <a:tcPr marL="91440" marR="54864" marT="18288" marB="18288" anchor="ctr">
                    <a:solidFill>
                      <a:srgbClr val="F2F5F8"/>
                    </a:solidFill>
                  </a:tcPr>
                </a:tc>
                <a:tc>
                  <a:txBody>
                    <a:bodyPr/>
                    <a:p>
                      <a:pPr>
                        <a:defRPr/>
                      </a:pPr>
                      <a:r>
                        <a:rPr sz="1350" b="0" i="0">
                          <a:solidFill>
                            <a:srgbClr val="5A5A5A"/>
                          </a:solidFill>
                          <a:latin typeface="Segoe UI"/>
                          <a:ea typeface="Segoe UI"/>
                          <a:cs typeface="Segoe UI"/>
                        </a:rPr>
                        <a:t>stdout by default; -o may sort in place</a:t>
                      </a:r>
                      <a:endParaRPr/>
                    </a:p>
                  </a:txBody>
                  <a:tcPr marL="91440" marR="54864" marT="18288" marB="18288" anchor="ctr">
                    <a:solidFill>
                      <a:srgbClr val="F2F5F8"/>
                    </a:solidFill>
                  </a:tcPr>
                </a:tc>
                <a:tc>
                  <a:txBody>
                    <a:bodyPr/>
                    <a:p>
                      <a:pPr>
                        <a:defRPr/>
                      </a:pPr>
                      <a:r>
                        <a:rPr sz="1350" b="0" i="0">
                          <a:solidFill>
                            <a:srgbClr val="5A5A5A"/>
                          </a:solidFill>
                          <a:latin typeface="Segoe UI"/>
                          <a:ea typeface="Segoe UI"/>
                          <a:cs typeface="Segoe UI"/>
                        </a:rPr>
                        <a:t>stdout</a:t>
                      </a:r>
                      <a:endParaRPr/>
                    </a:p>
                  </a:txBody>
                  <a:tcPr marL="91440" marR="54864" marT="18288" marB="18288" anchor="ctr">
                    <a:solidFill>
                      <a:srgbClr val="F2F5F8"/>
                    </a:solidFill>
                  </a:tcPr>
                </a:tc>
              </a:tr>
              <a:tr h="384048">
                <a:tc>
                  <a:txBody>
                    <a:bodyPr/>
                    <a:p>
                      <a:pPr>
                        <a:defRPr/>
                      </a:pPr>
                      <a:r>
                        <a:rPr sz="1350" b="1" i="0">
                          <a:solidFill>
                            <a:srgbClr val="5A5A5A"/>
                          </a:solidFill>
                          <a:latin typeface="Segoe UI"/>
                          <a:ea typeface="Segoe UI"/>
                          <a:cs typeface="Segoe UI"/>
                        </a:rPr>
                        <a:t>Stability</a:t>
                      </a:r>
                      <a:endParaRPr/>
                    </a:p>
                  </a:txBody>
                  <a:tcPr marL="91440" marR="54864" marT="18288" marB="18288" anchor="ctr">
                    <a:solidFill>
                      <a:srgbClr val="FFFFFF"/>
                    </a:solidFill>
                  </a:tcPr>
                </a:tc>
                <a:tc>
                  <a:txBody>
                    <a:bodyPr/>
                    <a:p>
                      <a:pPr>
                        <a:defRPr/>
                      </a:pPr>
                      <a:r>
                        <a:rPr sz="1350" b="0" i="0">
                          <a:solidFill>
                            <a:srgbClr val="5A5A5A"/>
                          </a:solidFill>
                          <a:latin typeface="Segoe UI"/>
                          <a:ea typeface="Segoe UI"/>
                          <a:cs typeface="Segoe UI"/>
                        </a:rPr>
                        <a:t>not stable (qsort never guarantees it)</a:t>
                      </a:r>
                      <a:endParaRPr/>
                    </a:p>
                  </a:txBody>
                  <a:tcPr marL="91440" marR="54864" marT="18288" marB="18288" anchor="ctr">
                    <a:solidFill>
                      <a:srgbClr val="FFFFFF"/>
                    </a:solidFill>
                  </a:tcPr>
                </a:tc>
                <a:tc>
                  <a:txBody>
                    <a:bodyPr/>
                    <a:p>
                      <a:pPr>
                        <a:defRPr/>
                      </a:pPr>
                      <a:r>
                        <a:rPr sz="1350" b="0" i="0">
                          <a:solidFill>
                            <a:srgbClr val="5A5A5A"/>
                          </a:solidFill>
                          <a:latin typeface="Segoe UI"/>
                          <a:ea typeface="Segoe UI"/>
                          <a:cs typeface="Segoe UI"/>
                        </a:rPr>
                        <a:t>not stable by default</a:t>
                      </a:r>
                      <a:endParaRPr/>
                    </a:p>
                  </a:txBody>
                  <a:tcPr marL="91440" marR="54864" marT="18288" marB="18288" anchor="ctr">
                    <a:solidFill>
                      <a:srgbClr val="FFFFFF"/>
                    </a:solidFill>
                  </a:tcPr>
                </a:tc>
              </a:tr>
            </a:tbl>
          </a:graphicData>
        </a:graphic>
      </p:graphicFrame>
      <p:sp>
        <p:nvSpPr>
          <p:cNvPr id="150309328" name="Rounded Rectangle 6"/>
          <p:cNvSpPr/>
          <p:nvPr/>
        </p:nvSpPr>
        <p:spPr bwMode="auto">
          <a:xfrm>
            <a:off x="749808" y="4160519"/>
            <a:ext cx="10725912" cy="1828800"/>
          </a:xfrm>
          <a:prstGeom prst="roundRect">
            <a:avLst>
              <a:gd name="adj" fmla="val 16667"/>
            </a:avLst>
          </a:prstGeom>
          <a:solidFill>
            <a:srgbClr val="F2F6FA"/>
          </a:solidFill>
          <a:ln w="15875">
            <a:solidFill>
              <a:srgbClr val="2E6DA4"/>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128016" bIns="73152" rtlCol="0" anchor="t"/>
          <a:lstStyle/>
          <a:p>
            <a:pPr algn="ctr">
              <a:lnSpc>
                <a:spcPct val="135000"/>
              </a:lnSpc>
              <a:spcBef>
                <a:spcPts val="0"/>
              </a:spcBef>
              <a:spcAft>
                <a:spcPts val="800"/>
              </a:spcAft>
              <a:defRPr/>
            </a:pPr>
            <a:r>
              <a:rPr sz="1600" b="1" i="0">
                <a:solidFill>
                  <a:srgbClr val="1B2F4B"/>
                </a:solidFill>
                <a:latin typeface="Segoe UI"/>
                <a:ea typeface="Segoe UI"/>
                <a:cs typeface="Segoe UI"/>
              </a:rPr>
              <a:t>Practical finding: more memory is not always faster</a:t>
            </a:r>
            <a:endParaRPr/>
          </a:p>
          <a:p>
            <a:pPr>
              <a:lnSpc>
                <a:spcPct val="135000"/>
              </a:lnSpc>
              <a:spcBef>
                <a:spcPts val="0"/>
              </a:spcBef>
              <a:spcAft>
                <a:spcPts val="600"/>
              </a:spcAft>
              <a:defRPr/>
            </a:pPr>
            <a:r>
              <a:rPr sz="1500" b="0" i="0">
                <a:solidFill>
                  <a:srgbClr val="5A5A5A"/>
                </a:solidFill>
                <a:latin typeface="Segoe UI"/>
                <a:ea typeface="Segoe UI"/>
                <a:cs typeface="Segoe UI"/>
              </a:rPr>
              <a:t>-m 4 → 0.97 s     -m 8 → 1.06 s     </a:t>
            </a:r>
            <a:r>
              <a:rPr sz="1500" b="1" i="0">
                <a:solidFill>
                  <a:srgbClr val="E06C2E"/>
                </a:solidFill>
                <a:latin typeface="Segoe UI"/>
                <a:ea typeface="Segoe UI"/>
                <a:cs typeface="Segoe UI"/>
              </a:rPr>
              <a:t>-m 100 → 1.67 s</a:t>
            </a:r>
            <a:r>
              <a:rPr sz="1500" b="0" i="0">
                <a:solidFill>
                  <a:srgbClr val="5A5A5A"/>
                </a:solidFill>
                <a:latin typeface="Segoe UI"/>
                <a:ea typeface="Segoe UI"/>
                <a:cs typeface="Segoe UI"/>
              </a:rPr>
              <a:t>   (75 MB, 1.5 M lines)</a:t>
            </a:r>
            <a:endParaRPr/>
          </a:p>
          <a:p>
            <a:pPr>
              <a:lnSpc>
                <a:spcPct val="135000"/>
              </a:lnSpc>
              <a:spcBef>
                <a:spcPts val="0"/>
              </a:spcBef>
              <a:spcAft>
                <a:spcPts val="0"/>
              </a:spcAft>
              <a:defRPr/>
            </a:pPr>
            <a:r>
              <a:rPr sz="1300" b="0" i="0">
                <a:solidFill>
                  <a:srgbClr val="5A5A5A"/>
                </a:solidFill>
                <a:latin typeface="Segoe UI"/>
                <a:ea typeface="Segoe UI"/>
                <a:cs typeface="Segoe UI"/>
              </a:rPr>
              <a:t>A bigger in-memory batch hurts qsort() cache locality, and the final write is sequential I/O, so the time saved by writing fewer temp files does not pay for itself. This tool is I/O bound, not CPU bound.</a:t>
            </a:r>
            <a:endParaRPr/>
          </a:p>
        </p:txBody>
      </p:sp>
      <p:sp>
        <p:nvSpPr>
          <p:cNvPr id="871878893" name="TextBox 7"/>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1734556446" name="TextBox 8"/>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11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4773313"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31432638"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Performance Measurements</a:t>
            </a:r>
            <a:endParaRPr/>
          </a:p>
        </p:txBody>
      </p:sp>
      <p:sp>
        <p:nvSpPr>
          <p:cNvPr id="1998164276"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75 MB / 1,500,000 lines, numeric sort, warm cache, best of 3</a:t>
            </a:r>
            <a:endParaRPr/>
          </a:p>
        </p:txBody>
      </p:sp>
      <p:sp>
        <p:nvSpPr>
          <p:cNvPr id="447625231"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graphicFrame>
        <p:nvGraphicFramePr>
          <p:cNvPr id="994838782" name="Table 5"/>
          <p:cNvGraphicFramePr>
            <a:graphicFrameLocks xmlns:a="http://schemas.openxmlformats.org/drawingml/2006/main" noGrp="1"/>
          </p:cNvGraphicFramePr>
          <p:nvPr/>
        </p:nvGraphicFramePr>
        <p:xfrm rot="0">
          <a:off x="749808" y="1783080"/>
          <a:ext cx="5486400" cy="1828800"/>
        </p:xfrm>
        <a:graphic>
          <a:graphicData uri="http://schemas.openxmlformats.org/drawingml/2006/table">
            <a:tbl>
              <a:tblPr firstRow="1" firstCol="0" lastRow="0" lastCol="0" bandRow="1" bandCol="0">
                <a:tableStyleId>{5C22544A-7EE6-4342-B048-85BDC9FD1C3A}</a:tableStyleId>
              </a:tblPr>
              <a:tblGrid>
                <a:gridCol w="838200"/>
                <a:gridCol w="1676400"/>
                <a:gridCol w="1143000"/>
                <a:gridCol w="1828800"/>
              </a:tblGrid>
              <a:tr h="365760">
                <a:tc>
                  <a:txBody>
                    <a:bodyPr/>
                    <a:p>
                      <a:pPr>
                        <a:defRPr/>
                      </a:pPr>
                      <a:r>
                        <a:rPr sz="1400" b="1" i="0">
                          <a:solidFill>
                            <a:srgbClr val="FFFFFF"/>
                          </a:solidFill>
                          <a:latin typeface="Segoe UI"/>
                          <a:ea typeface="Segoe UI"/>
                          <a:cs typeface="Segoe UI"/>
                        </a:rPr>
                        <a:t>-m</a:t>
                      </a:r>
                      <a:endParaRPr/>
                    </a:p>
                  </a:txBody>
                  <a:tcPr marL="91440" marR="54864" marT="18288" marB="18288" anchor="ctr">
                    <a:solidFill>
                      <a:srgbClr val="1B2F4B"/>
                    </a:solidFill>
                  </a:tcPr>
                </a:tc>
                <a:tc>
                  <a:txBody>
                    <a:bodyPr/>
                    <a:p>
                      <a:pPr>
                        <a:defRPr/>
                      </a:pPr>
                      <a:r>
                        <a:rPr sz="1400" b="1" i="0">
                          <a:solidFill>
                            <a:srgbClr val="FFFFFF"/>
                          </a:solidFill>
                          <a:latin typeface="Segoe UI"/>
                          <a:ea typeface="Segoe UI"/>
                          <a:cs typeface="Segoe UI"/>
                        </a:rPr>
                        <a:t>Peak RSS (MB)</a:t>
                      </a:r>
                      <a:endParaRPr/>
                    </a:p>
                  </a:txBody>
                  <a:tcPr marL="91440" marR="54864" marT="18288" marB="18288" anchor="ctr">
                    <a:solidFill>
                      <a:srgbClr val="1B2F4B"/>
                    </a:solidFill>
                  </a:tcPr>
                </a:tc>
                <a:tc>
                  <a:txBody>
                    <a:bodyPr/>
                    <a:p>
                      <a:pPr>
                        <a:defRPr/>
                      </a:pPr>
                      <a:r>
                        <a:rPr sz="1400" b="1" i="0">
                          <a:solidFill>
                            <a:srgbClr val="FFFFFF"/>
                          </a:solidFill>
                          <a:latin typeface="Segoe UI"/>
                          <a:ea typeface="Segoe UI"/>
                          <a:cs typeface="Segoe UI"/>
                        </a:rPr>
                        <a:t>Time (s)</a:t>
                      </a:r>
                      <a:endParaRPr/>
                    </a:p>
                  </a:txBody>
                  <a:tcPr marL="91440" marR="54864" marT="18288" marB="18288" anchor="ctr">
                    <a:solidFill>
                      <a:srgbClr val="1B2F4B"/>
                    </a:solidFill>
                  </a:tcPr>
                </a:tc>
                <a:tc>
                  <a:txBody>
                    <a:bodyPr/>
                    <a:p>
                      <a:pPr>
                        <a:defRPr/>
                      </a:pPr>
                      <a:r>
                        <a:rPr sz="1400" b="1" i="0">
                          <a:solidFill>
                            <a:srgbClr val="FFFFFF"/>
                          </a:solidFill>
                          <a:latin typeface="Segoe UI"/>
                          <a:ea typeface="Segoe UI"/>
                          <a:cs typeface="Segoe UI"/>
                        </a:rPr>
                        <a:t>Verdict</a:t>
                      </a:r>
                      <a:endParaRPr/>
                    </a:p>
                  </a:txBody>
                  <a:tcPr marL="91440" marR="54864" marT="18288" marB="18288" anchor="ctr">
                    <a:solidFill>
                      <a:srgbClr val="1B2F4B"/>
                    </a:solidFill>
                  </a:tcPr>
                </a:tc>
              </a:tr>
              <a:tr h="365760">
                <a:tc>
                  <a:txBody>
                    <a:bodyPr/>
                    <a:p>
                      <a:pPr>
                        <a:defRPr/>
                      </a:pPr>
                      <a:r>
                        <a:rPr sz="1400" b="1" i="0">
                          <a:solidFill>
                            <a:srgbClr val="5A5A5A"/>
                          </a:solidFill>
                          <a:latin typeface="Segoe UI"/>
                          <a:ea typeface="Segoe UI"/>
                          <a:cs typeface="Segoe UI"/>
                        </a:rPr>
                        <a:t>4</a:t>
                      </a:r>
                      <a:endParaRPr/>
                    </a:p>
                  </a:txBody>
                  <a:tcPr marL="91440" marR="54864" marT="18288" marB="18288" anchor="ctr">
                    <a:solidFill>
                      <a:srgbClr val="FFFFFF"/>
                    </a:solidFill>
                  </a:tcPr>
                </a:tc>
                <a:tc>
                  <a:txBody>
                    <a:bodyPr/>
                    <a:p>
                      <a:pPr>
                        <a:defRPr/>
                      </a:pPr>
                      <a:r>
                        <a:rPr sz="1400" b="0" i="0">
                          <a:solidFill>
                            <a:srgbClr val="5A5A5A"/>
                          </a:solidFill>
                          <a:latin typeface="Segoe UI"/>
                          <a:ea typeface="Segoe UI"/>
                          <a:cs typeface="Segoe UI"/>
                        </a:rPr>
                        <a:t>5.6</a:t>
                      </a:r>
                      <a:endParaRPr/>
                    </a:p>
                  </a:txBody>
                  <a:tcPr marL="91440" marR="54864" marT="18288" marB="18288" anchor="ctr">
                    <a:solidFill>
                      <a:srgbClr val="FFFFFF"/>
                    </a:solidFill>
                  </a:tcPr>
                </a:tc>
                <a:tc>
                  <a:txBody>
                    <a:bodyPr/>
                    <a:p>
                      <a:pPr>
                        <a:defRPr/>
                      </a:pPr>
                      <a:r>
                        <a:rPr sz="1400" b="0" i="0">
                          <a:solidFill>
                            <a:srgbClr val="5A5A5A"/>
                          </a:solidFill>
                          <a:latin typeface="Segoe UI"/>
                          <a:ea typeface="Segoe UI"/>
                          <a:cs typeface="Segoe UI"/>
                        </a:rPr>
                        <a:t>0.97</a:t>
                      </a:r>
                      <a:endParaRPr/>
                    </a:p>
                  </a:txBody>
                  <a:tcPr marL="91440" marR="54864" marT="18288" marB="18288" anchor="ctr">
                    <a:solidFill>
                      <a:srgbClr val="FFFFFF"/>
                    </a:solidFill>
                  </a:tcPr>
                </a:tc>
                <a:tc>
                  <a:txBody>
                    <a:bodyPr/>
                    <a:p>
                      <a:pPr>
                        <a:defRPr/>
                      </a:pPr>
                      <a:r>
                        <a:rPr sz="1400" b="0" i="0">
                          <a:solidFill>
                            <a:srgbClr val="2E8B57"/>
                          </a:solidFill>
                          <a:latin typeface="Segoe UI"/>
                          <a:ea typeface="Segoe UI"/>
                          <a:cs typeface="Segoe UI"/>
                        </a:rPr>
                        <a:t>memory respected</a:t>
                      </a:r>
                      <a:endParaRPr/>
                    </a:p>
                  </a:txBody>
                  <a:tcPr marL="91440" marR="54864" marT="18288" marB="18288" anchor="ctr">
                    <a:solidFill>
                      <a:srgbClr val="FFFFFF"/>
                    </a:solidFill>
                  </a:tcPr>
                </a:tc>
              </a:tr>
              <a:tr h="365760">
                <a:tc>
                  <a:txBody>
                    <a:bodyPr/>
                    <a:p>
                      <a:pPr>
                        <a:defRPr/>
                      </a:pPr>
                      <a:r>
                        <a:rPr sz="1400" b="1" i="0">
                          <a:solidFill>
                            <a:srgbClr val="5A5A5A"/>
                          </a:solidFill>
                          <a:latin typeface="Segoe UI"/>
                          <a:ea typeface="Segoe UI"/>
                          <a:cs typeface="Segoe UI"/>
                        </a:rPr>
                        <a:t>8</a:t>
                      </a:r>
                      <a:endParaRPr/>
                    </a:p>
                  </a:txBody>
                  <a:tcPr marL="91440" marR="54864" marT="18288" marB="18288" anchor="ctr">
                    <a:solidFill>
                      <a:srgbClr val="F2F5F8"/>
                    </a:solidFill>
                  </a:tcPr>
                </a:tc>
                <a:tc>
                  <a:txBody>
                    <a:bodyPr/>
                    <a:p>
                      <a:pPr>
                        <a:defRPr/>
                      </a:pPr>
                      <a:r>
                        <a:rPr sz="1400" b="0" i="0">
                          <a:solidFill>
                            <a:srgbClr val="5A5A5A"/>
                          </a:solidFill>
                          <a:latin typeface="Segoe UI"/>
                          <a:ea typeface="Segoe UI"/>
                          <a:cs typeface="Segoe UI"/>
                        </a:rPr>
                        <a:t>6.2</a:t>
                      </a:r>
                      <a:endParaRPr/>
                    </a:p>
                  </a:txBody>
                  <a:tcPr marL="91440" marR="54864" marT="18288" marB="18288" anchor="ctr">
                    <a:solidFill>
                      <a:srgbClr val="F2F5F8"/>
                    </a:solidFill>
                  </a:tcPr>
                </a:tc>
                <a:tc>
                  <a:txBody>
                    <a:bodyPr/>
                    <a:p>
                      <a:pPr>
                        <a:defRPr/>
                      </a:pPr>
                      <a:r>
                        <a:rPr sz="1400" b="0" i="0">
                          <a:solidFill>
                            <a:srgbClr val="5A5A5A"/>
                          </a:solidFill>
                          <a:latin typeface="Segoe UI"/>
                          <a:ea typeface="Segoe UI"/>
                          <a:cs typeface="Segoe UI"/>
                        </a:rPr>
                        <a:t>1.06</a:t>
                      </a:r>
                      <a:endParaRPr/>
                    </a:p>
                  </a:txBody>
                  <a:tcPr marL="91440" marR="54864" marT="18288" marB="18288" anchor="ctr">
                    <a:solidFill>
                      <a:srgbClr val="F2F5F8"/>
                    </a:solidFill>
                  </a:tcPr>
                </a:tc>
                <a:tc>
                  <a:txBody>
                    <a:bodyPr/>
                    <a:p>
                      <a:pPr>
                        <a:defRPr/>
                      </a:pPr>
                      <a:r>
                        <a:rPr sz="1400" b="0" i="0">
                          <a:solidFill>
                            <a:srgbClr val="2E8B57"/>
                          </a:solidFill>
                          <a:latin typeface="Segoe UI"/>
                          <a:ea typeface="Segoe UI"/>
                          <a:cs typeface="Segoe UI"/>
                        </a:rPr>
                        <a:t>memory respected</a:t>
                      </a:r>
                      <a:endParaRPr/>
                    </a:p>
                  </a:txBody>
                  <a:tcPr marL="91440" marR="54864" marT="18288" marB="18288" anchor="ctr">
                    <a:solidFill>
                      <a:srgbClr val="F2F5F8"/>
                    </a:solidFill>
                  </a:tcPr>
                </a:tc>
              </a:tr>
              <a:tr h="365760">
                <a:tc>
                  <a:txBody>
                    <a:bodyPr/>
                    <a:p>
                      <a:pPr>
                        <a:defRPr/>
                      </a:pPr>
                      <a:r>
                        <a:rPr sz="1400" b="1" i="0">
                          <a:solidFill>
                            <a:srgbClr val="5A5A5A"/>
                          </a:solidFill>
                          <a:latin typeface="Segoe UI"/>
                          <a:ea typeface="Segoe UI"/>
                          <a:cs typeface="Segoe UI"/>
                        </a:rPr>
                        <a:t>16</a:t>
                      </a:r>
                      <a:endParaRPr/>
                    </a:p>
                  </a:txBody>
                  <a:tcPr marL="91440" marR="54864" marT="18288" marB="18288" anchor="ctr">
                    <a:solidFill>
                      <a:srgbClr val="FFFFFF"/>
                    </a:solidFill>
                  </a:tcPr>
                </a:tc>
                <a:tc>
                  <a:txBody>
                    <a:bodyPr/>
                    <a:p>
                      <a:pPr>
                        <a:defRPr/>
                      </a:pPr>
                      <a:r>
                        <a:rPr sz="1400" b="0" i="0">
                          <a:solidFill>
                            <a:srgbClr val="5A5A5A"/>
                          </a:solidFill>
                          <a:latin typeface="Segoe UI"/>
                          <a:ea typeface="Segoe UI"/>
                          <a:cs typeface="Segoe UI"/>
                        </a:rPr>
                        <a:t>12.1</a:t>
                      </a:r>
                      <a:endParaRPr/>
                    </a:p>
                  </a:txBody>
                  <a:tcPr marL="91440" marR="54864" marT="18288" marB="18288" anchor="ctr">
                    <a:solidFill>
                      <a:srgbClr val="FFFFFF"/>
                    </a:solidFill>
                  </a:tcPr>
                </a:tc>
                <a:tc>
                  <a:txBody>
                    <a:bodyPr/>
                    <a:p>
                      <a:pPr>
                        <a:defRPr/>
                      </a:pPr>
                      <a:r>
                        <a:rPr sz="1400" b="0" i="0">
                          <a:solidFill>
                            <a:srgbClr val="5A5A5A"/>
                          </a:solidFill>
                          <a:latin typeface="Segoe UI"/>
                          <a:ea typeface="Segoe UI"/>
                          <a:cs typeface="Segoe UI"/>
                        </a:rPr>
                        <a:t>1.16</a:t>
                      </a:r>
                      <a:endParaRPr/>
                    </a:p>
                  </a:txBody>
                  <a:tcPr marL="91440" marR="54864" marT="18288" marB="18288" anchor="ctr">
                    <a:solidFill>
                      <a:srgbClr val="FFFFFF"/>
                    </a:solidFill>
                  </a:tcPr>
                </a:tc>
                <a:tc>
                  <a:txBody>
                    <a:bodyPr/>
                    <a:p>
                      <a:pPr>
                        <a:defRPr/>
                      </a:pPr>
                      <a:r>
                        <a:rPr sz="1400" b="0" i="0">
                          <a:solidFill>
                            <a:srgbClr val="2E8B57"/>
                          </a:solidFill>
                          <a:latin typeface="Segoe UI"/>
                          <a:ea typeface="Segoe UI"/>
                          <a:cs typeface="Segoe UI"/>
                        </a:rPr>
                        <a:t>memory respected</a:t>
                      </a:r>
                      <a:endParaRPr/>
                    </a:p>
                  </a:txBody>
                  <a:tcPr marL="91440" marR="54864" marT="18288" marB="18288" anchor="ctr">
                    <a:solidFill>
                      <a:srgbClr val="FFFFFF"/>
                    </a:solidFill>
                  </a:tcPr>
                </a:tc>
              </a:tr>
              <a:tr h="365760">
                <a:tc>
                  <a:txBody>
                    <a:bodyPr/>
                    <a:p>
                      <a:pPr>
                        <a:defRPr/>
                      </a:pPr>
                      <a:r>
                        <a:rPr sz="1400" b="1" i="0">
                          <a:solidFill>
                            <a:srgbClr val="5A5A5A"/>
                          </a:solidFill>
                          <a:latin typeface="Segoe UI"/>
                          <a:ea typeface="Segoe UI"/>
                          <a:cs typeface="Segoe UI"/>
                        </a:rPr>
                        <a:t>100</a:t>
                      </a:r>
                      <a:endParaRPr/>
                    </a:p>
                  </a:txBody>
                  <a:tcPr marL="91440" marR="54864" marT="18288" marB="18288" anchor="ctr">
                    <a:solidFill>
                      <a:srgbClr val="F2F5F8"/>
                    </a:solidFill>
                  </a:tcPr>
                </a:tc>
                <a:tc>
                  <a:txBody>
                    <a:bodyPr/>
                    <a:p>
                      <a:pPr>
                        <a:defRPr/>
                      </a:pPr>
                      <a:r>
                        <a:rPr sz="1400" b="0" i="0">
                          <a:solidFill>
                            <a:srgbClr val="5A5A5A"/>
                          </a:solidFill>
                          <a:latin typeface="Segoe UI"/>
                          <a:ea typeface="Segoe UI"/>
                          <a:cs typeface="Segoe UI"/>
                        </a:rPr>
                        <a:t>98.8</a:t>
                      </a:r>
                      <a:endParaRPr/>
                    </a:p>
                  </a:txBody>
                  <a:tcPr marL="91440" marR="54864" marT="18288" marB="18288" anchor="ctr">
                    <a:solidFill>
                      <a:srgbClr val="F2F5F8"/>
                    </a:solidFill>
                  </a:tcPr>
                </a:tc>
                <a:tc>
                  <a:txBody>
                    <a:bodyPr/>
                    <a:p>
                      <a:pPr>
                        <a:defRPr/>
                      </a:pPr>
                      <a:r>
                        <a:rPr sz="1400" b="0" i="0">
                          <a:solidFill>
                            <a:srgbClr val="5A5A5A"/>
                          </a:solidFill>
                          <a:latin typeface="Segoe UI"/>
                          <a:ea typeface="Segoe UI"/>
                          <a:cs typeface="Segoe UI"/>
                        </a:rPr>
                        <a:t>1.63</a:t>
                      </a:r>
                      <a:endParaRPr/>
                    </a:p>
                  </a:txBody>
                  <a:tcPr marL="91440" marR="54864" marT="18288" marB="18288" anchor="ctr">
                    <a:solidFill>
                      <a:srgbClr val="F2F5F8"/>
                    </a:solidFill>
                  </a:tcPr>
                </a:tc>
                <a:tc>
                  <a:txBody>
                    <a:bodyPr/>
                    <a:p>
                      <a:pPr>
                        <a:defRPr/>
                      </a:pPr>
                      <a:r>
                        <a:rPr sz="1400" b="0" i="0">
                          <a:solidFill>
                            <a:srgbClr val="2E8B57"/>
                          </a:solidFill>
                          <a:latin typeface="Segoe UI"/>
                          <a:ea typeface="Segoe UI"/>
                          <a:cs typeface="Segoe UI"/>
                        </a:rPr>
                        <a:t>memory respected</a:t>
                      </a:r>
                      <a:endParaRPr/>
                    </a:p>
                  </a:txBody>
                  <a:tcPr marL="91440" marR="54864" marT="18288" marB="18288" anchor="ctr">
                    <a:solidFill>
                      <a:srgbClr val="F2F5F8"/>
                    </a:solidFill>
                  </a:tcPr>
                </a:tc>
              </a:tr>
            </a:tbl>
          </a:graphicData>
        </a:graphic>
      </p:graphicFrame>
      <p:sp>
        <p:nvSpPr>
          <p:cNvPr id="158614983" name="TextBox 6"/>
          <p:cNvSpPr txBox="1"/>
          <p:nvPr/>
        </p:nvSpPr>
        <p:spPr bwMode="auto">
          <a:xfrm>
            <a:off x="6675120" y="1783080"/>
            <a:ext cx="4848119" cy="2256895"/>
          </a:xfrm>
          <a:prstGeom prst="rect">
            <a:avLst/>
          </a:prstGeom>
          <a:noFill/>
        </p:spPr>
        <p:txBody>
          <a:bodyPr wrap="square" lIns="0" tIns="0" rIns="0" bIns="0">
            <a:spAutoFit/>
          </a:bodyPr>
          <a:lstStyle/>
          <a:p>
            <a:pPr>
              <a:lnSpc>
                <a:spcPct val="135000"/>
              </a:lnSpc>
              <a:spcBef>
                <a:spcPts val="0"/>
              </a:spcBef>
              <a:spcAft>
                <a:spcPts val="1000"/>
              </a:spcAft>
              <a:defRPr/>
            </a:pPr>
            <a:r>
              <a:rPr sz="1800" b="1" i="0">
                <a:solidFill>
                  <a:srgbClr val="1B2F4B"/>
                </a:solidFill>
                <a:latin typeface="Segoe UI"/>
                <a:ea typeface="Segoe UI"/>
                <a:cs typeface="Segoe UI"/>
              </a:rPr>
              <a:t>Memory really tracks -m</a:t>
            </a:r>
            <a:endParaRPr/>
          </a:p>
          <a:p>
            <a:pPr>
              <a:lnSpc>
                <a:spcPct val="160000"/>
              </a:lnSpc>
              <a:spcBef>
                <a:spcPts val="0"/>
              </a:spcBef>
              <a:spcAft>
                <a:spcPts val="1000"/>
              </a:spcAft>
              <a:defRPr/>
            </a:pPr>
            <a:r>
              <a:rPr sz="1500" b="0" i="0">
                <a:solidFill>
                  <a:srgbClr val="5A5A5A"/>
                </a:solidFill>
                <a:latin typeface="Consolas"/>
                <a:ea typeface="Consolas"/>
                <a:cs typeface="Consolas"/>
              </a:rPr>
              <a:t>-m 100 → 98.8 MB</a:t>
            </a:r>
            <a:br>
              <a:rPr sz="1500" b="0" i="0">
                <a:solidFill>
                  <a:srgbClr val="5A5A5A"/>
                </a:solidFill>
                <a:latin typeface="Consolas"/>
                <a:ea typeface="Consolas"/>
                <a:cs typeface="Consolas"/>
              </a:rPr>
            </a:br>
            <a:r>
              <a:rPr sz="1500" b="0" i="0">
                <a:solidFill>
                  <a:srgbClr val="5A5A5A"/>
                </a:solidFill>
                <a:latin typeface="Consolas"/>
                <a:ea typeface="Consolas"/>
                <a:cs typeface="Consolas"/>
              </a:rPr>
              <a:t>-m 16  → 12.1 MB</a:t>
            </a:r>
            <a:br>
              <a:rPr sz="1500" b="0" i="0">
                <a:solidFill>
                  <a:srgbClr val="5A5A5A"/>
                </a:solidFill>
                <a:latin typeface="Consolas"/>
                <a:ea typeface="Consolas"/>
                <a:cs typeface="Consolas"/>
              </a:rPr>
            </a:br>
            <a:r>
              <a:rPr sz="1500" b="0" i="0">
                <a:solidFill>
                  <a:srgbClr val="5A5A5A"/>
                </a:solidFill>
                <a:latin typeface="Consolas"/>
                <a:ea typeface="Consolas"/>
                <a:cs typeface="Consolas"/>
              </a:rPr>
              <a:t>-m 4   → 5.6 MB</a:t>
            </a:r>
            <a:endParaRPr/>
          </a:p>
          <a:p>
            <a:pPr>
              <a:lnSpc>
                <a:spcPct val="135000"/>
              </a:lnSpc>
              <a:spcBef>
                <a:spcPts val="0"/>
              </a:spcBef>
              <a:spcAft>
                <a:spcPts val="0"/>
              </a:spcAft>
              <a:defRPr/>
            </a:pPr>
            <a:r>
              <a:rPr sz="1300" b="0" i="0">
                <a:solidFill>
                  <a:srgbClr val="5A5A5A"/>
                </a:solidFill>
                <a:latin typeface="Segoe UI"/>
                <a:ea typeface="Segoe UI"/>
                <a:cs typeface="Segoe UI"/>
              </a:rPr>
              <a:t>The extra 1.5–2 MB is the program image and libc overhead, not our buffers.</a:t>
            </a:r>
            <a:endParaRPr/>
          </a:p>
        </p:txBody>
      </p:sp>
      <p:sp>
        <p:nvSpPr>
          <p:cNvPr id="1007376988" name="Rounded Rectangle 7"/>
          <p:cNvSpPr/>
          <p:nvPr/>
        </p:nvSpPr>
        <p:spPr bwMode="auto">
          <a:xfrm>
            <a:off x="749808" y="4434840"/>
            <a:ext cx="10725912" cy="1234440"/>
          </a:xfrm>
          <a:prstGeom prst="roundRect">
            <a:avLst>
              <a:gd name="adj" fmla="val 16667"/>
            </a:avLst>
          </a:prstGeom>
          <a:solidFill>
            <a:srgbClr val="F2F8F4"/>
          </a:solidFill>
          <a:ln w="15875">
            <a:solidFill>
              <a:srgbClr val="2E8B57"/>
            </a:solidFill>
          </a:ln>
          <a:effectLst/>
        </p:spPr>
        <p:style>
          <a:lnRef idx="1">
            <a:schemeClr val="accent1"/>
          </a:lnRef>
          <a:fillRef idx="3">
            <a:schemeClr val="accent1"/>
          </a:fillRef>
          <a:effectRef idx="2">
            <a:schemeClr val="accent1"/>
          </a:effectRef>
          <a:fontRef idx="minor">
            <a:schemeClr val="lt1"/>
          </a:fontRef>
        </p:style>
        <p:txBody>
          <a:bodyPr wrap="square" lIns="201168" tIns="137160" rIns="128016" bIns="73152" rtlCol="0" anchor="t"/>
          <a:lstStyle/>
          <a:p>
            <a:pPr algn="ctr">
              <a:lnSpc>
                <a:spcPct val="135000"/>
              </a:lnSpc>
              <a:spcBef>
                <a:spcPts val="0"/>
              </a:spcBef>
              <a:spcAft>
                <a:spcPts val="800"/>
              </a:spcAft>
              <a:defRPr/>
            </a:pPr>
            <a:r>
              <a:rPr sz="1600" b="1" i="0">
                <a:solidFill>
                  <a:srgbClr val="1B2F4B"/>
                </a:solidFill>
                <a:latin typeface="Segoe UI"/>
                <a:ea typeface="Segoe UI"/>
                <a:cs typeface="Segoe UI"/>
              </a:rPr>
              <a:t>Other verification results</a:t>
            </a:r>
            <a:endParaRPr/>
          </a:p>
          <a:p>
            <a:pPr>
              <a:lnSpc>
                <a:spcPct val="135000"/>
              </a:lnSpc>
              <a:spcBef>
                <a:spcPts val="0"/>
              </a:spcBef>
              <a:spcAft>
                <a:spcPts val="0"/>
              </a:spcAft>
              <a:defRPr/>
            </a:pPr>
            <a:r>
              <a:rPr sz="1350" b="0" i="0">
                <a:solidFill>
                  <a:srgbClr val="5A5A5A"/>
                </a:solidFill>
                <a:latin typeface="Segoe UI"/>
                <a:ea typeface="Segoe UI"/>
                <a:cs typeface="Segoe UI"/>
              </a:rPr>
              <a:t>Root replacement: </a:t>
            </a:r>
            <a:r>
              <a:rPr sz="1350" b="1" i="0">
                <a:solidFill>
                  <a:srgbClr val="2E8B57"/>
                </a:solidFill>
                <a:latin typeface="Segoe UI"/>
                <a:ea typeface="Segoe UI"/>
                <a:cs typeface="Segoe UI"/>
              </a:rPr>
              <a:t>−8 to 11% comparator calls, 3 to 4% faster</a:t>
            </a:r>
            <a:r>
              <a:rPr sz="1350" b="0" i="0">
                <a:solidFill>
                  <a:srgbClr val="D8DCE0"/>
                </a:solidFill>
                <a:latin typeface="Segoe UI"/>
                <a:ea typeface="Segoe UI"/>
                <a:cs typeface="Segoe UI"/>
              </a:rPr>
              <a:t>    |    </a:t>
            </a:r>
            <a:r>
              <a:rPr sz="1350" b="0" i="0">
                <a:solidFill>
                  <a:srgbClr val="5A5A5A"/>
                </a:solidFill>
                <a:latin typeface="Segoe UI"/>
                <a:ea typeface="Segoe UI"/>
                <a:cs typeface="Segoe UI"/>
              </a:rPr>
              <a:t>Differential tests: </a:t>
            </a:r>
            <a:r>
              <a:rPr sz="1350" b="1" i="0">
                <a:solidFill>
                  <a:srgbClr val="2E8B57"/>
                </a:solidFill>
                <a:latin typeface="Segoe UI"/>
                <a:ea typeface="Segoe UI"/>
                <a:cs typeface="Segoe UI"/>
              </a:rPr>
              <a:t>288 / 288 passing</a:t>
            </a:r>
            <a:r>
              <a:rPr sz="1350" b="0" i="0">
                <a:solidFill>
                  <a:srgbClr val="D8DCE0"/>
                </a:solidFill>
                <a:latin typeface="Segoe UI"/>
                <a:ea typeface="Segoe UI"/>
                <a:cs typeface="Segoe UI"/>
              </a:rPr>
              <a:t>    |    </a:t>
            </a:r>
            <a:r>
              <a:rPr sz="1350" b="0" i="0">
                <a:solidFill>
                  <a:srgbClr val="5A5A5A"/>
                </a:solidFill>
                <a:latin typeface="Segoe UI"/>
                <a:ea typeface="Segoe UI"/>
                <a:cs typeface="Segoe UI"/>
              </a:rPr>
              <a:t>ASAN / UBSan: </a:t>
            </a:r>
            <a:r>
              <a:rPr sz="1350" b="1" i="0">
                <a:solidFill>
                  <a:srgbClr val="2E8B57"/>
                </a:solidFill>
                <a:latin typeface="Segoe UI"/>
                <a:ea typeface="Segoe UI"/>
                <a:cs typeface="Segoe UI"/>
              </a:rPr>
              <a:t>no leaks, no UB</a:t>
            </a:r>
            <a:endParaRPr/>
          </a:p>
        </p:txBody>
      </p:sp>
      <p:sp>
        <p:nvSpPr>
          <p:cNvPr id="1535980688" name="TextBox 8"/>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480550135" name="TextBox 9"/>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12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9766937"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031236774"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Debugging I: Dropped Lines and a Heap Bug</a:t>
            </a:r>
            <a:endParaRPr/>
          </a:p>
        </p:txBody>
      </p:sp>
      <p:sp>
        <p:nvSpPr>
          <p:cNvPr id="1972598922"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Both were silent errors — the program completed but the answer was wrong</a:t>
            </a:r>
            <a:endParaRPr/>
          </a:p>
        </p:txBody>
      </p:sp>
      <p:sp>
        <p:nvSpPr>
          <p:cNvPr id="1248329723"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488167577" name="Rounded Rectangle 5"/>
          <p:cNvSpPr/>
          <p:nvPr/>
        </p:nvSpPr>
        <p:spPr bwMode="auto">
          <a:xfrm>
            <a:off x="749808" y="1627632"/>
            <a:ext cx="10725912" cy="1847088"/>
          </a:xfrm>
          <a:prstGeom prst="roundRect">
            <a:avLst>
              <a:gd name="adj" fmla="val 16667"/>
            </a:avLst>
          </a:prstGeom>
          <a:solidFill>
            <a:srgbClr val="FAFBFC"/>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273401004" name="Rounded Rectangle 6"/>
          <p:cNvSpPr/>
          <p:nvPr/>
        </p:nvSpPr>
        <p:spPr bwMode="auto">
          <a:xfrm>
            <a:off x="932688" y="1773936"/>
            <a:ext cx="438912" cy="438912"/>
          </a:xfrm>
          <a:prstGeom prst="roundRect">
            <a:avLst>
              <a:gd name="adj" fmla="val 16667"/>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500" b="1" i="0">
                <a:solidFill>
                  <a:srgbClr val="FFFFFF"/>
                </a:solidFill>
                <a:latin typeface="Segoe UI"/>
                <a:ea typeface="Segoe UI"/>
                <a:cs typeface="Segoe UI"/>
              </a:rPr>
              <a:t>1</a:t>
            </a:r>
            <a:endParaRPr/>
          </a:p>
        </p:txBody>
      </p:sp>
      <p:sp>
        <p:nvSpPr>
          <p:cNvPr id="1126735544" name="TextBox 7"/>
          <p:cNvSpPr txBox="1"/>
          <p:nvPr/>
        </p:nvSpPr>
        <p:spPr bwMode="auto">
          <a:xfrm>
            <a:off x="1554480" y="1755648"/>
            <a:ext cx="9692640" cy="384048"/>
          </a:xfrm>
          <a:prstGeom prst="rect">
            <a:avLst/>
          </a:prstGeom>
          <a:noFill/>
        </p:spPr>
        <p:txBody>
          <a:bodyPr wrap="square" lIns="0" tIns="0" rIns="0" bIns="0">
            <a:spAutoFit/>
          </a:bodyPr>
          <a:lstStyle/>
          <a:p>
            <a:pPr>
              <a:lnSpc>
                <a:spcPct val="135000"/>
              </a:lnSpc>
              <a:spcBef>
                <a:spcPts val="0"/>
              </a:spcBef>
              <a:spcAft>
                <a:spcPts val="0"/>
              </a:spcAft>
              <a:defRPr/>
            </a:pPr>
            <a:r>
              <a:rPr sz="1600" b="1" i="0">
                <a:solidFill>
                  <a:srgbClr val="1B2F4B"/>
                </a:solidFill>
                <a:latin typeface="Segoe UI"/>
                <a:ea typeface="Segoe UI"/>
                <a:cs typeface="Segoe UI"/>
              </a:rPr>
              <a:t>One line lost per run</a:t>
            </a:r>
            <a:endParaRPr/>
          </a:p>
        </p:txBody>
      </p:sp>
      <p:sp>
        <p:nvSpPr>
          <p:cNvPr id="1359561380" name="TextBox 8"/>
          <p:cNvSpPr txBox="1"/>
          <p:nvPr/>
        </p:nvSpPr>
        <p:spPr bwMode="auto">
          <a:xfrm>
            <a:off x="1554480" y="2194560"/>
            <a:ext cx="868680" cy="365760"/>
          </a:xfrm>
          <a:prstGeom prst="rect">
            <a:avLst/>
          </a:prstGeom>
          <a:noFill/>
        </p:spPr>
        <p:txBody>
          <a:bodyPr wrap="square" lIns="0" tIns="0" rIns="0" bIns="0">
            <a:spAutoFit/>
          </a:bodyPr>
          <a:lstStyle/>
          <a:p>
            <a:pPr>
              <a:lnSpc>
                <a:spcPct val="135000"/>
              </a:lnSpc>
              <a:spcBef>
                <a:spcPts val="0"/>
              </a:spcBef>
              <a:spcAft>
                <a:spcPts val="0"/>
              </a:spcAft>
              <a:defRPr/>
            </a:pPr>
            <a:r>
              <a:rPr sz="1250" b="1" i="0">
                <a:solidFill>
                  <a:srgbClr val="C0392B"/>
                </a:solidFill>
                <a:latin typeface="Segoe UI"/>
                <a:ea typeface="Segoe UI"/>
                <a:cs typeface="Segoe UI"/>
              </a:rPr>
              <a:t>Symptom</a:t>
            </a:r>
            <a:endParaRPr/>
          </a:p>
        </p:txBody>
      </p:sp>
      <p:sp>
        <p:nvSpPr>
          <p:cNvPr id="783034187" name="TextBox 9"/>
          <p:cNvSpPr txBox="1"/>
          <p:nvPr/>
        </p:nvSpPr>
        <p:spPr bwMode="auto">
          <a:xfrm>
            <a:off x="2432303" y="2194560"/>
            <a:ext cx="8869680" cy="306323"/>
          </a:xfrm>
          <a:prstGeom prst="rect">
            <a:avLst/>
          </a:prstGeom>
          <a:noFill/>
        </p:spPr>
        <p:txBody>
          <a:bodyPr wrap="square" lIns="0" tIns="0" rIns="0" bIns="0">
            <a:spAutoFit/>
          </a:bodyPr>
          <a:lstStyle/>
          <a:p>
            <a:pPr>
              <a:lnSpc>
                <a:spcPct val="125000"/>
              </a:lnSpc>
              <a:spcBef>
                <a:spcPts val="0"/>
              </a:spcBef>
              <a:spcAft>
                <a:spcPts val="200"/>
              </a:spcAft>
              <a:defRPr/>
            </a:pPr>
            <a:r>
              <a:rPr sz="1250" b="0" i="0">
                <a:solidFill>
                  <a:srgbClr val="5A5A5A"/>
                </a:solidFill>
                <a:latin typeface="Segoe UI"/>
                <a:ea typeface="Segoe UI"/>
                <a:cs typeface="Segoe UI"/>
              </a:rPr>
              <a:t>with -m 1 forcing several runs, the output was shorter than the input — exactly one line per run.</a:t>
            </a:r>
            <a:endParaRPr/>
          </a:p>
        </p:txBody>
      </p:sp>
      <p:sp>
        <p:nvSpPr>
          <p:cNvPr id="543076695" name="TextBox 10"/>
          <p:cNvSpPr txBox="1"/>
          <p:nvPr/>
        </p:nvSpPr>
        <p:spPr bwMode="auto">
          <a:xfrm>
            <a:off x="1554480" y="2500884"/>
            <a:ext cx="868680" cy="365760"/>
          </a:xfrm>
          <a:prstGeom prst="rect">
            <a:avLst/>
          </a:prstGeom>
          <a:noFill/>
        </p:spPr>
        <p:txBody>
          <a:bodyPr wrap="square" lIns="0" tIns="0" rIns="0" bIns="0">
            <a:spAutoFit/>
          </a:bodyPr>
          <a:lstStyle/>
          <a:p>
            <a:pPr>
              <a:lnSpc>
                <a:spcPct val="135000"/>
              </a:lnSpc>
              <a:spcBef>
                <a:spcPts val="0"/>
              </a:spcBef>
              <a:spcAft>
                <a:spcPts val="0"/>
              </a:spcAft>
              <a:defRPr/>
            </a:pPr>
            <a:r>
              <a:rPr sz="1250" b="1" i="0">
                <a:solidFill>
                  <a:srgbClr val="C0392B"/>
                </a:solidFill>
                <a:latin typeface="Segoe UI"/>
                <a:ea typeface="Segoe UI"/>
                <a:cs typeface="Segoe UI"/>
              </a:rPr>
              <a:t>Cause</a:t>
            </a:r>
            <a:endParaRPr/>
          </a:p>
        </p:txBody>
      </p:sp>
      <p:sp>
        <p:nvSpPr>
          <p:cNvPr id="1935148452" name="TextBox 11"/>
          <p:cNvSpPr txBox="1"/>
          <p:nvPr/>
        </p:nvSpPr>
        <p:spPr bwMode="auto">
          <a:xfrm>
            <a:off x="2432303" y="2500884"/>
            <a:ext cx="8869680" cy="521207"/>
          </a:xfrm>
          <a:prstGeom prst="rect">
            <a:avLst/>
          </a:prstGeom>
          <a:noFill/>
        </p:spPr>
        <p:txBody>
          <a:bodyPr wrap="square" lIns="0" tIns="0" rIns="0" bIns="0">
            <a:spAutoFit/>
          </a:bodyPr>
          <a:lstStyle/>
          <a:p>
            <a:pPr>
              <a:lnSpc>
                <a:spcPct val="125000"/>
              </a:lnSpc>
              <a:spcBef>
                <a:spcPts val="0"/>
              </a:spcBef>
              <a:spcAft>
                <a:spcPts val="200"/>
              </a:spcAft>
              <a:defRPr/>
            </a:pPr>
            <a:r>
              <a:rPr sz="1250" b="0" i="0">
                <a:solidFill>
                  <a:srgbClr val="5A5A5A"/>
                </a:solidFill>
                <a:latin typeface="Segoe UI"/>
                <a:ea typeface="Segoe UI"/>
                <a:cs typeface="Segoe UI"/>
              </a:rPr>
              <a:t>when chunk_alloc() returned NULL we broke out of the read loop, but that line had already been consumed from the file and was simply discarded.</a:t>
            </a:r>
            <a:endParaRPr/>
          </a:p>
        </p:txBody>
      </p:sp>
      <p:sp>
        <p:nvSpPr>
          <p:cNvPr id="1684010603" name="TextBox 12"/>
          <p:cNvSpPr txBox="1"/>
          <p:nvPr/>
        </p:nvSpPr>
        <p:spPr bwMode="auto">
          <a:xfrm>
            <a:off x="1554480" y="3022091"/>
            <a:ext cx="868680" cy="365760"/>
          </a:xfrm>
          <a:prstGeom prst="rect">
            <a:avLst/>
          </a:prstGeom>
          <a:noFill/>
        </p:spPr>
        <p:txBody>
          <a:bodyPr wrap="square" lIns="0" tIns="0" rIns="0" bIns="0">
            <a:spAutoFit/>
          </a:bodyPr>
          <a:lstStyle/>
          <a:p>
            <a:pPr>
              <a:lnSpc>
                <a:spcPct val="135000"/>
              </a:lnSpc>
              <a:spcBef>
                <a:spcPts val="0"/>
              </a:spcBef>
              <a:spcAft>
                <a:spcPts val="0"/>
              </a:spcAft>
              <a:defRPr/>
            </a:pPr>
            <a:r>
              <a:rPr sz="1250" b="1" i="0">
                <a:solidFill>
                  <a:srgbClr val="2E8B57"/>
                </a:solidFill>
                <a:latin typeface="Segoe UI"/>
                <a:ea typeface="Segoe UI"/>
                <a:cs typeface="Segoe UI"/>
              </a:rPr>
              <a:t>Fix</a:t>
            </a:r>
            <a:endParaRPr/>
          </a:p>
        </p:txBody>
      </p:sp>
      <p:sp>
        <p:nvSpPr>
          <p:cNvPr id="625774254" name="TextBox 13"/>
          <p:cNvSpPr txBox="1"/>
          <p:nvPr/>
        </p:nvSpPr>
        <p:spPr bwMode="auto">
          <a:xfrm>
            <a:off x="2432303" y="3022091"/>
            <a:ext cx="8869680" cy="306323"/>
          </a:xfrm>
          <a:prstGeom prst="rect">
            <a:avLst/>
          </a:prstGeom>
          <a:noFill/>
        </p:spPr>
        <p:txBody>
          <a:bodyPr wrap="square" lIns="0" tIns="0" rIns="0" bIns="0">
            <a:spAutoFit/>
          </a:bodyPr>
          <a:lstStyle/>
          <a:p>
            <a:pPr>
              <a:lnSpc>
                <a:spcPct val="125000"/>
              </a:lnSpc>
              <a:spcBef>
                <a:spcPts val="0"/>
              </a:spcBef>
              <a:spcAft>
                <a:spcPts val="200"/>
              </a:spcAft>
              <a:defRPr/>
            </a:pPr>
            <a:r>
              <a:rPr sz="1250" b="0" i="0">
                <a:solidFill>
                  <a:srgbClr val="5A5A5A"/>
                </a:solidFill>
                <a:latin typeface="Consolas"/>
                <a:ea typeface="Consolas"/>
                <a:cs typeface="Consolas"/>
              </a:rPr>
              <a:t>keep a pending buffer and install that line as the first line of the next chunk.</a:t>
            </a:r>
            <a:endParaRPr/>
          </a:p>
        </p:txBody>
      </p:sp>
      <p:sp>
        <p:nvSpPr>
          <p:cNvPr id="1886569976" name="Rounded Rectangle 14"/>
          <p:cNvSpPr/>
          <p:nvPr/>
        </p:nvSpPr>
        <p:spPr bwMode="auto">
          <a:xfrm>
            <a:off x="749808" y="3712464"/>
            <a:ext cx="10725912" cy="2061972"/>
          </a:xfrm>
          <a:prstGeom prst="roundRect">
            <a:avLst>
              <a:gd name="adj" fmla="val 16667"/>
            </a:avLst>
          </a:prstGeom>
          <a:solidFill>
            <a:srgbClr val="FAFBFC"/>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89829093" name="Rounded Rectangle 15"/>
          <p:cNvSpPr/>
          <p:nvPr/>
        </p:nvSpPr>
        <p:spPr bwMode="auto">
          <a:xfrm>
            <a:off x="932688" y="3858768"/>
            <a:ext cx="438912" cy="438912"/>
          </a:xfrm>
          <a:prstGeom prst="roundRect">
            <a:avLst>
              <a:gd name="adj" fmla="val 16667"/>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500" b="1" i="0">
                <a:solidFill>
                  <a:srgbClr val="FFFFFF"/>
                </a:solidFill>
                <a:latin typeface="Segoe UI"/>
                <a:ea typeface="Segoe UI"/>
                <a:cs typeface="Segoe UI"/>
              </a:rPr>
              <a:t>2</a:t>
            </a:r>
            <a:endParaRPr/>
          </a:p>
        </p:txBody>
      </p:sp>
      <p:sp>
        <p:nvSpPr>
          <p:cNvPr id="1651875996" name="TextBox 16"/>
          <p:cNvSpPr txBox="1"/>
          <p:nvPr/>
        </p:nvSpPr>
        <p:spPr bwMode="auto">
          <a:xfrm>
            <a:off x="1554480" y="3840480"/>
            <a:ext cx="9692640" cy="384048"/>
          </a:xfrm>
          <a:prstGeom prst="rect">
            <a:avLst/>
          </a:prstGeom>
          <a:noFill/>
        </p:spPr>
        <p:txBody>
          <a:bodyPr wrap="square" lIns="0" tIns="0" rIns="0" bIns="0">
            <a:spAutoFit/>
          </a:bodyPr>
          <a:lstStyle/>
          <a:p>
            <a:pPr>
              <a:lnSpc>
                <a:spcPct val="135000"/>
              </a:lnSpc>
              <a:spcBef>
                <a:spcPts val="0"/>
              </a:spcBef>
              <a:spcAft>
                <a:spcPts val="0"/>
              </a:spcAft>
              <a:defRPr/>
            </a:pPr>
            <a:r>
              <a:rPr sz="1600" b="1" i="0">
                <a:solidFill>
                  <a:srgbClr val="1B2F4B"/>
                </a:solidFill>
                <a:latin typeface="Segoe UI"/>
                <a:ea typeface="Segoe UI"/>
                <a:cs typeface="Segoe UI"/>
              </a:rPr>
              <a:t>Merge order wrong, but "mostly sorted"</a:t>
            </a:r>
            <a:endParaRPr/>
          </a:p>
        </p:txBody>
      </p:sp>
      <p:sp>
        <p:nvSpPr>
          <p:cNvPr id="478496091" name="TextBox 17"/>
          <p:cNvSpPr txBox="1"/>
          <p:nvPr/>
        </p:nvSpPr>
        <p:spPr bwMode="auto">
          <a:xfrm flipH="0" flipV="0">
            <a:off x="1554480" y="4279391"/>
            <a:ext cx="937112" cy="257535"/>
          </a:xfrm>
          <a:prstGeom prst="rect">
            <a:avLst/>
          </a:prstGeom>
          <a:noFill/>
        </p:spPr>
        <p:txBody>
          <a:bodyPr wrap="square" lIns="0" tIns="0" rIns="0" bIns="0">
            <a:spAutoFit/>
          </a:bodyPr>
          <a:lstStyle/>
          <a:p>
            <a:pPr>
              <a:lnSpc>
                <a:spcPct val="135000"/>
              </a:lnSpc>
              <a:spcBef>
                <a:spcPts val="0"/>
              </a:spcBef>
              <a:spcAft>
                <a:spcPts val="0"/>
              </a:spcAft>
              <a:defRPr/>
            </a:pPr>
            <a:r>
              <a:rPr sz="1250" b="1" i="0">
                <a:solidFill>
                  <a:srgbClr val="2E6DA4"/>
                </a:solidFill>
                <a:latin typeface="Segoe UI"/>
                <a:ea typeface="Segoe UI"/>
                <a:cs typeface="Segoe UI"/>
              </a:rPr>
              <a:t>Diagnosis</a:t>
            </a:r>
            <a:endParaRPr/>
          </a:p>
        </p:txBody>
      </p:sp>
      <p:sp>
        <p:nvSpPr>
          <p:cNvPr id="1018256957" name="TextBox 18"/>
          <p:cNvSpPr txBox="1"/>
          <p:nvPr/>
        </p:nvSpPr>
        <p:spPr bwMode="auto">
          <a:xfrm>
            <a:off x="2432303" y="4279392"/>
            <a:ext cx="8869680" cy="736092"/>
          </a:xfrm>
          <a:prstGeom prst="rect">
            <a:avLst/>
          </a:prstGeom>
          <a:noFill/>
        </p:spPr>
        <p:txBody>
          <a:bodyPr wrap="square" lIns="0" tIns="0" rIns="0" bIns="0">
            <a:spAutoFit/>
          </a:bodyPr>
          <a:lstStyle/>
          <a:p>
            <a:pPr>
              <a:lnSpc>
                <a:spcPct val="125000"/>
              </a:lnSpc>
              <a:spcBef>
                <a:spcPts val="0"/>
              </a:spcBef>
              <a:spcAft>
                <a:spcPts val="200"/>
              </a:spcAft>
              <a:defRPr/>
            </a:pPr>
            <a:r>
              <a:rPr sz="1250" b="0" i="0">
                <a:solidFill>
                  <a:srgbClr val="5A5A5A"/>
                </a:solidFill>
                <a:latin typeface="Segoe UI"/>
                <a:ea typeface="Segoe UI"/>
                <a:cs typeface="Segoe UI"/>
              </a:rPr>
              <a:t>unsure whether phase one or phase two → copied all nine run files out and checked each; every run was internally</a:t>
            </a:r>
            <a:endParaRPr/>
          </a:p>
          <a:p>
            <a:pPr>
              <a:lnSpc>
                <a:spcPct val="125000"/>
              </a:lnSpc>
              <a:spcBef>
                <a:spcPts val="0"/>
              </a:spcBef>
              <a:spcAft>
                <a:spcPts val="200"/>
              </a:spcAft>
              <a:defRPr/>
            </a:pPr>
            <a:r>
              <a:rPr sz="1250" b="0" i="0">
                <a:solidFill>
                  <a:srgbClr val="5A5A5A"/>
                </a:solidFill>
                <a:latin typeface="Segoe UI"/>
                <a:ea typeface="Segoe UI"/>
                <a:cs typeface="Segoe UI"/>
              </a:rPr>
              <a:t>sorted, which proved the bug was in the merge layer.</a:t>
            </a:r>
            <a:endParaRPr/>
          </a:p>
        </p:txBody>
      </p:sp>
      <p:sp>
        <p:nvSpPr>
          <p:cNvPr id="994991758" name="TextBox 19"/>
          <p:cNvSpPr txBox="1"/>
          <p:nvPr/>
        </p:nvSpPr>
        <p:spPr bwMode="auto">
          <a:xfrm>
            <a:off x="1554480" y="5015484"/>
            <a:ext cx="868680" cy="365760"/>
          </a:xfrm>
          <a:prstGeom prst="rect">
            <a:avLst/>
          </a:prstGeom>
          <a:noFill/>
        </p:spPr>
        <p:txBody>
          <a:bodyPr wrap="square" lIns="0" tIns="0" rIns="0" bIns="0">
            <a:spAutoFit/>
          </a:bodyPr>
          <a:lstStyle/>
          <a:p>
            <a:pPr>
              <a:lnSpc>
                <a:spcPct val="135000"/>
              </a:lnSpc>
              <a:spcBef>
                <a:spcPts val="0"/>
              </a:spcBef>
              <a:spcAft>
                <a:spcPts val="0"/>
              </a:spcAft>
              <a:defRPr/>
            </a:pPr>
            <a:r>
              <a:rPr sz="1250" b="1" i="0">
                <a:solidFill>
                  <a:srgbClr val="C0392B"/>
                </a:solidFill>
                <a:latin typeface="Segoe UI"/>
                <a:ea typeface="Segoe UI"/>
                <a:cs typeface="Segoe UI"/>
              </a:rPr>
              <a:t>Cause</a:t>
            </a:r>
            <a:endParaRPr/>
          </a:p>
        </p:txBody>
      </p:sp>
      <p:sp>
        <p:nvSpPr>
          <p:cNvPr id="1114634256" name="TextBox 20"/>
          <p:cNvSpPr txBox="1"/>
          <p:nvPr/>
        </p:nvSpPr>
        <p:spPr bwMode="auto">
          <a:xfrm>
            <a:off x="2432303" y="5015484"/>
            <a:ext cx="8869680" cy="306323"/>
          </a:xfrm>
          <a:prstGeom prst="rect">
            <a:avLst/>
          </a:prstGeom>
          <a:noFill/>
        </p:spPr>
        <p:txBody>
          <a:bodyPr wrap="square" lIns="0" tIns="0" rIns="0" bIns="0">
            <a:spAutoFit/>
          </a:bodyPr>
          <a:lstStyle/>
          <a:p>
            <a:pPr>
              <a:lnSpc>
                <a:spcPct val="125000"/>
              </a:lnSpc>
              <a:spcBef>
                <a:spcPts val="0"/>
              </a:spcBef>
              <a:spcAft>
                <a:spcPts val="200"/>
              </a:spcAft>
              <a:defRPr/>
            </a:pPr>
            <a:r>
              <a:rPr sz="1250" b="0" i="0">
                <a:solidFill>
                  <a:srgbClr val="5A5A5A"/>
                </a:solidFill>
                <a:latin typeface="Segoe UI"/>
                <a:ea typeface="Segoe UI"/>
                <a:cs typeface="Segoe UI"/>
              </a:rPr>
              <a:t>the sift_up exit condition was written as &lt;= 0 when it should be &gt;= 0, so new elements never floated up.</a:t>
            </a:r>
            <a:endParaRPr/>
          </a:p>
        </p:txBody>
      </p:sp>
      <p:sp>
        <p:nvSpPr>
          <p:cNvPr id="453819812" name="TextBox 21"/>
          <p:cNvSpPr txBox="1"/>
          <p:nvPr/>
        </p:nvSpPr>
        <p:spPr bwMode="auto">
          <a:xfrm>
            <a:off x="1554480" y="5321808"/>
            <a:ext cx="868680" cy="365760"/>
          </a:xfrm>
          <a:prstGeom prst="rect">
            <a:avLst/>
          </a:prstGeom>
          <a:noFill/>
        </p:spPr>
        <p:txBody>
          <a:bodyPr wrap="square" lIns="0" tIns="0" rIns="0" bIns="0">
            <a:spAutoFit/>
          </a:bodyPr>
          <a:lstStyle/>
          <a:p>
            <a:pPr>
              <a:lnSpc>
                <a:spcPct val="135000"/>
              </a:lnSpc>
              <a:spcBef>
                <a:spcPts val="0"/>
              </a:spcBef>
              <a:spcAft>
                <a:spcPts val="0"/>
              </a:spcAft>
              <a:defRPr/>
            </a:pPr>
            <a:r>
              <a:rPr sz="1250" b="1" i="0">
                <a:solidFill>
                  <a:srgbClr val="2E8B57"/>
                </a:solidFill>
                <a:latin typeface="Segoe UI"/>
                <a:ea typeface="Segoe UI"/>
                <a:cs typeface="Segoe UI"/>
              </a:rPr>
              <a:t>Fix</a:t>
            </a:r>
            <a:endParaRPr/>
          </a:p>
        </p:txBody>
      </p:sp>
      <p:sp>
        <p:nvSpPr>
          <p:cNvPr id="241939642" name="TextBox 22"/>
          <p:cNvSpPr txBox="1"/>
          <p:nvPr/>
        </p:nvSpPr>
        <p:spPr bwMode="auto">
          <a:xfrm>
            <a:off x="2432303" y="5321808"/>
            <a:ext cx="8869680" cy="306323"/>
          </a:xfrm>
          <a:prstGeom prst="rect">
            <a:avLst/>
          </a:prstGeom>
          <a:noFill/>
        </p:spPr>
        <p:txBody>
          <a:bodyPr wrap="square" lIns="0" tIns="0" rIns="0" bIns="0">
            <a:spAutoFit/>
          </a:bodyPr>
          <a:lstStyle/>
          <a:p>
            <a:pPr>
              <a:lnSpc>
                <a:spcPct val="125000"/>
              </a:lnSpc>
              <a:spcBef>
                <a:spcPts val="0"/>
              </a:spcBef>
              <a:spcAft>
                <a:spcPts val="200"/>
              </a:spcAft>
              <a:defRPr/>
            </a:pPr>
            <a:r>
              <a:rPr sz="1250" b="0" i="0">
                <a:solidFill>
                  <a:srgbClr val="5A5A5A"/>
                </a:solidFill>
                <a:latin typeface="Consolas"/>
                <a:ea typeface="Consolas"/>
                <a:cs typeface="Consolas"/>
              </a:rPr>
              <a:t>correct the comparison direction; merge output then matches the in-memory sort exactly.</a:t>
            </a:r>
            <a:endParaRPr/>
          </a:p>
        </p:txBody>
      </p:sp>
      <p:sp>
        <p:nvSpPr>
          <p:cNvPr id="394181489" name="TextBox 23"/>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1632513171" name="TextBox 24"/>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13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5082989"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58642025"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Debugging II: What the Tools Caught</a:t>
            </a:r>
            <a:endParaRPr/>
          </a:p>
        </p:txBody>
      </p:sp>
      <p:sp>
        <p:nvSpPr>
          <p:cNvPr id="732499017"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Found by sanitizers, not by staring at the output</a:t>
            </a:r>
            <a:endParaRPr/>
          </a:p>
        </p:txBody>
      </p:sp>
      <p:sp>
        <p:nvSpPr>
          <p:cNvPr id="882446211"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783831174" name="Rounded Rectangle 5"/>
          <p:cNvSpPr/>
          <p:nvPr/>
        </p:nvSpPr>
        <p:spPr bwMode="auto">
          <a:xfrm>
            <a:off x="749808" y="1627632"/>
            <a:ext cx="10725912" cy="1938528"/>
          </a:xfrm>
          <a:prstGeom prst="roundRect">
            <a:avLst>
              <a:gd name="adj" fmla="val 16667"/>
            </a:avLst>
          </a:prstGeom>
          <a:solidFill>
            <a:srgbClr val="FAFBFC"/>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607881891" name="Rounded Rectangle 6"/>
          <p:cNvSpPr/>
          <p:nvPr/>
        </p:nvSpPr>
        <p:spPr bwMode="auto">
          <a:xfrm>
            <a:off x="932688" y="1773936"/>
            <a:ext cx="438912" cy="438912"/>
          </a:xfrm>
          <a:prstGeom prst="roundRect">
            <a:avLst>
              <a:gd name="adj" fmla="val 16667"/>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500" b="1" i="0">
                <a:solidFill>
                  <a:srgbClr val="FFFFFF"/>
                </a:solidFill>
                <a:latin typeface="Segoe UI"/>
                <a:ea typeface="Segoe UI"/>
                <a:cs typeface="Segoe UI"/>
              </a:rPr>
              <a:t>3</a:t>
            </a:r>
            <a:endParaRPr/>
          </a:p>
        </p:txBody>
      </p:sp>
      <p:sp>
        <p:nvSpPr>
          <p:cNvPr id="1719383349" name="TextBox 7"/>
          <p:cNvSpPr txBox="1"/>
          <p:nvPr/>
        </p:nvSpPr>
        <p:spPr bwMode="auto">
          <a:xfrm>
            <a:off x="1554480" y="1755648"/>
            <a:ext cx="9692640" cy="384048"/>
          </a:xfrm>
          <a:prstGeom prst="rect">
            <a:avLst/>
          </a:prstGeom>
          <a:noFill/>
        </p:spPr>
        <p:txBody>
          <a:bodyPr wrap="square" lIns="0" tIns="0" rIns="0" bIns="0">
            <a:spAutoFit/>
          </a:bodyPr>
          <a:lstStyle/>
          <a:p>
            <a:pPr>
              <a:lnSpc>
                <a:spcPct val="135000"/>
              </a:lnSpc>
              <a:spcBef>
                <a:spcPts val="0"/>
              </a:spcBef>
              <a:spcAft>
                <a:spcPts val="0"/>
              </a:spcAft>
              <a:defRPr/>
            </a:pPr>
            <a:r>
              <a:rPr sz="1600" b="1" i="0">
                <a:solidFill>
                  <a:srgbClr val="1B2F4B"/>
                </a:solidFill>
                <a:latin typeface="Segoe UI"/>
                <a:ea typeface="Segoe UI"/>
                <a:cs typeface="Segoe UI"/>
              </a:rPr>
              <a:t>Memory leak: the program was perfectly correct</a:t>
            </a:r>
            <a:endParaRPr/>
          </a:p>
        </p:txBody>
      </p:sp>
      <p:sp>
        <p:nvSpPr>
          <p:cNvPr id="770564150" name="TextBox 8"/>
          <p:cNvSpPr txBox="1"/>
          <p:nvPr/>
        </p:nvSpPr>
        <p:spPr bwMode="auto">
          <a:xfrm>
            <a:off x="1554480" y="2194560"/>
            <a:ext cx="868680" cy="365760"/>
          </a:xfrm>
          <a:prstGeom prst="rect">
            <a:avLst/>
          </a:prstGeom>
          <a:noFill/>
        </p:spPr>
        <p:txBody>
          <a:bodyPr wrap="square" lIns="0" tIns="0" rIns="0" bIns="0">
            <a:spAutoFit/>
          </a:bodyPr>
          <a:lstStyle/>
          <a:p>
            <a:pPr>
              <a:lnSpc>
                <a:spcPct val="135000"/>
              </a:lnSpc>
              <a:spcBef>
                <a:spcPts val="0"/>
              </a:spcBef>
              <a:spcAft>
                <a:spcPts val="0"/>
              </a:spcAft>
              <a:defRPr/>
            </a:pPr>
            <a:r>
              <a:rPr sz="1250" b="1" i="0">
                <a:solidFill>
                  <a:srgbClr val="C0392B"/>
                </a:solidFill>
                <a:latin typeface="Segoe UI"/>
                <a:ea typeface="Segoe UI"/>
                <a:cs typeface="Segoe UI"/>
              </a:rPr>
              <a:t>Symptom</a:t>
            </a:r>
            <a:endParaRPr/>
          </a:p>
        </p:txBody>
      </p:sp>
      <p:sp>
        <p:nvSpPr>
          <p:cNvPr id="1869968607" name="TextBox 9"/>
          <p:cNvSpPr txBox="1"/>
          <p:nvPr/>
        </p:nvSpPr>
        <p:spPr bwMode="auto">
          <a:xfrm>
            <a:off x="2432303" y="2194560"/>
            <a:ext cx="8869680" cy="306323"/>
          </a:xfrm>
          <a:prstGeom prst="rect">
            <a:avLst/>
          </a:prstGeom>
          <a:noFill/>
        </p:spPr>
        <p:txBody>
          <a:bodyPr wrap="square" lIns="0" tIns="0" rIns="0" bIns="0">
            <a:spAutoFit/>
          </a:bodyPr>
          <a:lstStyle/>
          <a:p>
            <a:pPr>
              <a:lnSpc>
                <a:spcPct val="125000"/>
              </a:lnSpc>
              <a:spcBef>
                <a:spcPts val="0"/>
              </a:spcBef>
              <a:spcAft>
                <a:spcPts val="200"/>
              </a:spcAft>
              <a:defRPr/>
            </a:pPr>
            <a:r>
              <a:rPr sz="1250" b="0" i="0">
                <a:solidFill>
                  <a:srgbClr val="5A5A5A"/>
                </a:solidFill>
                <a:latin typeface="Segoe UI"/>
                <a:ea typeface="Segoe UI"/>
                <a:cs typeface="Segoe UI"/>
              </a:rPr>
              <a:t>results were right and only a little memory leaked — exactly the kind of bug you never notice by eye.</a:t>
            </a:r>
            <a:endParaRPr/>
          </a:p>
        </p:txBody>
      </p:sp>
      <p:sp>
        <p:nvSpPr>
          <p:cNvPr id="141941545" name="TextBox 10"/>
          <p:cNvSpPr txBox="1"/>
          <p:nvPr/>
        </p:nvSpPr>
        <p:spPr bwMode="auto">
          <a:xfrm>
            <a:off x="1554480" y="2500884"/>
            <a:ext cx="868680" cy="365760"/>
          </a:xfrm>
          <a:prstGeom prst="rect">
            <a:avLst/>
          </a:prstGeom>
          <a:noFill/>
        </p:spPr>
        <p:txBody>
          <a:bodyPr wrap="square" lIns="0" tIns="0" rIns="0" bIns="0">
            <a:spAutoFit/>
          </a:bodyPr>
          <a:lstStyle/>
          <a:p>
            <a:pPr>
              <a:lnSpc>
                <a:spcPct val="135000"/>
              </a:lnSpc>
              <a:spcBef>
                <a:spcPts val="0"/>
              </a:spcBef>
              <a:spcAft>
                <a:spcPts val="0"/>
              </a:spcAft>
              <a:defRPr/>
            </a:pPr>
            <a:r>
              <a:rPr sz="1250" b="1" i="0">
                <a:solidFill>
                  <a:srgbClr val="2E6DA4"/>
                </a:solidFill>
                <a:latin typeface="Segoe UI"/>
                <a:ea typeface="Segoe UI"/>
                <a:cs typeface="Segoe UI"/>
              </a:rPr>
              <a:t>Measured</a:t>
            </a:r>
            <a:endParaRPr/>
          </a:p>
        </p:txBody>
      </p:sp>
      <p:sp>
        <p:nvSpPr>
          <p:cNvPr id="1468582063" name="TextBox 11"/>
          <p:cNvSpPr txBox="1"/>
          <p:nvPr/>
        </p:nvSpPr>
        <p:spPr bwMode="auto">
          <a:xfrm>
            <a:off x="2432303" y="2500884"/>
            <a:ext cx="8869680" cy="306323"/>
          </a:xfrm>
          <a:prstGeom prst="rect">
            <a:avLst/>
          </a:prstGeom>
          <a:noFill/>
        </p:spPr>
        <p:txBody>
          <a:bodyPr wrap="square" lIns="0" tIns="0" rIns="0" bIns="0">
            <a:spAutoFit/>
          </a:bodyPr>
          <a:lstStyle/>
          <a:p>
            <a:pPr>
              <a:lnSpc>
                <a:spcPct val="125000"/>
              </a:lnSpc>
              <a:spcBef>
                <a:spcPts val="0"/>
              </a:spcBef>
              <a:spcAft>
                <a:spcPts val="200"/>
              </a:spcAft>
              <a:defRPr/>
            </a:pPr>
            <a:r>
              <a:rPr sz="1250" b="0" i="0">
                <a:solidFill>
                  <a:srgbClr val="5A5A5A"/>
                </a:solidFill>
                <a:latin typeface="Segoe UI"/>
                <a:ea typeface="Segoe UI"/>
                <a:cs typeface="Segoe UI"/>
              </a:rPr>
              <a:t>ASAN reported 589,824 bytes in 9 objects — nine runs × 64 KB.</a:t>
            </a:r>
            <a:endParaRPr/>
          </a:p>
        </p:txBody>
      </p:sp>
      <p:sp>
        <p:nvSpPr>
          <p:cNvPr id="1730643029" name="TextBox 12"/>
          <p:cNvSpPr txBox="1"/>
          <p:nvPr/>
        </p:nvSpPr>
        <p:spPr bwMode="auto">
          <a:xfrm>
            <a:off x="1554480" y="2807208"/>
            <a:ext cx="868680" cy="365760"/>
          </a:xfrm>
          <a:prstGeom prst="rect">
            <a:avLst/>
          </a:prstGeom>
          <a:noFill/>
        </p:spPr>
        <p:txBody>
          <a:bodyPr wrap="square" lIns="0" tIns="0" rIns="0" bIns="0">
            <a:spAutoFit/>
          </a:bodyPr>
          <a:lstStyle/>
          <a:p>
            <a:pPr>
              <a:lnSpc>
                <a:spcPct val="135000"/>
              </a:lnSpc>
              <a:spcBef>
                <a:spcPts val="0"/>
              </a:spcBef>
              <a:spcAft>
                <a:spcPts val="0"/>
              </a:spcAft>
              <a:defRPr/>
            </a:pPr>
            <a:r>
              <a:rPr sz="1250" b="1" i="0">
                <a:solidFill>
                  <a:srgbClr val="C0392B"/>
                </a:solidFill>
                <a:latin typeface="Segoe UI"/>
                <a:ea typeface="Segoe UI"/>
                <a:cs typeface="Segoe UI"/>
              </a:rPr>
              <a:t>Cause</a:t>
            </a:r>
            <a:endParaRPr/>
          </a:p>
        </p:txBody>
      </p:sp>
      <p:sp>
        <p:nvSpPr>
          <p:cNvPr id="1706569279" name="TextBox 13"/>
          <p:cNvSpPr txBox="1"/>
          <p:nvPr/>
        </p:nvSpPr>
        <p:spPr bwMode="auto">
          <a:xfrm>
            <a:off x="2432303" y="2807208"/>
            <a:ext cx="8869680" cy="306323"/>
          </a:xfrm>
          <a:prstGeom prst="rect">
            <a:avLst/>
          </a:prstGeom>
          <a:noFill/>
        </p:spPr>
        <p:txBody>
          <a:bodyPr wrap="square" lIns="0" tIns="0" rIns="0" bIns="0">
            <a:spAutoFit/>
          </a:bodyPr>
          <a:lstStyle/>
          <a:p>
            <a:pPr>
              <a:lnSpc>
                <a:spcPct val="125000"/>
              </a:lnSpc>
              <a:spcBef>
                <a:spcPts val="0"/>
              </a:spcBef>
              <a:spcAft>
                <a:spcPts val="200"/>
              </a:spcAft>
              <a:defRPr/>
            </a:pPr>
            <a:r>
              <a:rPr sz="1250" b="0" i="0">
                <a:solidFill>
                  <a:srgbClr val="5A5A5A"/>
                </a:solidFill>
                <a:latin typeface="Segoe UI"/>
                <a:ea typeface="Segoe UI"/>
                <a:cs typeface="Segoe UI"/>
              </a:rPr>
              <a:t>each run file allocated a 64 KB output buffer that was never freed.</a:t>
            </a:r>
            <a:endParaRPr/>
          </a:p>
        </p:txBody>
      </p:sp>
      <p:sp>
        <p:nvSpPr>
          <p:cNvPr id="2099148987" name="TextBox 14"/>
          <p:cNvSpPr txBox="1"/>
          <p:nvPr/>
        </p:nvSpPr>
        <p:spPr bwMode="auto">
          <a:xfrm>
            <a:off x="1554480" y="3113532"/>
            <a:ext cx="868680" cy="365760"/>
          </a:xfrm>
          <a:prstGeom prst="rect">
            <a:avLst/>
          </a:prstGeom>
          <a:noFill/>
        </p:spPr>
        <p:txBody>
          <a:bodyPr wrap="square" lIns="0" tIns="0" rIns="0" bIns="0">
            <a:spAutoFit/>
          </a:bodyPr>
          <a:lstStyle/>
          <a:p>
            <a:pPr>
              <a:lnSpc>
                <a:spcPct val="135000"/>
              </a:lnSpc>
              <a:spcBef>
                <a:spcPts val="0"/>
              </a:spcBef>
              <a:spcAft>
                <a:spcPts val="0"/>
              </a:spcAft>
              <a:defRPr/>
            </a:pPr>
            <a:r>
              <a:rPr sz="1250" b="1" i="0">
                <a:solidFill>
                  <a:srgbClr val="2E8B57"/>
                </a:solidFill>
                <a:latin typeface="Segoe UI"/>
                <a:ea typeface="Segoe UI"/>
                <a:cs typeface="Segoe UI"/>
              </a:rPr>
              <a:t>Fix</a:t>
            </a:r>
            <a:endParaRPr/>
          </a:p>
        </p:txBody>
      </p:sp>
      <p:sp>
        <p:nvSpPr>
          <p:cNvPr id="138468619" name="TextBox 15"/>
          <p:cNvSpPr txBox="1"/>
          <p:nvPr/>
        </p:nvSpPr>
        <p:spPr bwMode="auto">
          <a:xfrm>
            <a:off x="2432303" y="3113532"/>
            <a:ext cx="8869680" cy="306323"/>
          </a:xfrm>
          <a:prstGeom prst="rect">
            <a:avLst/>
          </a:prstGeom>
          <a:noFill/>
        </p:spPr>
        <p:txBody>
          <a:bodyPr wrap="square" lIns="0" tIns="0" rIns="0" bIns="0">
            <a:spAutoFit/>
          </a:bodyPr>
          <a:lstStyle/>
          <a:p>
            <a:pPr>
              <a:lnSpc>
                <a:spcPct val="125000"/>
              </a:lnSpc>
              <a:spcBef>
                <a:spcPts val="0"/>
              </a:spcBef>
              <a:spcAft>
                <a:spcPts val="200"/>
              </a:spcAft>
              <a:defRPr/>
            </a:pPr>
            <a:r>
              <a:rPr sz="1250" b="0" i="0">
                <a:solidFill>
                  <a:srgbClr val="5A5A5A"/>
                </a:solidFill>
                <a:latin typeface="Consolas"/>
                <a:ea typeface="Consolas"/>
                <a:cs typeface="Consolas"/>
              </a:rPr>
              <a:t>free it immediately after writing; make ASAN + UBSan a routine check on every refactor.</a:t>
            </a:r>
            <a:endParaRPr/>
          </a:p>
        </p:txBody>
      </p:sp>
      <p:sp>
        <p:nvSpPr>
          <p:cNvPr id="1165112155" name="Rounded Rectangle 16"/>
          <p:cNvSpPr/>
          <p:nvPr/>
        </p:nvSpPr>
        <p:spPr bwMode="auto">
          <a:xfrm>
            <a:off x="749808" y="3803904"/>
            <a:ext cx="10725912" cy="2491740"/>
          </a:xfrm>
          <a:prstGeom prst="roundRect">
            <a:avLst>
              <a:gd name="adj" fmla="val 16667"/>
            </a:avLst>
          </a:prstGeom>
          <a:solidFill>
            <a:srgbClr val="FAFBFC"/>
          </a:solidFill>
          <a:ln w="15875">
            <a:solidFill>
              <a:srgbClr val="D8DCE0"/>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65116699" name="Rounded Rectangle 17"/>
          <p:cNvSpPr/>
          <p:nvPr/>
        </p:nvSpPr>
        <p:spPr bwMode="auto">
          <a:xfrm>
            <a:off x="932688" y="3950208"/>
            <a:ext cx="438912" cy="438912"/>
          </a:xfrm>
          <a:prstGeom prst="roundRect">
            <a:avLst>
              <a:gd name="adj" fmla="val 16667"/>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1500" b="1" i="0">
                <a:solidFill>
                  <a:srgbClr val="FFFFFF"/>
                </a:solidFill>
                <a:latin typeface="Segoe UI"/>
                <a:ea typeface="Segoe UI"/>
                <a:cs typeface="Segoe UI"/>
              </a:rPr>
              <a:t>4</a:t>
            </a:r>
            <a:endParaRPr/>
          </a:p>
        </p:txBody>
      </p:sp>
      <p:sp>
        <p:nvSpPr>
          <p:cNvPr id="58036434" name="TextBox 18"/>
          <p:cNvSpPr txBox="1"/>
          <p:nvPr/>
        </p:nvSpPr>
        <p:spPr bwMode="auto">
          <a:xfrm>
            <a:off x="1554480" y="3931920"/>
            <a:ext cx="9692640" cy="384048"/>
          </a:xfrm>
          <a:prstGeom prst="rect">
            <a:avLst/>
          </a:prstGeom>
          <a:noFill/>
        </p:spPr>
        <p:txBody>
          <a:bodyPr wrap="square" lIns="0" tIns="0" rIns="0" bIns="0">
            <a:spAutoFit/>
          </a:bodyPr>
          <a:lstStyle/>
          <a:p>
            <a:pPr>
              <a:lnSpc>
                <a:spcPct val="135000"/>
              </a:lnSpc>
              <a:spcBef>
                <a:spcPts val="0"/>
              </a:spcBef>
              <a:spcAft>
                <a:spcPts val="0"/>
              </a:spcAft>
              <a:defRPr/>
            </a:pPr>
            <a:r>
              <a:rPr sz="1600" b="1" i="0">
                <a:solidFill>
                  <a:srgbClr val="1B2F4B"/>
                </a:solidFill>
                <a:latin typeface="Segoe UI"/>
                <a:ea typeface="Segoe UI"/>
                <a:cs typeface="Segoe UI"/>
              </a:rPr>
              <a:t>An out-of-bounds access I introduced while refactoring</a:t>
            </a:r>
            <a:endParaRPr/>
          </a:p>
        </p:txBody>
      </p:sp>
      <p:sp>
        <p:nvSpPr>
          <p:cNvPr id="99537655" name="TextBox 19"/>
          <p:cNvSpPr txBox="1"/>
          <p:nvPr/>
        </p:nvSpPr>
        <p:spPr bwMode="auto">
          <a:xfrm>
            <a:off x="1554480" y="4370832"/>
            <a:ext cx="868680" cy="365760"/>
          </a:xfrm>
          <a:prstGeom prst="rect">
            <a:avLst/>
          </a:prstGeom>
          <a:noFill/>
        </p:spPr>
        <p:txBody>
          <a:bodyPr wrap="square" lIns="0" tIns="0" rIns="0" bIns="0">
            <a:spAutoFit/>
          </a:bodyPr>
          <a:lstStyle/>
          <a:p>
            <a:pPr>
              <a:lnSpc>
                <a:spcPct val="135000"/>
              </a:lnSpc>
              <a:spcBef>
                <a:spcPts val="0"/>
              </a:spcBef>
              <a:spcAft>
                <a:spcPts val="0"/>
              </a:spcAft>
              <a:defRPr/>
            </a:pPr>
            <a:r>
              <a:rPr sz="1250" b="1" i="0">
                <a:solidFill>
                  <a:srgbClr val="C0392B"/>
                </a:solidFill>
                <a:latin typeface="Segoe UI"/>
                <a:ea typeface="Segoe UI"/>
                <a:cs typeface="Segoe UI"/>
              </a:rPr>
              <a:t>Cause</a:t>
            </a:r>
            <a:endParaRPr/>
          </a:p>
        </p:txBody>
      </p:sp>
      <p:sp>
        <p:nvSpPr>
          <p:cNvPr id="1137523969" name="TextBox 20"/>
          <p:cNvSpPr txBox="1"/>
          <p:nvPr/>
        </p:nvSpPr>
        <p:spPr bwMode="auto">
          <a:xfrm>
            <a:off x="2432303" y="4370832"/>
            <a:ext cx="8869680" cy="736092"/>
          </a:xfrm>
          <a:prstGeom prst="rect">
            <a:avLst/>
          </a:prstGeom>
          <a:noFill/>
        </p:spPr>
        <p:txBody>
          <a:bodyPr wrap="square" lIns="0" tIns="0" rIns="0" bIns="0">
            <a:spAutoFit/>
          </a:bodyPr>
          <a:lstStyle/>
          <a:p>
            <a:pPr>
              <a:lnSpc>
                <a:spcPct val="125000"/>
              </a:lnSpc>
              <a:spcBef>
                <a:spcPts val="0"/>
              </a:spcBef>
              <a:spcAft>
                <a:spcPts val="200"/>
              </a:spcAft>
              <a:defRPr/>
            </a:pPr>
            <a:r>
              <a:rPr sz="1250" b="0" i="0">
                <a:solidFill>
                  <a:srgbClr val="5A5A5A"/>
                </a:solidFill>
                <a:latin typeface="Segoe UI"/>
                <a:ea typeface="Segoe UI"/>
                <a:cs typeface="Segoe UI"/>
              </a:rPr>
              <a:t>while optimising the heap I let one function do both "replace root" and "remove root", and called it twice per iteration; the</a:t>
            </a:r>
            <a:endParaRPr/>
          </a:p>
          <a:p>
            <a:pPr>
              <a:lnSpc>
                <a:spcPct val="125000"/>
              </a:lnSpc>
              <a:spcBef>
                <a:spcPts val="0"/>
              </a:spcBef>
              <a:spcAft>
                <a:spcPts val="200"/>
              </a:spcAft>
              <a:defRPr/>
            </a:pPr>
            <a:r>
              <a:rPr sz="1250" b="0" i="0">
                <a:solidFill>
                  <a:srgbClr val="5A5A5A"/>
                </a:solidFill>
                <a:latin typeface="Segoe UI"/>
                <a:ea typeface="Segoe UI"/>
                <a:cs typeface="Segoe UI"/>
              </a:rPr>
              <a:t>second call drove the heap size from 0 to SIZE_MAX.</a:t>
            </a:r>
            <a:endParaRPr/>
          </a:p>
        </p:txBody>
      </p:sp>
      <p:sp>
        <p:nvSpPr>
          <p:cNvPr id="1984123064" name="TextBox 21"/>
          <p:cNvSpPr txBox="1"/>
          <p:nvPr/>
        </p:nvSpPr>
        <p:spPr bwMode="auto">
          <a:xfrm>
            <a:off x="1554480" y="5106924"/>
            <a:ext cx="868680" cy="365760"/>
          </a:xfrm>
          <a:prstGeom prst="rect">
            <a:avLst/>
          </a:prstGeom>
          <a:noFill/>
        </p:spPr>
        <p:txBody>
          <a:bodyPr wrap="square" lIns="0" tIns="0" rIns="0" bIns="0">
            <a:spAutoFit/>
          </a:bodyPr>
          <a:lstStyle/>
          <a:p>
            <a:pPr>
              <a:lnSpc>
                <a:spcPct val="135000"/>
              </a:lnSpc>
              <a:spcBef>
                <a:spcPts val="0"/>
              </a:spcBef>
              <a:spcAft>
                <a:spcPts val="0"/>
              </a:spcAft>
              <a:defRPr/>
            </a:pPr>
            <a:r>
              <a:rPr sz="1250" b="1" i="0">
                <a:solidFill>
                  <a:srgbClr val="2E8B57"/>
                </a:solidFill>
                <a:latin typeface="Segoe UI"/>
                <a:ea typeface="Segoe UI"/>
                <a:cs typeface="Segoe UI"/>
              </a:rPr>
              <a:t>Fix</a:t>
            </a:r>
            <a:endParaRPr/>
          </a:p>
        </p:txBody>
      </p:sp>
      <p:sp>
        <p:nvSpPr>
          <p:cNvPr id="1891897826" name="TextBox 22"/>
          <p:cNvSpPr txBox="1"/>
          <p:nvPr/>
        </p:nvSpPr>
        <p:spPr bwMode="auto">
          <a:xfrm>
            <a:off x="2432303" y="5106924"/>
            <a:ext cx="8869680" cy="306323"/>
          </a:xfrm>
          <a:prstGeom prst="rect">
            <a:avLst/>
          </a:prstGeom>
          <a:noFill/>
        </p:spPr>
        <p:txBody>
          <a:bodyPr wrap="square" lIns="0" tIns="0" rIns="0" bIns="0">
            <a:spAutoFit/>
          </a:bodyPr>
          <a:lstStyle/>
          <a:p>
            <a:pPr>
              <a:lnSpc>
                <a:spcPct val="125000"/>
              </a:lnSpc>
              <a:spcBef>
                <a:spcPts val="0"/>
              </a:spcBef>
              <a:spcAft>
                <a:spcPts val="200"/>
              </a:spcAft>
              <a:defRPr/>
            </a:pPr>
            <a:r>
              <a:rPr sz="1250" b="0" i="0">
                <a:solidFill>
                  <a:srgbClr val="5A5A5A"/>
                </a:solidFill>
                <a:latin typeface="Consolas"/>
                <a:ea typeface="Consolas"/>
                <a:cs typeface="Consolas"/>
              </a:rPr>
              <a:t>split it into heap_set_top() and heap_remove_top() — two mutually exclusive operations.</a:t>
            </a:r>
            <a:endParaRPr/>
          </a:p>
        </p:txBody>
      </p:sp>
      <p:sp>
        <p:nvSpPr>
          <p:cNvPr id="1353406017" name="TextBox 23"/>
          <p:cNvSpPr txBox="1"/>
          <p:nvPr/>
        </p:nvSpPr>
        <p:spPr bwMode="auto">
          <a:xfrm>
            <a:off x="1554480" y="5413248"/>
            <a:ext cx="868680" cy="365760"/>
          </a:xfrm>
          <a:prstGeom prst="rect">
            <a:avLst/>
          </a:prstGeom>
          <a:noFill/>
        </p:spPr>
        <p:txBody>
          <a:bodyPr wrap="square" lIns="0" tIns="0" rIns="0" bIns="0">
            <a:spAutoFit/>
          </a:bodyPr>
          <a:lstStyle/>
          <a:p>
            <a:pPr>
              <a:lnSpc>
                <a:spcPct val="135000"/>
              </a:lnSpc>
              <a:spcBef>
                <a:spcPts val="0"/>
              </a:spcBef>
              <a:spcAft>
                <a:spcPts val="0"/>
              </a:spcAft>
              <a:defRPr/>
            </a:pPr>
            <a:r>
              <a:rPr sz="1250" b="1" i="0">
                <a:solidFill>
                  <a:srgbClr val="2E6DA4"/>
                </a:solidFill>
                <a:latin typeface="Segoe UI"/>
                <a:ea typeface="Segoe UI"/>
                <a:cs typeface="Segoe UI"/>
              </a:rPr>
              <a:t>Lesson</a:t>
            </a:r>
            <a:endParaRPr/>
          </a:p>
        </p:txBody>
      </p:sp>
      <p:sp>
        <p:nvSpPr>
          <p:cNvPr id="2082824733" name="TextBox 24"/>
          <p:cNvSpPr txBox="1"/>
          <p:nvPr/>
        </p:nvSpPr>
        <p:spPr bwMode="auto">
          <a:xfrm>
            <a:off x="2432303" y="5413248"/>
            <a:ext cx="8869680" cy="736092"/>
          </a:xfrm>
          <a:prstGeom prst="rect">
            <a:avLst/>
          </a:prstGeom>
          <a:noFill/>
        </p:spPr>
        <p:txBody>
          <a:bodyPr wrap="square" lIns="0" tIns="0" rIns="0" bIns="0">
            <a:spAutoFit/>
          </a:bodyPr>
          <a:lstStyle/>
          <a:p>
            <a:pPr>
              <a:lnSpc>
                <a:spcPct val="125000"/>
              </a:lnSpc>
              <a:spcBef>
                <a:spcPts val="0"/>
              </a:spcBef>
              <a:spcAft>
                <a:spcPts val="200"/>
              </a:spcAft>
              <a:defRPr/>
            </a:pPr>
            <a:r>
              <a:rPr sz="1250" b="0" i="0">
                <a:solidFill>
                  <a:srgbClr val="5A5A5A"/>
                </a:solidFill>
                <a:latin typeface="Segoe UI"/>
                <a:ea typeface="Segoe UI"/>
                <a:cs typeface="Segoe UI"/>
              </a:rPr>
              <a:t>tests have to travel with the refactor: only re-running the full differential suite revealed that the previous build was broken</a:t>
            </a:r>
            <a:endParaRPr/>
          </a:p>
          <a:p>
            <a:pPr>
              <a:lnSpc>
                <a:spcPct val="125000"/>
              </a:lnSpc>
              <a:spcBef>
                <a:spcPts val="0"/>
              </a:spcBef>
              <a:spcAft>
                <a:spcPts val="200"/>
              </a:spcAft>
              <a:defRPr/>
            </a:pPr>
            <a:r>
              <a:rPr sz="1250" b="0" i="0">
                <a:solidFill>
                  <a:srgbClr val="5A5A5A"/>
                </a:solidFill>
                <a:latin typeface="Segoe UI"/>
                <a:ea typeface="Segoe UI"/>
                <a:cs typeface="Segoe UI"/>
              </a:rPr>
              <a:t>too. Unit tests alone would not have caught it.</a:t>
            </a:r>
            <a:endParaRPr/>
          </a:p>
        </p:txBody>
      </p:sp>
      <p:sp>
        <p:nvSpPr>
          <p:cNvPr id="61847536" name="TextBox 25"/>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1560756446" name="TextBox 26"/>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14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077842"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336757966"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Testing Methodology</a:t>
            </a:r>
            <a:endParaRPr/>
          </a:p>
        </p:txBody>
      </p:sp>
      <p:sp>
        <p:nvSpPr>
          <p:cNvPr id="1989960523"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The pass criterion is "line-by-line identical", not "no crash"</a:t>
            </a:r>
            <a:endParaRPr/>
          </a:p>
        </p:txBody>
      </p:sp>
      <p:sp>
        <p:nvSpPr>
          <p:cNvPr id="549423146"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38853127" name="TextBox 5"/>
          <p:cNvSpPr txBox="1"/>
          <p:nvPr/>
        </p:nvSpPr>
        <p:spPr bwMode="auto">
          <a:xfrm>
            <a:off x="749808" y="1600200"/>
            <a:ext cx="5577840" cy="3017519"/>
          </a:xfrm>
          <a:prstGeom prst="rect">
            <a:avLst/>
          </a:prstGeom>
          <a:noFill/>
        </p:spPr>
        <p:txBody>
          <a:bodyPr wrap="square" lIns="0" tIns="0" rIns="0" bIns="0">
            <a:spAutoFit/>
          </a:bodyPr>
          <a:lstStyle/>
          <a:p>
            <a:pPr>
              <a:lnSpc>
                <a:spcPct val="135000"/>
              </a:lnSpc>
              <a:spcBef>
                <a:spcPts val="0"/>
              </a:spcBef>
              <a:spcAft>
                <a:spcPts val="1000"/>
              </a:spcAft>
              <a:defRPr/>
            </a:pPr>
            <a:r>
              <a:rPr sz="1550" b="1" i="0">
                <a:solidFill>
                  <a:srgbClr val="2E6DA4"/>
                </a:solidFill>
                <a:latin typeface="Segoe UI"/>
                <a:ea typeface="Segoe UI"/>
                <a:cs typeface="Segoe UI"/>
              </a:rPr>
              <a:t>▪  </a:t>
            </a:r>
            <a:r>
              <a:rPr sz="1550" b="1" i="0">
                <a:solidFill>
                  <a:srgbClr val="1B2F4B"/>
                </a:solidFill>
                <a:latin typeface="Segoe UI"/>
                <a:ea typeface="Segoe UI"/>
                <a:cs typeface="Segoe UI"/>
              </a:rPr>
              <a:t>Reference: </a:t>
            </a:r>
            <a:r>
              <a:rPr sz="1550" b="0" i="0">
                <a:solidFill>
                  <a:srgbClr val="5A5A5A"/>
                </a:solidFill>
                <a:latin typeface="Segoe UI"/>
                <a:ea typeface="Segoe UI"/>
                <a:cs typeface="Segoe UI"/>
              </a:rPr>
              <a:t>a Python implementation of the comparison order from the specification, using cmp_to_key.</a:t>
            </a:r>
            <a:endParaRPr/>
          </a:p>
          <a:p>
            <a:pPr>
              <a:lnSpc>
                <a:spcPct val="135000"/>
              </a:lnSpc>
              <a:spcBef>
                <a:spcPts val="0"/>
              </a:spcBef>
              <a:spcAft>
                <a:spcPts val="1600"/>
              </a:spcAft>
              <a:defRPr/>
            </a:pPr>
            <a:r>
              <a:rPr sz="1300" b="0" i="0">
                <a:solidFill>
                  <a:srgbClr val="5A5A5A"/>
                </a:solidFill>
                <a:latin typeface="Segoe UI"/>
                <a:ea typeface="Segoe UI"/>
                <a:cs typeface="Segoe UI"/>
              </a:rPr>
              <a:t>The C program's output is then compared line by line; any differing row fails the case.</a:t>
            </a:r>
            <a:endParaRPr/>
          </a:p>
          <a:p>
            <a:pPr>
              <a:lnSpc>
                <a:spcPct val="135000"/>
              </a:lnSpc>
              <a:spcBef>
                <a:spcPts val="0"/>
              </a:spcBef>
              <a:spcAft>
                <a:spcPts val="1000"/>
              </a:spcAft>
              <a:defRPr/>
            </a:pPr>
            <a:r>
              <a:rPr sz="1550" b="1" i="0">
                <a:solidFill>
                  <a:srgbClr val="2E6DA4"/>
                </a:solidFill>
                <a:latin typeface="Segoe UI"/>
                <a:ea typeface="Segoe UI"/>
                <a:cs typeface="Segoe UI"/>
              </a:rPr>
              <a:t>▪  </a:t>
            </a:r>
            <a:r>
              <a:rPr sz="1550" b="1" i="0">
                <a:solidFill>
                  <a:srgbClr val="1B2F4B"/>
                </a:solidFill>
                <a:latin typeface="Segoe UI"/>
                <a:ea typeface="Segoe UI"/>
                <a:cs typeface="Segoe UI"/>
              </a:rPr>
              <a:t>Matrix: </a:t>
            </a:r>
            <a:r>
              <a:rPr sz="1550" b="1" i="0">
                <a:solidFill>
                  <a:srgbClr val="2E6DA4"/>
                </a:solidFill>
                <a:latin typeface="Segoe UI"/>
                <a:ea typeface="Segoe UI"/>
                <a:cs typeface="Segoe UI"/>
              </a:rPr>
              <a:t>16 flag combinations × 3 memory limits × 6 data profiles</a:t>
            </a:r>
            <a:endParaRPr/>
          </a:p>
          <a:p>
            <a:pPr>
              <a:lnSpc>
                <a:spcPct val="150000"/>
              </a:lnSpc>
              <a:spcBef>
                <a:spcPts val="0"/>
              </a:spcBef>
              <a:spcAft>
                <a:spcPts val="0"/>
              </a:spcAft>
              <a:defRPr/>
            </a:pPr>
            <a:r>
              <a:rPr sz="1250" b="0" i="0">
                <a:solidFill>
                  <a:srgbClr val="5A5A5A"/>
                </a:solidFill>
                <a:latin typeface="Segoe UI"/>
                <a:ea typeface="Segoe UI"/>
                <a:cs typeface="Segoe UI"/>
              </a:rPr>
              <a:t>Profiles: plain words / pure numbers / mixed text with spaces /</a:t>
            </a:r>
            <a:br>
              <a:rPr sz="1250" b="0" i="0">
                <a:solidFill>
                  <a:srgbClr val="5A5A5A"/>
                </a:solidFill>
                <a:latin typeface="Segoe UI"/>
                <a:ea typeface="Segoe UI"/>
                <a:cs typeface="Segoe UI"/>
              </a:rPr>
            </a:br>
            <a:r>
              <a:rPr sz="1250" b="0" i="0">
                <a:solidFill>
                  <a:srgbClr val="5A5A5A"/>
                </a:solidFill>
                <a:latin typeface="Segoe UI"/>
                <a:ea typeface="Segoe UI"/>
                <a:cs typeface="Segoe UI"/>
              </a:rPr>
              <a:t>4,000-character lines / empty file / single-line file</a:t>
            </a:r>
            <a:br>
              <a:rPr sz="1250" b="0" i="0">
                <a:solidFill>
                  <a:srgbClr val="5A5A5A"/>
                </a:solidFill>
                <a:latin typeface="Segoe UI"/>
                <a:ea typeface="Segoe UI"/>
                <a:cs typeface="Segoe UI"/>
              </a:rPr>
            </a:br>
            <a:r>
              <a:rPr sz="1250" b="0" i="0">
                <a:solidFill>
                  <a:srgbClr val="5A5A5A"/>
                </a:solidFill>
                <a:latin typeface="Segoe UI"/>
                <a:ea typeface="Segoe UI"/>
                <a:cs typeface="Segoe UI"/>
              </a:rPr>
              <a:t>Flags: all 2⁴ arrangements of -c -r -n -l</a:t>
            </a:r>
            <a:br>
              <a:rPr sz="1250" b="0" i="0">
                <a:solidFill>
                  <a:srgbClr val="5A5A5A"/>
                </a:solidFill>
                <a:latin typeface="Segoe UI"/>
                <a:ea typeface="Segoe UI"/>
                <a:cs typeface="Segoe UI"/>
              </a:rPr>
            </a:br>
            <a:r>
              <a:rPr sz="1250" b="0" i="0">
                <a:solidFill>
                  <a:srgbClr val="5A5A5A"/>
                </a:solidFill>
                <a:latin typeface="Segoe UI"/>
                <a:ea typeface="Segoe UI"/>
                <a:cs typeface="Segoe UI"/>
              </a:rPr>
              <a:t>Memory: 1 MB / 2 MB / 100 MB</a:t>
            </a:r>
            <a:endParaRPr/>
          </a:p>
        </p:txBody>
      </p:sp>
      <p:sp>
        <p:nvSpPr>
          <p:cNvPr id="1713350756" name="Rounded Rectangle 6"/>
          <p:cNvSpPr/>
          <p:nvPr/>
        </p:nvSpPr>
        <p:spPr bwMode="auto">
          <a:xfrm>
            <a:off x="6583680" y="1783080"/>
            <a:ext cx="4892039" cy="1371600"/>
          </a:xfrm>
          <a:prstGeom prst="roundRect">
            <a:avLst>
              <a:gd name="adj" fmla="val 16667"/>
            </a:avLst>
          </a:prstGeom>
          <a:solidFill>
            <a:srgbClr val="F2F8F4"/>
          </a:solidFill>
          <a:ln w="15875">
            <a:solidFill>
              <a:srgbClr val="2E8B57"/>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r>
              <a:rPr sz="3400" b="1" i="0">
                <a:solidFill>
                  <a:srgbClr val="2E8B57"/>
                </a:solidFill>
                <a:latin typeface="Segoe UI"/>
                <a:ea typeface="Segoe UI"/>
                <a:cs typeface="Segoe UI"/>
              </a:rPr>
              <a:t>288 / 288</a:t>
            </a:r>
            <a:endParaRPr/>
          </a:p>
          <a:p>
            <a:pPr algn="ctr">
              <a:defRPr/>
            </a:pPr>
            <a:r>
              <a:rPr sz="1500" b="1" i="0">
                <a:solidFill>
                  <a:srgbClr val="5A5A5A"/>
                </a:solidFill>
                <a:latin typeface="Segoe UI"/>
                <a:ea typeface="Segoe UI"/>
                <a:cs typeface="Segoe UI"/>
              </a:rPr>
              <a:t>all passing</a:t>
            </a:r>
            <a:endParaRPr/>
          </a:p>
        </p:txBody>
      </p:sp>
      <p:sp>
        <p:nvSpPr>
          <p:cNvPr id="544461229" name="Rounded Rectangle 7"/>
          <p:cNvSpPr/>
          <p:nvPr/>
        </p:nvSpPr>
        <p:spPr bwMode="auto">
          <a:xfrm>
            <a:off x="6583680" y="3383280"/>
            <a:ext cx="4892039" cy="2011680"/>
          </a:xfrm>
          <a:prstGeom prst="roundRect">
            <a:avLst>
              <a:gd name="adj" fmla="val 16667"/>
            </a:avLst>
          </a:prstGeom>
          <a:solidFill>
            <a:srgbClr val="FFF6EC"/>
          </a:solidFill>
          <a:ln w="15875">
            <a:solidFill>
              <a:srgbClr val="E06C2E"/>
            </a:solidFill>
          </a:ln>
          <a:effectLst/>
        </p:spPr>
        <p:style>
          <a:lnRef idx="1">
            <a:schemeClr val="accent1"/>
          </a:lnRef>
          <a:fillRef idx="3">
            <a:schemeClr val="accent1"/>
          </a:fillRef>
          <a:effectRef idx="2">
            <a:schemeClr val="accent1"/>
          </a:effectRef>
          <a:fontRef idx="minor">
            <a:schemeClr val="lt1"/>
          </a:fontRef>
        </p:style>
        <p:txBody>
          <a:bodyPr wrap="square" lIns="201168" tIns="146304" rIns="128016" bIns="73152" rtlCol="0" anchor="t"/>
          <a:lstStyle/>
          <a:p>
            <a:pPr algn="ctr">
              <a:lnSpc>
                <a:spcPct val="135000"/>
              </a:lnSpc>
              <a:spcBef>
                <a:spcPts val="0"/>
              </a:spcBef>
              <a:spcAft>
                <a:spcPts val="800"/>
              </a:spcAft>
              <a:defRPr/>
            </a:pPr>
            <a:r>
              <a:rPr sz="1600" b="1" i="0">
                <a:solidFill>
                  <a:srgbClr val="E06C2E"/>
                </a:solidFill>
                <a:latin typeface="Segoe UI"/>
                <a:ea typeface="Segoe UI"/>
                <a:cs typeface="Segoe UI"/>
              </a:rPr>
              <a:t>The sharpest single check</a:t>
            </a:r>
            <a:endParaRPr/>
          </a:p>
          <a:p>
            <a:pPr>
              <a:lnSpc>
                <a:spcPct val="135000"/>
              </a:lnSpc>
              <a:spcBef>
                <a:spcPts val="0"/>
              </a:spcBef>
              <a:spcAft>
                <a:spcPts val="800"/>
              </a:spcAft>
              <a:defRPr/>
            </a:pPr>
            <a:r>
              <a:rPr sz="1500" b="1" i="0">
                <a:solidFill>
                  <a:srgbClr val="1B2F4B"/>
                </a:solidFill>
                <a:latin typeface="Consolas"/>
                <a:ea typeface="Consolas"/>
                <a:cs typeface="Consolas"/>
              </a:rPr>
              <a:t>-m 1</a:t>
            </a:r>
            <a:r>
              <a:rPr sz="1500" b="0" i="0">
                <a:solidFill>
                  <a:srgbClr val="5A5A5A"/>
                </a:solidFill>
                <a:latin typeface="Segoe UI"/>
                <a:ea typeface="Segoe UI"/>
                <a:cs typeface="Segoe UI"/>
              </a:rPr>
              <a:t> and </a:t>
            </a:r>
            <a:r>
              <a:rPr sz="1500" b="1" i="0">
                <a:solidFill>
                  <a:srgbClr val="1B2F4B"/>
                </a:solidFill>
                <a:latin typeface="Consolas"/>
                <a:ea typeface="Consolas"/>
                <a:cs typeface="Consolas"/>
              </a:rPr>
              <a:t>-m 100</a:t>
            </a:r>
            <a:r>
              <a:rPr sz="1500" b="0" i="0">
                <a:solidFill>
                  <a:srgbClr val="5A5A5A"/>
                </a:solidFill>
                <a:latin typeface="Segoe UI"/>
                <a:ea typeface="Segoe UI"/>
                <a:cs typeface="Segoe UI"/>
              </a:rPr>
              <a:t> must produce byte-identical output.</a:t>
            </a:r>
            <a:endParaRPr/>
          </a:p>
          <a:p>
            <a:pPr>
              <a:lnSpc>
                <a:spcPct val="135000"/>
              </a:lnSpc>
              <a:spcBef>
                <a:spcPts val="0"/>
              </a:spcBef>
              <a:spcAft>
                <a:spcPts val="0"/>
              </a:spcAft>
              <a:defRPr/>
            </a:pPr>
            <a:r>
              <a:rPr sz="1300" b="0" i="0">
                <a:solidFill>
                  <a:srgbClr val="5A5A5A"/>
                </a:solidFill>
                <a:latin typeface="Segoe UI"/>
                <a:ea typeface="Segoe UI"/>
                <a:cs typeface="Segoe UI"/>
              </a:rPr>
              <a:t>It catches errors only external sorting can produce — the dropped-line bug never appears if the file fits in a single run.</a:t>
            </a:r>
            <a:endParaRPr/>
          </a:p>
        </p:txBody>
      </p:sp>
      <p:sp>
        <p:nvSpPr>
          <p:cNvPr id="268585003" name="TextBox 8"/>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420175835" name="TextBox 9"/>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15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7112857"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540773059"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Limitations and Possible Improvements</a:t>
            </a:r>
            <a:endParaRPr/>
          </a:p>
        </p:txBody>
      </p:sp>
      <p:sp>
        <p:nvSpPr>
          <p:cNvPr id="777078464"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Evaluated, then traded away for correctness</a:t>
            </a:r>
            <a:endParaRPr/>
          </a:p>
        </p:txBody>
      </p:sp>
      <p:sp>
        <p:nvSpPr>
          <p:cNvPr id="998286685"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graphicFrame>
        <p:nvGraphicFramePr>
          <p:cNvPr id="238554267" name="Table 5"/>
          <p:cNvGraphicFramePr>
            <a:graphicFrameLocks xmlns:a="http://schemas.openxmlformats.org/drawingml/2006/main" noGrp="1"/>
          </p:cNvGraphicFramePr>
          <p:nvPr/>
        </p:nvGraphicFramePr>
        <p:xfrm rot="0">
          <a:off x="749808" y="1828800"/>
          <a:ext cx="10725911" cy="2377440"/>
        </p:xfrm>
        <a:graphic>
          <a:graphicData uri="http://schemas.openxmlformats.org/drawingml/2006/table">
            <a:tbl>
              <a:tblPr firstRow="1" firstCol="0" lastRow="0" lastCol="0" bandRow="1" bandCol="0">
                <a:tableStyleId>{5C22544A-7EE6-4342-B048-85BDC9FD1C3A}</a:tableStyleId>
              </a:tblPr>
              <a:tblGrid>
                <a:gridCol w="1968057"/>
                <a:gridCol w="4821740"/>
                <a:gridCol w="3936114"/>
              </a:tblGrid>
              <a:tr h="475488">
                <a:tc>
                  <a:txBody>
                    <a:bodyPr/>
                    <a:p>
                      <a:pPr>
                        <a:defRPr/>
                      </a:pPr>
                      <a:r>
                        <a:rPr sz="1350" b="1" i="0">
                          <a:solidFill>
                            <a:srgbClr val="FFFFFF"/>
                          </a:solidFill>
                          <a:latin typeface="Segoe UI"/>
                          <a:ea typeface="Segoe UI"/>
                          <a:cs typeface="Segoe UI"/>
                        </a:rPr>
                        <a:t>Item</a:t>
                      </a:r>
                      <a:endParaRPr/>
                    </a:p>
                  </a:txBody>
                  <a:tcPr marL="91440" marR="54864" marT="18288" marB="18288" anchor="ctr">
                    <a:solidFill>
                      <a:srgbClr val="1B2F4B"/>
                    </a:solidFill>
                  </a:tcPr>
                </a:tc>
                <a:tc>
                  <a:txBody>
                    <a:bodyPr/>
                    <a:p>
                      <a:pPr>
                        <a:defRPr/>
                      </a:pPr>
                      <a:r>
                        <a:rPr sz="1350" b="1" i="0">
                          <a:solidFill>
                            <a:srgbClr val="FFFFFF"/>
                          </a:solidFill>
                          <a:latin typeface="Segoe UI"/>
                          <a:ea typeface="Segoe UI"/>
                          <a:cs typeface="Segoe UI"/>
                        </a:rPr>
                        <a:t>Current state</a:t>
                      </a:r>
                      <a:endParaRPr/>
                    </a:p>
                  </a:txBody>
                  <a:tcPr marL="91440" marR="54864" marT="18288" marB="18288" anchor="ctr">
                    <a:solidFill>
                      <a:srgbClr val="1B2F4B"/>
                    </a:solidFill>
                  </a:tcPr>
                </a:tc>
                <a:tc>
                  <a:txBody>
                    <a:bodyPr/>
                    <a:p>
                      <a:pPr>
                        <a:defRPr/>
                      </a:pPr>
                      <a:r>
                        <a:rPr sz="1350" b="1" i="0">
                          <a:solidFill>
                            <a:srgbClr val="FFFFFF"/>
                          </a:solidFill>
                          <a:latin typeface="Segoe UI"/>
                          <a:ea typeface="Segoe UI"/>
                          <a:cs typeface="Segoe UI"/>
                        </a:rPr>
                        <a:t>If I had more time</a:t>
                      </a:r>
                      <a:endParaRPr/>
                    </a:p>
                  </a:txBody>
                  <a:tcPr marL="91440" marR="54864" marT="18288" marB="18288" anchor="ctr">
                    <a:solidFill>
                      <a:srgbClr val="1B2F4B"/>
                    </a:solidFill>
                  </a:tcPr>
                </a:tc>
              </a:tr>
              <a:tr h="475488">
                <a:tc>
                  <a:txBody>
                    <a:bodyPr/>
                    <a:p>
                      <a:pPr>
                        <a:defRPr/>
                      </a:pPr>
                      <a:r>
                        <a:rPr sz="1350" b="1" i="0">
                          <a:solidFill>
                            <a:srgbClr val="5A5A5A"/>
                          </a:solidFill>
                          <a:latin typeface="Segoe UI"/>
                          <a:ea typeface="Segoe UI"/>
                          <a:cs typeface="Segoe UI"/>
                        </a:rPr>
                        <a:t>Parallelism</a:t>
                      </a:r>
                      <a:endParaRPr/>
                    </a:p>
                  </a:txBody>
                  <a:tcPr marL="91440" marR="54864" marT="18288" marB="18288" anchor="ctr">
                    <a:solidFill>
                      <a:srgbClr val="FFFFFF"/>
                    </a:solidFill>
                  </a:tcPr>
                </a:tc>
                <a:tc>
                  <a:txBody>
                    <a:bodyPr/>
                    <a:p>
                      <a:pPr>
                        <a:defRPr/>
                      </a:pPr>
                      <a:r>
                        <a:rPr sz="1350" b="0" i="0">
                          <a:solidFill>
                            <a:srgbClr val="5A5A5A"/>
                          </a:solidFill>
                          <a:latin typeface="Segoe UI"/>
                          <a:ea typeface="Segoe UI"/>
                          <a:cs typeface="Segoe UI"/>
                        </a:rPr>
                        <a:t>single-threaded; runs cannot merge in parallel</a:t>
                      </a:r>
                      <a:endParaRPr/>
                    </a:p>
                  </a:txBody>
                  <a:tcPr marL="91440" marR="54864" marT="18288" marB="18288" anchor="ctr">
                    <a:solidFill>
                      <a:srgbClr val="FFFFFF"/>
                    </a:solidFill>
                  </a:tcPr>
                </a:tc>
                <a:tc>
                  <a:txBody>
                    <a:bodyPr/>
                    <a:p>
                      <a:pPr>
                        <a:defRPr/>
                      </a:pPr>
                      <a:r>
                        <a:rPr sz="1350" b="0" i="0">
                          <a:solidFill>
                            <a:srgbClr val="5A5A5A"/>
                          </a:solidFill>
                          <a:latin typeface="Segoe UI"/>
                          <a:ea typeface="Segoe UI"/>
                          <a:cs typeface="Segoe UI"/>
                        </a:rPr>
                        <a:t>threads plus locking</a:t>
                      </a:r>
                      <a:endParaRPr/>
                    </a:p>
                  </a:txBody>
                  <a:tcPr marL="91440" marR="54864" marT="18288" marB="18288" anchor="ctr">
                    <a:solidFill>
                      <a:srgbClr val="FFFFFF"/>
                    </a:solidFill>
                  </a:tcPr>
                </a:tc>
              </a:tr>
              <a:tr h="475488">
                <a:tc>
                  <a:txBody>
                    <a:bodyPr/>
                    <a:p>
                      <a:pPr>
                        <a:defRPr/>
                      </a:pPr>
                      <a:r>
                        <a:rPr sz="1350" b="1" i="0">
                          <a:solidFill>
                            <a:srgbClr val="5A5A5A"/>
                          </a:solidFill>
                          <a:latin typeface="Segoe UI"/>
                          <a:ea typeface="Segoe UI"/>
                          <a:cs typeface="Segoe UI"/>
                        </a:rPr>
                        <a:t>Input source</a:t>
                      </a:r>
                      <a:endParaRPr/>
                    </a:p>
                  </a:txBody>
                  <a:tcPr marL="91440" marR="54864" marT="18288" marB="18288" anchor="ctr">
                    <a:solidFill>
                      <a:srgbClr val="F2F5F8"/>
                    </a:solidFill>
                  </a:tcPr>
                </a:tc>
                <a:tc>
                  <a:txBody>
                    <a:bodyPr/>
                    <a:p>
                      <a:pPr>
                        <a:defRPr/>
                      </a:pPr>
                      <a:r>
                        <a:rPr sz="1350" b="0" i="0">
                          <a:solidFill>
                            <a:srgbClr val="5A5A5A"/>
                          </a:solidFill>
                          <a:latin typeface="Segoe UI"/>
                          <a:ea typeface="Segoe UI"/>
                          <a:cs typeface="Segoe UI"/>
                        </a:rPr>
                        <a:t>files only, no stdin</a:t>
                      </a:r>
                      <a:endParaRPr/>
                    </a:p>
                  </a:txBody>
                  <a:tcPr marL="91440" marR="54864" marT="18288" marB="18288" anchor="ctr">
                    <a:solidFill>
                      <a:srgbClr val="F2F5F8"/>
                    </a:solidFill>
                  </a:tcPr>
                </a:tc>
                <a:tc>
                  <a:txBody>
                    <a:bodyPr/>
                    <a:p>
                      <a:pPr>
                        <a:defRPr/>
                      </a:pPr>
                      <a:r>
                        <a:rPr sz="1350" b="0" i="0">
                          <a:solidFill>
                            <a:srgbClr val="5A5A5A"/>
                          </a:solidFill>
                          <a:latin typeface="Segoe UI"/>
                          <a:ea typeface="Segoe UI"/>
                          <a:cs typeface="Segoe UI"/>
                        </a:rPr>
                        <a:t>accept stdin for pipelines</a:t>
                      </a:r>
                      <a:endParaRPr/>
                    </a:p>
                  </a:txBody>
                  <a:tcPr marL="91440" marR="54864" marT="18288" marB="18288" anchor="ctr">
                    <a:solidFill>
                      <a:srgbClr val="F2F5F8"/>
                    </a:solidFill>
                  </a:tcPr>
                </a:tc>
              </a:tr>
              <a:tr h="475488">
                <a:tc>
                  <a:txBody>
                    <a:bodyPr/>
                    <a:p>
                      <a:pPr>
                        <a:defRPr/>
                      </a:pPr>
                      <a:r>
                        <a:rPr sz="1350" b="1" i="0">
                          <a:solidFill>
                            <a:srgbClr val="5A5A5A"/>
                          </a:solidFill>
                          <a:latin typeface="Segoe UI"/>
                          <a:ea typeface="Segoe UI"/>
                          <a:cs typeface="Segoe UI"/>
                        </a:rPr>
                        <a:t>Temp cleanup</a:t>
                      </a:r>
                      <a:endParaRPr/>
                    </a:p>
                  </a:txBody>
                  <a:tcPr marL="91440" marR="54864" marT="18288" marB="18288" anchor="ctr">
                    <a:solidFill>
                      <a:srgbClr val="FFFFFF"/>
                    </a:solidFill>
                  </a:tcPr>
                </a:tc>
                <a:tc>
                  <a:txBody>
                    <a:bodyPr/>
                    <a:p>
                      <a:pPr>
                        <a:defRPr/>
                      </a:pPr>
                      <a:r>
                        <a:rPr sz="1350" b="0" i="0">
                          <a:solidFill>
                            <a:srgbClr val="5A5A5A"/>
                          </a:solidFill>
                          <a:latin typeface="Segoe UI"/>
                          <a:ea typeface="Segoe UI"/>
                          <a:cs typeface="Segoe UI"/>
                        </a:rPr>
                        <a:t>cleaned on normal exit; leaks on SIGKILL/crash</a:t>
                      </a:r>
                      <a:endParaRPr/>
                    </a:p>
                  </a:txBody>
                  <a:tcPr marL="91440" marR="54864" marT="18288" marB="18288" anchor="ctr">
                    <a:solidFill>
                      <a:srgbClr val="FFFFFF"/>
                    </a:solidFill>
                  </a:tcPr>
                </a:tc>
                <a:tc>
                  <a:txBody>
                    <a:bodyPr/>
                    <a:p>
                      <a:pPr>
                        <a:defRPr/>
                      </a:pPr>
                      <a:r>
                        <a:rPr sz="1350" b="0" i="0">
                          <a:solidFill>
                            <a:srgbClr val="5A5A5A"/>
                          </a:solidFill>
                          <a:latin typeface="Segoe UI"/>
                          <a:ea typeface="Segoe UI"/>
                          <a:cs typeface="Segoe UI"/>
                        </a:rPr>
                        <a:t>atexit() or a signal handler (SIGKILL is uncatchable)</a:t>
                      </a:r>
                      <a:endParaRPr/>
                    </a:p>
                  </a:txBody>
                  <a:tcPr marL="91440" marR="54864" marT="18288" marB="18288" anchor="ctr">
                    <a:solidFill>
                      <a:srgbClr val="FFFFFF"/>
                    </a:solidFill>
                  </a:tcPr>
                </a:tc>
              </a:tr>
              <a:tr h="475488">
                <a:tc>
                  <a:txBody>
                    <a:bodyPr/>
                    <a:p>
                      <a:pPr>
                        <a:defRPr/>
                      </a:pPr>
                      <a:r>
                        <a:rPr sz="1350" b="1" i="0">
                          <a:solidFill>
                            <a:srgbClr val="5A5A5A"/>
                          </a:solidFill>
                          <a:latin typeface="Segoe UI"/>
                          <a:ea typeface="Segoe UI"/>
                          <a:cs typeface="Segoe UI"/>
                        </a:rPr>
                        <a:t>Over-long lines</a:t>
                      </a:r>
                      <a:endParaRPr/>
                    </a:p>
                  </a:txBody>
                  <a:tcPr marL="91440" marR="54864" marT="18288" marB="18288" anchor="ctr">
                    <a:solidFill>
                      <a:srgbClr val="F2F5F8"/>
                    </a:solidFill>
                  </a:tcPr>
                </a:tc>
                <a:tc>
                  <a:txBody>
                    <a:bodyPr/>
                    <a:p>
                      <a:pPr>
                        <a:defRPr/>
                      </a:pPr>
                      <a:r>
                        <a:rPr sz="1350" b="0" i="0">
                          <a:solidFill>
                            <a:srgbClr val="5A5A5A"/>
                          </a:solidFill>
                          <a:latin typeface="Segoe UI"/>
                          <a:ea typeface="Segoe UI"/>
                          <a:cs typeface="Segoe UI"/>
                        </a:rPr>
                        <a:t>silently truncated at 4,095 bytes</a:t>
                      </a:r>
                      <a:endParaRPr/>
                    </a:p>
                  </a:txBody>
                  <a:tcPr marL="91440" marR="54864" marT="18288" marB="18288" anchor="ctr">
                    <a:solidFill>
                      <a:srgbClr val="F2F5F8"/>
                    </a:solidFill>
                  </a:tcPr>
                </a:tc>
                <a:tc>
                  <a:txBody>
                    <a:bodyPr/>
                    <a:p>
                      <a:pPr>
                        <a:defRPr/>
                      </a:pPr>
                      <a:r>
                        <a:rPr sz="1350" b="0" i="0">
                          <a:solidFill>
                            <a:srgbClr val="5A5A5A"/>
                          </a:solidFill>
                          <a:latin typeface="Segoe UI"/>
                          <a:ea typeface="Segoe UI"/>
                          <a:cs typeface="Segoe UI"/>
                        </a:rPr>
                        <a:t>emit a warning</a:t>
                      </a:r>
                      <a:endParaRPr/>
                    </a:p>
                  </a:txBody>
                  <a:tcPr marL="91440" marR="54864" marT="18288" marB="18288" anchor="ctr">
                    <a:solidFill>
                      <a:srgbClr val="F2F5F8"/>
                    </a:solidFill>
                  </a:tcPr>
                </a:tc>
              </a:tr>
            </a:tbl>
          </a:graphicData>
        </a:graphic>
      </p:graphicFrame>
      <p:sp>
        <p:nvSpPr>
          <p:cNvPr id="507355389" name="TextBox 6"/>
          <p:cNvSpPr txBox="1"/>
          <p:nvPr/>
        </p:nvSpPr>
        <p:spPr bwMode="auto">
          <a:xfrm>
            <a:off x="749808" y="4892039"/>
            <a:ext cx="10725912" cy="822960"/>
          </a:xfrm>
          <a:prstGeom prst="rect">
            <a:avLst/>
          </a:prstGeom>
          <a:noFill/>
        </p:spPr>
        <p:txBody>
          <a:bodyPr wrap="square" lIns="0" tIns="0" rIns="0" bIns="0">
            <a:spAutoFit/>
          </a:bodyPr>
          <a:lstStyle/>
          <a:p>
            <a:pPr>
              <a:lnSpc>
                <a:spcPct val="135000"/>
              </a:lnSpc>
              <a:spcBef>
                <a:spcPts val="0"/>
              </a:spcBef>
              <a:spcAft>
                <a:spcPts val="0"/>
              </a:spcAft>
              <a:defRPr/>
            </a:pPr>
            <a:r>
              <a:rPr sz="1600" b="0" i="0">
                <a:solidFill>
                  <a:srgbClr val="5A5A5A"/>
                </a:solidFill>
                <a:latin typeface="Segoe UI"/>
                <a:ea typeface="Segoe UI"/>
                <a:cs typeface="Segoe UI"/>
              </a:rPr>
              <a:t>These are not oversights — they are the result of putting </a:t>
            </a:r>
            <a:r>
              <a:rPr sz="1600" b="1" i="0">
                <a:solidFill>
                  <a:srgbClr val="1B2F4B"/>
                </a:solidFill>
                <a:latin typeface="Segoe UI"/>
                <a:ea typeface="Segoe UI"/>
                <a:cs typeface="Segoe UI"/>
              </a:rPr>
              <a:t>correctness before speed</a:t>
            </a:r>
            <a:r>
              <a:rPr sz="1600" b="0" i="0">
                <a:solidFill>
                  <a:srgbClr val="5A5A5A"/>
                </a:solidFill>
                <a:latin typeface="Segoe UI"/>
                <a:ea typeface="Segoe UI"/>
                <a:cs typeface="Segoe UI"/>
              </a:rPr>
              <a:t> within the available time.</a:t>
            </a:r>
            <a:endParaRPr/>
          </a:p>
        </p:txBody>
      </p:sp>
      <p:sp>
        <p:nvSpPr>
          <p:cNvPr id="325703035" name="TextBox 7"/>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467270535" name="TextBox 8"/>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16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9624289" name="Rectangle 1"/>
          <p:cNvSpPr/>
          <p:nvPr/>
        </p:nvSpPr>
        <p:spPr bwMode="auto">
          <a:xfrm>
            <a:off x="0" y="0"/>
            <a:ext cx="12191695" cy="6858000"/>
          </a:xfrm>
          <a:prstGeom prst="rect">
            <a:avLst/>
          </a:prstGeom>
          <a:solidFill>
            <a:srgbClr val="1B2F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920709230" name="Rectangle 2"/>
          <p:cNvSpPr/>
          <p:nvPr/>
        </p:nvSpPr>
        <p:spPr bwMode="auto">
          <a:xfrm>
            <a:off x="0" y="1965960"/>
            <a:ext cx="12191695" cy="38100"/>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046977697" name="TextBox 3"/>
          <p:cNvSpPr txBox="1"/>
          <p:nvPr/>
        </p:nvSpPr>
        <p:spPr bwMode="auto">
          <a:xfrm>
            <a:off x="868680" y="1234440"/>
            <a:ext cx="10424160" cy="640080"/>
          </a:xfrm>
          <a:prstGeom prst="rect">
            <a:avLst/>
          </a:prstGeom>
          <a:noFill/>
        </p:spPr>
        <p:txBody>
          <a:bodyPr wrap="square" lIns="0" tIns="0" rIns="0" bIns="0">
            <a:spAutoFit/>
          </a:bodyPr>
          <a:lstStyle/>
          <a:p>
            <a:pPr>
              <a:lnSpc>
                <a:spcPct val="135000"/>
              </a:lnSpc>
              <a:spcBef>
                <a:spcPts val="0"/>
              </a:spcBef>
              <a:spcAft>
                <a:spcPts val="0"/>
              </a:spcAft>
              <a:defRPr/>
            </a:pPr>
            <a:r>
              <a:rPr sz="4000" b="1" i="0">
                <a:solidFill>
                  <a:srgbClr val="FFFFFF"/>
                </a:solidFill>
                <a:latin typeface="Segoe UI"/>
                <a:ea typeface="Segoe UI"/>
                <a:cs typeface="Segoe UI"/>
              </a:rPr>
              <a:t>Conclusion</a:t>
            </a:r>
            <a:endParaRPr/>
          </a:p>
        </p:txBody>
      </p:sp>
      <p:sp>
        <p:nvSpPr>
          <p:cNvPr id="1214058103" name="Rounded Rectangle 4"/>
          <p:cNvSpPr/>
          <p:nvPr/>
        </p:nvSpPr>
        <p:spPr bwMode="auto">
          <a:xfrm>
            <a:off x="868680" y="2606040"/>
            <a:ext cx="3200400" cy="2286000"/>
          </a:xfrm>
          <a:prstGeom prst="roundRect">
            <a:avLst>
              <a:gd name="adj" fmla="val 16667"/>
            </a:avLst>
          </a:prstGeom>
          <a:solidFill>
            <a:srgbClr val="243D60"/>
          </a:solidFill>
          <a:ln w="15875">
            <a:solidFill>
              <a:srgbClr val="3C5982"/>
            </a:solidFill>
          </a:ln>
          <a:effectLst/>
        </p:spPr>
        <p:style>
          <a:lnRef idx="1">
            <a:schemeClr val="accent1"/>
          </a:lnRef>
          <a:fillRef idx="3">
            <a:schemeClr val="accent1"/>
          </a:fillRef>
          <a:effectRef idx="2">
            <a:schemeClr val="accent1"/>
          </a:effectRef>
          <a:fontRef idx="minor">
            <a:schemeClr val="lt1"/>
          </a:fontRef>
        </p:style>
        <p:txBody>
          <a:bodyPr wrap="square" lIns="128016" tIns="256032" rIns="128016" bIns="73152" rtlCol="0" anchor="t"/>
          <a:lstStyle/>
          <a:p>
            <a:pPr algn="ctr">
              <a:defRPr/>
            </a:pPr>
            <a:r>
              <a:rPr sz="2800" b="1" i="0">
                <a:solidFill>
                  <a:srgbClr val="E06C2E"/>
                </a:solidFill>
                <a:latin typeface="Segoe UI"/>
                <a:ea typeface="Segoe UI"/>
                <a:cs typeface="Segoe UI"/>
              </a:rPr>
              <a:t>Holds</a:t>
            </a:r>
            <a:endParaRPr/>
          </a:p>
          <a:p>
            <a:pPr algn="ctr">
              <a:spcBef>
                <a:spcPts val="1000"/>
              </a:spcBef>
              <a:defRPr/>
            </a:pPr>
            <a:r>
              <a:rPr sz="1250" b="0" i="0">
                <a:solidFill>
                  <a:srgbClr val="C8D6E5"/>
                </a:solidFill>
                <a:latin typeface="Segoe UI"/>
                <a:ea typeface="Segoe UI"/>
                <a:cs typeface="Segoe UI"/>
              </a:rPr>
              <a:t>-m means exactly what it says</a:t>
            </a:r>
            <a:endParaRPr/>
          </a:p>
          <a:p>
            <a:pPr algn="ctr">
              <a:spcBef>
                <a:spcPts val="1000"/>
              </a:spcBef>
              <a:defRPr/>
            </a:pPr>
            <a:r>
              <a:rPr sz="1250" b="0" i="0">
                <a:solidFill>
                  <a:srgbClr val="C8D6E5"/>
                </a:solidFill>
                <a:latin typeface="Segoe UI"/>
                <a:ea typeface="Segoe UI"/>
                <a:cs typeface="Segoe UI"/>
              </a:rPr>
              <a:t>proven by measured peak RSS</a:t>
            </a:r>
            <a:endParaRPr/>
          </a:p>
        </p:txBody>
      </p:sp>
      <p:sp>
        <p:nvSpPr>
          <p:cNvPr id="2040024585" name="Rounded Rectangle 5"/>
          <p:cNvSpPr/>
          <p:nvPr/>
        </p:nvSpPr>
        <p:spPr bwMode="auto">
          <a:xfrm>
            <a:off x="4389120" y="2606040"/>
            <a:ext cx="3200400" cy="2286000"/>
          </a:xfrm>
          <a:prstGeom prst="roundRect">
            <a:avLst>
              <a:gd name="adj" fmla="val 16667"/>
            </a:avLst>
          </a:prstGeom>
          <a:solidFill>
            <a:srgbClr val="243D60"/>
          </a:solidFill>
          <a:ln w="15875">
            <a:solidFill>
              <a:srgbClr val="3C5982"/>
            </a:solidFill>
          </a:ln>
          <a:effectLst/>
        </p:spPr>
        <p:style>
          <a:lnRef idx="1">
            <a:schemeClr val="accent1"/>
          </a:lnRef>
          <a:fillRef idx="3">
            <a:schemeClr val="accent1"/>
          </a:fillRef>
          <a:effectRef idx="2">
            <a:schemeClr val="accent1"/>
          </a:effectRef>
          <a:fontRef idx="minor">
            <a:schemeClr val="lt1"/>
          </a:fontRef>
        </p:style>
        <p:txBody>
          <a:bodyPr wrap="square" lIns="128016" tIns="256032" rIns="128016" bIns="73152" rtlCol="0" anchor="t"/>
          <a:lstStyle/>
          <a:p>
            <a:pPr algn="ctr">
              <a:defRPr/>
            </a:pPr>
            <a:r>
              <a:rPr sz="2800" b="1" i="0">
                <a:solidFill>
                  <a:srgbClr val="E06C2E"/>
                </a:solidFill>
                <a:latin typeface="Segoe UI"/>
                <a:ea typeface="Segoe UI"/>
                <a:cs typeface="Segoe UI"/>
              </a:rPr>
              <a:t>Correct</a:t>
            </a:r>
            <a:endParaRPr/>
          </a:p>
          <a:p>
            <a:pPr algn="ctr">
              <a:spcBef>
                <a:spcPts val="1000"/>
              </a:spcBef>
              <a:defRPr/>
            </a:pPr>
            <a:r>
              <a:rPr sz="1250" b="0" i="0">
                <a:solidFill>
                  <a:srgbClr val="C8D6E5"/>
                </a:solidFill>
                <a:latin typeface="Segoe UI"/>
                <a:ea typeface="Segoe UI"/>
                <a:cs typeface="Segoe UI"/>
              </a:rPr>
              <a:t>both phases share one comparator</a:t>
            </a:r>
            <a:endParaRPr/>
          </a:p>
          <a:p>
            <a:pPr algn="ctr">
              <a:spcBef>
                <a:spcPts val="1000"/>
              </a:spcBef>
              <a:defRPr/>
            </a:pPr>
            <a:r>
              <a:rPr sz="1250" b="0" i="0">
                <a:solidFill>
                  <a:srgbClr val="C8D6E5"/>
                </a:solidFill>
                <a:latin typeface="Segoe UI"/>
                <a:ea typeface="Segoe UI"/>
                <a:cs typeface="Segoe UI"/>
              </a:rPr>
              <a:t>the budget even counts pointers</a:t>
            </a:r>
            <a:endParaRPr/>
          </a:p>
        </p:txBody>
      </p:sp>
      <p:sp>
        <p:nvSpPr>
          <p:cNvPr id="898506799" name="Rounded Rectangle 6"/>
          <p:cNvSpPr/>
          <p:nvPr/>
        </p:nvSpPr>
        <p:spPr bwMode="auto">
          <a:xfrm>
            <a:off x="7909560" y="2606040"/>
            <a:ext cx="3200400" cy="2286000"/>
          </a:xfrm>
          <a:prstGeom prst="roundRect">
            <a:avLst>
              <a:gd name="adj" fmla="val 16667"/>
            </a:avLst>
          </a:prstGeom>
          <a:solidFill>
            <a:srgbClr val="243D60"/>
          </a:solidFill>
          <a:ln w="15875">
            <a:solidFill>
              <a:srgbClr val="3C5982"/>
            </a:solidFill>
          </a:ln>
          <a:effectLst/>
        </p:spPr>
        <p:style>
          <a:lnRef idx="1">
            <a:schemeClr val="accent1"/>
          </a:lnRef>
          <a:fillRef idx="3">
            <a:schemeClr val="accent1"/>
          </a:fillRef>
          <a:effectRef idx="2">
            <a:schemeClr val="accent1"/>
          </a:effectRef>
          <a:fontRef idx="minor">
            <a:schemeClr val="lt1"/>
          </a:fontRef>
        </p:style>
        <p:txBody>
          <a:bodyPr wrap="square" lIns="128016" tIns="256032" rIns="128016" bIns="73152" rtlCol="0" anchor="t"/>
          <a:lstStyle/>
          <a:p>
            <a:pPr algn="ctr">
              <a:defRPr/>
            </a:pPr>
            <a:r>
              <a:rPr sz="2800" b="1" i="0">
                <a:solidFill>
                  <a:srgbClr val="E06C2E"/>
                </a:solidFill>
                <a:latin typeface="Segoe UI"/>
                <a:ea typeface="Segoe UI"/>
                <a:cs typeface="Segoe UI"/>
              </a:rPr>
              <a:t>Verifiable</a:t>
            </a:r>
            <a:endParaRPr/>
          </a:p>
          <a:p>
            <a:pPr algn="ctr">
              <a:spcBef>
                <a:spcPts val="1000"/>
              </a:spcBef>
              <a:defRPr/>
            </a:pPr>
            <a:r>
              <a:rPr sz="1250" b="0" i="0">
                <a:solidFill>
                  <a:srgbClr val="C8D6E5"/>
                </a:solidFill>
                <a:latin typeface="Segoe UI"/>
                <a:ea typeface="Segoe UI"/>
                <a:cs typeface="Segoe UI"/>
              </a:rPr>
              <a:t>288 differential cases + sanitizers</a:t>
            </a:r>
            <a:endParaRPr/>
          </a:p>
          <a:p>
            <a:pPr algn="ctr">
              <a:spcBef>
                <a:spcPts val="1000"/>
              </a:spcBef>
              <a:defRPr/>
            </a:pPr>
            <a:r>
              <a:rPr sz="1250" b="0" i="0">
                <a:solidFill>
                  <a:srgbClr val="C8D6E5"/>
                </a:solidFill>
                <a:latin typeface="Segoe UI"/>
                <a:ea typeface="Segoe UI"/>
                <a:cs typeface="Segoe UI"/>
              </a:rPr>
              <a:t>caught bugs I never anticipated</a:t>
            </a:r>
            <a:endParaRPr/>
          </a:p>
        </p:txBody>
      </p:sp>
      <p:sp>
        <p:nvSpPr>
          <p:cNvPr id="926144407" name="TextBox 7"/>
          <p:cNvSpPr txBox="1"/>
          <p:nvPr/>
        </p:nvSpPr>
        <p:spPr bwMode="auto">
          <a:xfrm>
            <a:off x="868680" y="5349240"/>
            <a:ext cx="10424160" cy="731520"/>
          </a:xfrm>
          <a:prstGeom prst="rect">
            <a:avLst/>
          </a:prstGeom>
          <a:noFill/>
        </p:spPr>
        <p:txBody>
          <a:bodyPr wrap="square" lIns="0" tIns="0" rIns="0" bIns="0">
            <a:spAutoFit/>
          </a:bodyPr>
          <a:lstStyle/>
          <a:p>
            <a:pPr>
              <a:lnSpc>
                <a:spcPct val="135000"/>
              </a:lnSpc>
              <a:spcBef>
                <a:spcPts val="0"/>
              </a:spcBef>
              <a:spcAft>
                <a:spcPts val="0"/>
              </a:spcAft>
              <a:defRPr/>
            </a:pPr>
            <a:r>
              <a:rPr sz="2000" b="1" i="0">
                <a:solidFill>
                  <a:srgbClr val="FFFFFF"/>
                </a:solidFill>
                <a:latin typeface="Segoe UI"/>
                <a:ea typeface="Segoe UI"/>
                <a:cs typeface="Segoe UI"/>
              </a:rPr>
              <a:t>Thank you — questions welcome</a:t>
            </a:r>
            <a:endParaRPr/>
          </a:p>
        </p:txBody>
      </p:sp>
      <p:sp>
        <p:nvSpPr>
          <p:cNvPr id="653833118" name="TextBox 8"/>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180831143" name="TextBox 9"/>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17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9044413"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1796742415"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Appendix A1: Constants and Option Cross-Reference</a:t>
            </a:r>
            <a:endParaRPr/>
          </a:p>
        </p:txBody>
      </p:sp>
      <p:sp>
        <p:nvSpPr>
          <p:cNvPr id="1189837360"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for reference</a:t>
            </a:r>
            <a:endParaRPr/>
          </a:p>
        </p:txBody>
      </p:sp>
      <p:sp>
        <p:nvSpPr>
          <p:cNvPr id="894863116"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graphicFrame>
        <p:nvGraphicFramePr>
          <p:cNvPr id="24948686" name="Table 5"/>
          <p:cNvGraphicFramePr>
            <a:graphicFrameLocks xmlns:a="http://schemas.openxmlformats.org/drawingml/2006/main" noGrp="1"/>
          </p:cNvGraphicFramePr>
          <p:nvPr/>
        </p:nvGraphicFramePr>
        <p:xfrm rot="0">
          <a:off x="749808" y="1737360"/>
          <a:ext cx="6035039" cy="2633472"/>
        </p:xfrm>
        <a:graphic>
          <a:graphicData uri="http://schemas.openxmlformats.org/drawingml/2006/table">
            <a:tbl>
              <a:tblPr firstRow="1" firstCol="0" lastRow="0" lastCol="0" bandRow="1" bandCol="0">
                <a:tableStyleId>{5C22544A-7EE6-4342-B048-85BDC9FD1C3A}</a:tableStyleId>
              </a:tblPr>
              <a:tblGrid>
                <a:gridCol w="2127738"/>
                <a:gridCol w="889781"/>
                <a:gridCol w="3017519"/>
              </a:tblGrid>
              <a:tr h="329184">
                <a:tc>
                  <a:txBody>
                    <a:bodyPr/>
                    <a:p>
                      <a:pPr>
                        <a:defRPr/>
                      </a:pPr>
                      <a:r>
                        <a:rPr sz="1200" b="1" i="0">
                          <a:solidFill>
                            <a:srgbClr val="FFFFFF"/>
                          </a:solidFill>
                          <a:latin typeface="Segoe UI"/>
                          <a:ea typeface="Segoe UI"/>
                          <a:cs typeface="Segoe UI"/>
                        </a:rPr>
                        <a:t>Constant</a:t>
                      </a:r>
                      <a:endParaRPr/>
                    </a:p>
                  </a:txBody>
                  <a:tcPr marL="91440" marR="54864" marT="18288" marB="18288" anchor="ctr">
                    <a:solidFill>
                      <a:srgbClr val="1B2F4B"/>
                    </a:solidFill>
                  </a:tcPr>
                </a:tc>
                <a:tc>
                  <a:txBody>
                    <a:bodyPr/>
                    <a:p>
                      <a:pPr>
                        <a:defRPr/>
                      </a:pPr>
                      <a:r>
                        <a:rPr sz="1200" b="1" i="0">
                          <a:solidFill>
                            <a:srgbClr val="FFFFFF"/>
                          </a:solidFill>
                          <a:latin typeface="Segoe UI"/>
                          <a:ea typeface="Segoe UI"/>
                          <a:cs typeface="Segoe UI"/>
                        </a:rPr>
                        <a:t>Value</a:t>
                      </a:r>
                      <a:endParaRPr/>
                    </a:p>
                  </a:txBody>
                  <a:tcPr marL="91440" marR="54864" marT="18288" marB="18288" anchor="ctr">
                    <a:solidFill>
                      <a:srgbClr val="1B2F4B"/>
                    </a:solidFill>
                  </a:tcPr>
                </a:tc>
                <a:tc>
                  <a:txBody>
                    <a:bodyPr/>
                    <a:p>
                      <a:pPr>
                        <a:defRPr/>
                      </a:pPr>
                      <a:r>
                        <a:rPr sz="1200" b="1" i="0">
                          <a:solidFill>
                            <a:srgbClr val="FFFFFF"/>
                          </a:solidFill>
                          <a:latin typeface="Segoe UI"/>
                          <a:ea typeface="Segoe UI"/>
                          <a:cs typeface="Segoe UI"/>
                        </a:rPr>
                        <a:t>Meaning</a:t>
                      </a:r>
                      <a:endParaRPr/>
                    </a:p>
                  </a:txBody>
                  <a:tcPr marL="91440" marR="54864" marT="18288" marB="18288" anchor="ctr">
                    <a:solidFill>
                      <a:srgbClr val="1B2F4B"/>
                    </a:solidFill>
                  </a:tcPr>
                </a:tc>
              </a:tr>
              <a:tr h="329184">
                <a:tc>
                  <a:txBody>
                    <a:bodyPr/>
                    <a:p>
                      <a:pPr>
                        <a:defRPr/>
                      </a:pPr>
                      <a:r>
                        <a:rPr sz="1200" b="1" i="0">
                          <a:solidFill>
                            <a:srgbClr val="5A5A5A"/>
                          </a:solidFill>
                          <a:latin typeface="Segoe UI"/>
                          <a:ea typeface="Segoe UI"/>
                          <a:cs typeface="Segoe UI"/>
                        </a:rPr>
                        <a:t>MAX_LINE_LENGTH</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4096</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maximum line length (from spec)</a:t>
                      </a:r>
                      <a:endParaRPr/>
                    </a:p>
                  </a:txBody>
                  <a:tcPr marL="91440" marR="54864" marT="18288" marB="18288" anchor="ctr">
                    <a:solidFill>
                      <a:srgbClr val="FFFFFF"/>
                    </a:solidFill>
                  </a:tcPr>
                </a:tc>
              </a:tr>
              <a:tr h="329184">
                <a:tc>
                  <a:txBody>
                    <a:bodyPr/>
                    <a:p>
                      <a:pPr>
                        <a:defRPr/>
                      </a:pPr>
                      <a:r>
                        <a:rPr sz="1200" b="1" i="0">
                          <a:solidFill>
                            <a:srgbClr val="5A5A5A"/>
                          </a:solidFill>
                          <a:latin typeface="Segoe UI"/>
                          <a:ea typeface="Segoe UI"/>
                          <a:cs typeface="Segoe UI"/>
                        </a:rPr>
                        <a:t>DEFAULT_MEM_MB</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100</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default for -m</a:t>
                      </a:r>
                      <a:endParaRPr/>
                    </a:p>
                  </a:txBody>
                  <a:tcPr marL="91440" marR="54864" marT="18288" marB="18288" anchor="ctr">
                    <a:solidFill>
                      <a:srgbClr val="F2F5F8"/>
                    </a:solidFill>
                  </a:tcPr>
                </a:tc>
              </a:tr>
              <a:tr h="329184">
                <a:tc>
                  <a:txBody>
                    <a:bodyPr/>
                    <a:p>
                      <a:pPr>
                        <a:defRPr/>
                      </a:pPr>
                      <a:r>
                        <a:rPr sz="1200" b="1" i="0">
                          <a:solidFill>
                            <a:srgbClr val="5A5A5A"/>
                          </a:solidFill>
                          <a:latin typeface="Segoe UI"/>
                          <a:ea typeface="Segoe UI"/>
                          <a:cs typeface="Segoe UI"/>
                        </a:rPr>
                        <a:t>MAX_MERGE_FANIN</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512</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max merge fan-in (FOPEN_MAX bound)</a:t>
                      </a:r>
                      <a:endParaRPr/>
                    </a:p>
                  </a:txBody>
                  <a:tcPr marL="91440" marR="54864" marT="18288" marB="18288" anchor="ctr">
                    <a:solidFill>
                      <a:srgbClr val="FFFFFF"/>
                    </a:solidFill>
                  </a:tcPr>
                </a:tc>
              </a:tr>
              <a:tr h="329184">
                <a:tc>
                  <a:txBody>
                    <a:bodyPr/>
                    <a:p>
                      <a:pPr>
                        <a:defRPr/>
                      </a:pPr>
                      <a:r>
                        <a:rPr sz="1200" b="1" i="0">
                          <a:solidFill>
                            <a:srgbClr val="5A5A5A"/>
                          </a:solidFill>
                          <a:latin typeface="Segoe UI"/>
                          <a:ea typeface="Segoe UI"/>
                          <a:cs typeface="Segoe UI"/>
                        </a:rPr>
                        <a:t>ARENA_BLOCK_SIZE</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64 KB</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arena block size</a:t>
                      </a:r>
                      <a:endParaRPr/>
                    </a:p>
                  </a:txBody>
                  <a:tcPr marL="91440" marR="54864" marT="18288" marB="18288" anchor="ctr">
                    <a:solidFill>
                      <a:srgbClr val="F2F5F8"/>
                    </a:solidFill>
                  </a:tcPr>
                </a:tc>
              </a:tr>
              <a:tr h="329184">
                <a:tc>
                  <a:txBody>
                    <a:bodyPr/>
                    <a:p>
                      <a:pPr>
                        <a:defRPr/>
                      </a:pPr>
                      <a:r>
                        <a:rPr sz="1200" b="1" i="0">
                          <a:solidFill>
                            <a:srgbClr val="5A5A5A"/>
                          </a:solidFill>
                          <a:latin typeface="Segoe UI"/>
                          <a:ea typeface="Segoe UI"/>
                          <a:cs typeface="Segoe UI"/>
                        </a:rPr>
                        <a:t>IO_BUF_SIZE</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64 KB</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read / write buffer</a:t>
                      </a:r>
                      <a:endParaRPr/>
                    </a:p>
                  </a:txBody>
                  <a:tcPr marL="91440" marR="54864" marT="18288" marB="18288" anchor="ctr">
                    <a:solidFill>
                      <a:srgbClr val="FFFFFF"/>
                    </a:solidFill>
                  </a:tcPr>
                </a:tc>
              </a:tr>
              <a:tr h="329184">
                <a:tc>
                  <a:txBody>
                    <a:bodyPr/>
                    <a:p>
                      <a:pPr>
                        <a:defRPr/>
                      </a:pPr>
                      <a:r>
                        <a:rPr sz="1200" b="1" i="0">
                          <a:solidFill>
                            <a:srgbClr val="5A5A5A"/>
                          </a:solidFill>
                          <a:latin typeface="Segoe UI"/>
                          <a:ea typeface="Segoe UI"/>
                          <a:cs typeface="Segoe UI"/>
                        </a:rPr>
                        <a:t>RUN_READER_BUF_SIZE</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8 KB</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per-run read buffer</a:t>
                      </a:r>
                      <a:endParaRPr/>
                    </a:p>
                  </a:txBody>
                  <a:tcPr marL="91440" marR="54864" marT="18288" marB="18288" anchor="ctr">
                    <a:solidFill>
                      <a:srgbClr val="F2F5F8"/>
                    </a:solidFill>
                  </a:tcPr>
                </a:tc>
              </a:tr>
              <a:tr h="329184">
                <a:tc>
                  <a:txBody>
                    <a:bodyPr/>
                    <a:p>
                      <a:pPr>
                        <a:defRPr/>
                      </a:pPr>
                      <a:r>
                        <a:rPr sz="1200" b="1" i="0">
                          <a:solidFill>
                            <a:srgbClr val="5A5A5A"/>
                          </a:solidFill>
                          <a:latin typeface="Segoe UI"/>
                          <a:ea typeface="Segoe UI"/>
                          <a:cs typeface="Segoe UI"/>
                        </a:rPr>
                        <a:t>MIN_CHUNK_BUDGET</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4096 + 256×8</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guarantees one line + 256 ptrs</a:t>
                      </a:r>
                      <a:endParaRPr/>
                    </a:p>
                  </a:txBody>
                  <a:tcPr marL="91440" marR="54864" marT="18288" marB="18288" anchor="ctr">
                    <a:solidFill>
                      <a:srgbClr val="FFFFFF"/>
                    </a:solidFill>
                  </a:tcPr>
                </a:tc>
              </a:tr>
            </a:tbl>
          </a:graphicData>
        </a:graphic>
      </p:graphicFrame>
      <p:graphicFrame>
        <p:nvGraphicFramePr>
          <p:cNvPr id="1860364546" name="Table 6"/>
          <p:cNvGraphicFramePr>
            <a:graphicFrameLocks xmlns:a="http://schemas.openxmlformats.org/drawingml/2006/main" noGrp="1"/>
          </p:cNvGraphicFramePr>
          <p:nvPr/>
        </p:nvGraphicFramePr>
        <p:xfrm rot="0">
          <a:off x="7040880" y="1737360"/>
          <a:ext cx="4434839" cy="2304288"/>
        </p:xfrm>
        <a:graphic>
          <a:graphicData uri="http://schemas.openxmlformats.org/drawingml/2006/table">
            <a:tbl>
              <a:tblPr firstRow="1" firstCol="0" lastRow="0" lastCol="0" bandRow="1" bandCol="0">
                <a:tableStyleId>{5C22544A-7EE6-4342-B048-85BDC9FD1C3A}</a:tableStyleId>
              </a:tblPr>
              <a:tblGrid>
                <a:gridCol w="712742"/>
                <a:gridCol w="2217420"/>
                <a:gridCol w="1504677"/>
              </a:tblGrid>
              <a:tr h="329184">
                <a:tc>
                  <a:txBody>
                    <a:bodyPr/>
                    <a:p>
                      <a:pPr>
                        <a:defRPr/>
                      </a:pPr>
                      <a:r>
                        <a:rPr sz="1200" b="1" i="0">
                          <a:solidFill>
                            <a:srgbClr val="FFFFFF"/>
                          </a:solidFill>
                          <a:latin typeface="Segoe UI"/>
                          <a:ea typeface="Segoe UI"/>
                          <a:cs typeface="Segoe UI"/>
                        </a:rPr>
                        <a:t>Option</a:t>
                      </a:r>
                      <a:endParaRPr/>
                    </a:p>
                  </a:txBody>
                  <a:tcPr marL="91440" marR="54864" marT="18288" marB="18288" anchor="ctr">
                    <a:solidFill>
                      <a:srgbClr val="1B2F4B"/>
                    </a:solidFill>
                  </a:tcPr>
                </a:tc>
                <a:tc>
                  <a:txBody>
                    <a:bodyPr/>
                    <a:p>
                      <a:pPr>
                        <a:defRPr/>
                      </a:pPr>
                      <a:r>
                        <a:rPr sz="1200" b="1" i="0">
                          <a:solidFill>
                            <a:srgbClr val="FFFFFF"/>
                          </a:solidFill>
                          <a:latin typeface="Segoe UI"/>
                          <a:ea typeface="Segoe UI"/>
                          <a:cs typeface="Segoe UI"/>
                        </a:rPr>
                        <a:t>Function</a:t>
                      </a:r>
                      <a:endParaRPr/>
                    </a:p>
                  </a:txBody>
                  <a:tcPr marL="91440" marR="54864" marT="18288" marB="18288" anchor="ctr">
                    <a:solidFill>
                      <a:srgbClr val="1B2F4B"/>
                    </a:solidFill>
                  </a:tcPr>
                </a:tc>
                <a:tc>
                  <a:txBody>
                    <a:bodyPr/>
                    <a:p>
                      <a:pPr>
                        <a:defRPr/>
                      </a:pPr>
                      <a:r>
                        <a:rPr sz="1200" b="1" i="0">
                          <a:solidFill>
                            <a:srgbClr val="FFFFFF"/>
                          </a:solidFill>
                          <a:latin typeface="Segoe UI"/>
                          <a:ea typeface="Segoe UI"/>
                          <a:cs typeface="Segoe UI"/>
                        </a:rPr>
                        <a:t>esort.c line</a:t>
                      </a:r>
                      <a:endParaRPr/>
                    </a:p>
                  </a:txBody>
                  <a:tcPr marL="91440" marR="54864" marT="18288" marB="18288" anchor="ctr">
                    <a:solidFill>
                      <a:srgbClr val="1B2F4B"/>
                    </a:solidFill>
                  </a:tcPr>
                </a:tc>
              </a:tr>
              <a:tr h="329184">
                <a:tc>
                  <a:txBody>
                    <a:bodyPr/>
                    <a:p>
                      <a:pPr>
                        <a:defRPr/>
                      </a:pPr>
                      <a:r>
                        <a:rPr sz="1200" b="1" i="0">
                          <a:solidFill>
                            <a:srgbClr val="5A5A5A"/>
                          </a:solidFill>
                          <a:latin typeface="Segoe UI"/>
                          <a:ea typeface="Segoe UI"/>
                          <a:cs typeface="Segoe UI"/>
                        </a:rPr>
                        <a:t>-c</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strcasecmp()</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L161</a:t>
                      </a:r>
                      <a:endParaRPr/>
                    </a:p>
                  </a:txBody>
                  <a:tcPr marL="91440" marR="54864" marT="18288" marB="18288" anchor="ctr">
                    <a:solidFill>
                      <a:srgbClr val="FFFFFF"/>
                    </a:solidFill>
                  </a:tcPr>
                </a:tc>
              </a:tr>
              <a:tr h="329184">
                <a:tc>
                  <a:txBody>
                    <a:bodyPr/>
                    <a:p>
                      <a:pPr>
                        <a:defRPr/>
                      </a:pPr>
                      <a:r>
                        <a:rPr sz="1200" b="1" i="0">
                          <a:solidFill>
                            <a:srgbClr val="5A5A5A"/>
                          </a:solidFill>
                          <a:latin typeface="Segoe UI"/>
                          <a:ea typeface="Segoe UI"/>
                          <a:cs typeface="Segoe UI"/>
                        </a:rPr>
                        <a:t>-n</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atoi()</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L151</a:t>
                      </a:r>
                      <a:endParaRPr/>
                    </a:p>
                  </a:txBody>
                  <a:tcPr marL="91440" marR="54864" marT="18288" marB="18288" anchor="ctr">
                    <a:solidFill>
                      <a:srgbClr val="F2F5F8"/>
                    </a:solidFill>
                  </a:tcPr>
                </a:tc>
              </a:tr>
              <a:tr h="329184">
                <a:tc>
                  <a:txBody>
                    <a:bodyPr/>
                    <a:p>
                      <a:pPr>
                        <a:defRPr/>
                      </a:pPr>
                      <a:r>
                        <a:rPr sz="1200" b="1" i="0">
                          <a:solidFill>
                            <a:srgbClr val="5A5A5A"/>
                          </a:solidFill>
                          <a:latin typeface="Segoe UI"/>
                          <a:ea typeface="Segoe UI"/>
                          <a:cs typeface="Segoe UI"/>
                        </a:rPr>
                        <a:t>-l</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strlen()</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L139</a:t>
                      </a:r>
                      <a:endParaRPr/>
                    </a:p>
                  </a:txBody>
                  <a:tcPr marL="91440" marR="54864" marT="18288" marB="18288" anchor="ctr">
                    <a:solidFill>
                      <a:srgbClr val="FFFFFF"/>
                    </a:solidFill>
                  </a:tcPr>
                </a:tc>
              </a:tr>
              <a:tr h="329184">
                <a:tc>
                  <a:txBody>
                    <a:bodyPr/>
                    <a:p>
                      <a:pPr>
                        <a:defRPr/>
                      </a:pPr>
                      <a:r>
                        <a:rPr sz="1200" b="1" i="0">
                          <a:solidFill>
                            <a:srgbClr val="5A5A5A"/>
                          </a:solidFill>
                          <a:latin typeface="Segoe UI"/>
                          <a:ea typeface="Segoe UI"/>
                          <a:cs typeface="Segoe UI"/>
                        </a:rPr>
                        <a:t>-r</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negate result</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L167</a:t>
                      </a:r>
                      <a:endParaRPr/>
                    </a:p>
                  </a:txBody>
                  <a:tcPr marL="91440" marR="54864" marT="18288" marB="18288" anchor="ctr">
                    <a:solidFill>
                      <a:srgbClr val="F2F5F8"/>
                    </a:solidFill>
                  </a:tcPr>
                </a:tc>
              </a:tr>
              <a:tr h="329184">
                <a:tc>
                  <a:txBody>
                    <a:bodyPr/>
                    <a:p>
                      <a:pPr>
                        <a:defRPr/>
                      </a:pPr>
                      <a:r>
                        <a:rPr sz="1200" b="1" i="0">
                          <a:solidFill>
                            <a:srgbClr val="5A5A5A"/>
                          </a:solidFill>
                          <a:latin typeface="Segoe UI"/>
                          <a:ea typeface="Segoe UI"/>
                          <a:cs typeface="Segoe UI"/>
                        </a:rPr>
                        <a:t>-m</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atoi() → bytes</a:t>
                      </a:r>
                      <a:endParaRPr/>
                    </a:p>
                  </a:txBody>
                  <a:tcPr marL="91440" marR="54864" marT="18288" marB="18288" anchor="ctr">
                    <a:solidFill>
                      <a:srgbClr val="FFFFFF"/>
                    </a:solidFill>
                  </a:tcPr>
                </a:tc>
                <a:tc>
                  <a:txBody>
                    <a:bodyPr/>
                    <a:p>
                      <a:pPr>
                        <a:defRPr/>
                      </a:pPr>
                      <a:r>
                        <a:rPr sz="1200" b="0" i="0">
                          <a:solidFill>
                            <a:srgbClr val="5A5A5A"/>
                          </a:solidFill>
                          <a:latin typeface="Segoe UI"/>
                          <a:ea typeface="Segoe UI"/>
                          <a:cs typeface="Segoe UI"/>
                        </a:rPr>
                        <a:t>L960</a:t>
                      </a:r>
                      <a:endParaRPr/>
                    </a:p>
                  </a:txBody>
                  <a:tcPr marL="91440" marR="54864" marT="18288" marB="18288" anchor="ctr">
                    <a:solidFill>
                      <a:srgbClr val="FFFFFF"/>
                    </a:solidFill>
                  </a:tcPr>
                </a:tc>
              </a:tr>
              <a:tr h="329184">
                <a:tc>
                  <a:txBody>
                    <a:bodyPr/>
                    <a:p>
                      <a:pPr>
                        <a:defRPr/>
                      </a:pPr>
                      <a:r>
                        <a:rPr sz="1200" b="1" i="0">
                          <a:solidFill>
                            <a:srgbClr val="5A5A5A"/>
                          </a:solidFill>
                          <a:latin typeface="Segoe UI"/>
                          <a:ea typeface="Segoe UI"/>
                          <a:cs typeface="Segoe UI"/>
                        </a:rPr>
                        <a:t>-o</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fopen() / is_same_file()</a:t>
                      </a:r>
                      <a:endParaRPr/>
                    </a:p>
                  </a:txBody>
                  <a:tcPr marL="91440" marR="54864" marT="18288" marB="18288" anchor="ctr">
                    <a:solidFill>
                      <a:srgbClr val="F2F5F8"/>
                    </a:solidFill>
                  </a:tcPr>
                </a:tc>
                <a:tc>
                  <a:txBody>
                    <a:bodyPr/>
                    <a:p>
                      <a:pPr>
                        <a:defRPr/>
                      </a:pPr>
                      <a:r>
                        <a:rPr sz="1200" b="0" i="0">
                          <a:solidFill>
                            <a:srgbClr val="5A5A5A"/>
                          </a:solidFill>
                          <a:latin typeface="Segoe UI"/>
                          <a:ea typeface="Segoe UI"/>
                          <a:cs typeface="Segoe UI"/>
                        </a:rPr>
                        <a:t>L1160 / L882</a:t>
                      </a:r>
                      <a:endParaRPr/>
                    </a:p>
                  </a:txBody>
                  <a:tcPr marL="91440" marR="54864" marT="18288" marB="18288" anchor="ctr">
                    <a:solidFill>
                      <a:srgbClr val="F2F5F8"/>
                    </a:solidFill>
                  </a:tcPr>
                </a:tc>
              </a:tr>
            </a:tbl>
          </a:graphicData>
        </a:graphic>
      </p:graphicFrame>
      <p:sp>
        <p:nvSpPr>
          <p:cNvPr id="352643943" name="TextBox 7"/>
          <p:cNvSpPr txBox="1"/>
          <p:nvPr/>
        </p:nvSpPr>
        <p:spPr bwMode="auto">
          <a:xfrm>
            <a:off x="749808" y="4892039"/>
            <a:ext cx="10698480" cy="731520"/>
          </a:xfrm>
          <a:prstGeom prst="rect">
            <a:avLst/>
          </a:prstGeom>
          <a:noFill/>
        </p:spPr>
        <p:txBody>
          <a:bodyPr wrap="square" lIns="0" tIns="0" rIns="0" bIns="0">
            <a:spAutoFit/>
          </a:bodyPr>
          <a:lstStyle/>
          <a:p>
            <a:pPr>
              <a:lnSpc>
                <a:spcPct val="135000"/>
              </a:lnSpc>
              <a:spcBef>
                <a:spcPts val="0"/>
              </a:spcBef>
              <a:spcAft>
                <a:spcPts val="400"/>
              </a:spcAft>
              <a:defRPr/>
            </a:pPr>
            <a:r>
              <a:rPr sz="1300" b="0" i="0">
                <a:solidFill>
                  <a:srgbClr val="5A5A5A"/>
                </a:solidFill>
                <a:latin typeface="Segoe UI"/>
                <a:ea typeface="Segoe UI"/>
                <a:cs typeface="Segoe UI"/>
              </a:rPr>
              <a:t>Build: gcc -Wall -Wextra -O2 -std=c11 -o esort esort.c    |    also builds under C99; zero warnings</a:t>
            </a:r>
            <a:endParaRPr/>
          </a:p>
          <a:p>
            <a:pPr>
              <a:lnSpc>
                <a:spcPct val="135000"/>
              </a:lnSpc>
              <a:spcBef>
                <a:spcPts val="0"/>
              </a:spcBef>
              <a:spcAft>
                <a:spcPts val="0"/>
              </a:spcAft>
              <a:defRPr/>
            </a:pPr>
            <a:r>
              <a:rPr sz="1300" b="0" i="0">
                <a:solidFill>
                  <a:srgbClr val="2E6DA4"/>
                </a:solidFill>
                <a:latin typeface="Consolas"/>
                <a:ea typeface="Consolas"/>
                <a:cs typeface="Consolas"/>
              </a:rPr>
              <a:t>Usage: esort [-c] [-m &lt;MB&gt;] [-r] [-n] [-l] [-o &lt;file&gt;] FileName</a:t>
            </a:r>
            <a:endParaRPr/>
          </a:p>
        </p:txBody>
      </p:sp>
      <p:sp>
        <p:nvSpPr>
          <p:cNvPr id="1547464122" name="TextBox 8"/>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1553584464" name="TextBox 9"/>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18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1810293" name="Rectangle 1"/>
          <p:cNvSpPr/>
          <p:nvPr/>
        </p:nvSpPr>
        <p:spPr bwMode="auto">
          <a:xfrm>
            <a:off x="502920" y="475488"/>
            <a:ext cx="82296" cy="475488"/>
          </a:xfrm>
          <a:prstGeom prst="rect">
            <a:avLst/>
          </a:prstGeom>
          <a:solidFill>
            <a:srgbClr val="E06C2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sp>
        <p:nvSpPr>
          <p:cNvPr id="733586144" name="TextBox 2"/>
          <p:cNvSpPr txBox="1"/>
          <p:nvPr/>
        </p:nvSpPr>
        <p:spPr bwMode="auto">
          <a:xfrm>
            <a:off x="749808" y="420624"/>
            <a:ext cx="10607040" cy="566928"/>
          </a:xfrm>
          <a:prstGeom prst="rect">
            <a:avLst/>
          </a:prstGeom>
          <a:noFill/>
        </p:spPr>
        <p:txBody>
          <a:bodyPr wrap="square" lIns="0" tIns="0" rIns="0" bIns="0">
            <a:spAutoFit/>
          </a:bodyPr>
          <a:lstStyle/>
          <a:p>
            <a:pPr>
              <a:lnSpc>
                <a:spcPct val="135000"/>
              </a:lnSpc>
              <a:spcBef>
                <a:spcPts val="0"/>
              </a:spcBef>
              <a:spcAft>
                <a:spcPts val="0"/>
              </a:spcAft>
              <a:defRPr/>
            </a:pPr>
            <a:r>
              <a:rPr sz="3000" b="1" i="0">
                <a:solidFill>
                  <a:srgbClr val="1B2F4B"/>
                </a:solidFill>
                <a:latin typeface="Segoe UI"/>
                <a:ea typeface="Segoe UI"/>
                <a:cs typeface="Segoe UI"/>
              </a:rPr>
              <a:t>Appendix A2: Q&amp;A Preparation</a:t>
            </a:r>
            <a:endParaRPr/>
          </a:p>
        </p:txBody>
      </p:sp>
      <p:sp>
        <p:nvSpPr>
          <p:cNvPr id="1939467182" name="TextBox 3"/>
          <p:cNvSpPr txBox="1"/>
          <p:nvPr/>
        </p:nvSpPr>
        <p:spPr bwMode="auto">
          <a:xfrm>
            <a:off x="768096" y="1005840"/>
            <a:ext cx="10607040" cy="274320"/>
          </a:xfrm>
          <a:prstGeom prst="rect">
            <a:avLst/>
          </a:prstGeom>
          <a:noFill/>
        </p:spPr>
        <p:txBody>
          <a:bodyPr wrap="square" lIns="0" tIns="0" rIns="0" bIns="0">
            <a:spAutoFit/>
          </a:bodyPr>
          <a:lstStyle/>
          <a:p>
            <a:pPr>
              <a:lnSpc>
                <a:spcPct val="135000"/>
              </a:lnSpc>
              <a:spcBef>
                <a:spcPts val="0"/>
              </a:spcBef>
              <a:spcAft>
                <a:spcPts val="0"/>
              </a:spcAft>
              <a:defRPr/>
            </a:pPr>
            <a:r>
              <a:rPr sz="1400" b="0" i="0">
                <a:solidFill>
                  <a:srgbClr val="2E6DA4"/>
                </a:solidFill>
                <a:latin typeface="Segoe UI"/>
                <a:ea typeface="Segoe UI"/>
                <a:cs typeface="Segoe UI"/>
              </a:rPr>
              <a:t>likely questions and how to answer them</a:t>
            </a:r>
            <a:endParaRPr/>
          </a:p>
        </p:txBody>
      </p:sp>
      <p:sp>
        <p:nvSpPr>
          <p:cNvPr id="1398260929" name="Rectangle 4"/>
          <p:cNvSpPr/>
          <p:nvPr/>
        </p:nvSpPr>
        <p:spPr bwMode="auto">
          <a:xfrm>
            <a:off x="502920" y="1298448"/>
            <a:ext cx="11183112" cy="15240"/>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defRPr/>
            </a:pPr>
            <a:endParaRPr/>
          </a:p>
        </p:txBody>
      </p:sp>
      <p:graphicFrame>
        <p:nvGraphicFramePr>
          <p:cNvPr id="1158385982" name="Table 5"/>
          <p:cNvGraphicFramePr>
            <a:graphicFrameLocks xmlns:a="http://schemas.openxmlformats.org/drawingml/2006/main" noGrp="1"/>
          </p:cNvGraphicFramePr>
          <p:nvPr/>
        </p:nvGraphicFramePr>
        <p:xfrm rot="0">
          <a:off x="749808" y="1737360"/>
          <a:ext cx="10725911" cy="4242816"/>
        </p:xfrm>
        <a:graphic>
          <a:graphicData uri="http://schemas.openxmlformats.org/drawingml/2006/table">
            <a:tbl>
              <a:tblPr firstRow="1" firstCol="0" lastRow="0" lastCol="0" bandRow="1" bandCol="0">
                <a:tableStyleId>{5C22544A-7EE6-4342-B048-85BDC9FD1C3A}</a:tableStyleId>
              </a:tblPr>
              <a:tblGrid>
                <a:gridCol w="3025257"/>
                <a:gridCol w="7700654"/>
              </a:tblGrid>
              <a:tr h="530352">
                <a:tc>
                  <a:txBody>
                    <a:bodyPr/>
                    <a:p>
                      <a:pPr>
                        <a:defRPr/>
                      </a:pPr>
                      <a:r>
                        <a:rPr sz="1150" b="1" i="0">
                          <a:solidFill>
                            <a:srgbClr val="FFFFFF"/>
                          </a:solidFill>
                          <a:latin typeface="Segoe UI"/>
                          <a:ea typeface="Segoe UI"/>
                          <a:cs typeface="Segoe UI"/>
                        </a:rPr>
                        <a:t>Likely question</a:t>
                      </a:r>
                      <a:endParaRPr/>
                    </a:p>
                  </a:txBody>
                  <a:tcPr marL="91440" marR="54864" marT="18288" marB="18288" anchor="ctr">
                    <a:solidFill>
                      <a:srgbClr val="1B2F4B"/>
                    </a:solidFill>
                  </a:tcPr>
                </a:tc>
                <a:tc>
                  <a:txBody>
                    <a:bodyPr/>
                    <a:p>
                      <a:pPr>
                        <a:defRPr/>
                      </a:pPr>
                      <a:r>
                        <a:rPr sz="1150" b="1" i="0">
                          <a:solidFill>
                            <a:srgbClr val="FFFFFF"/>
                          </a:solidFill>
                          <a:latin typeface="Segoe UI"/>
                          <a:ea typeface="Segoe UI"/>
                          <a:cs typeface="Segoe UI"/>
                        </a:rPr>
                        <a:t>Answer</a:t>
                      </a:r>
                      <a:endParaRPr/>
                    </a:p>
                  </a:txBody>
                  <a:tcPr marL="91440" marR="54864" marT="18288" marB="18288" anchor="ctr">
                    <a:solidFill>
                      <a:srgbClr val="1B2F4B"/>
                    </a:solidFill>
                  </a:tcPr>
                </a:tc>
              </a:tr>
              <a:tr h="530352">
                <a:tc>
                  <a:txBody>
                    <a:bodyPr/>
                    <a:p>
                      <a:pPr>
                        <a:defRPr/>
                      </a:pPr>
                      <a:r>
                        <a:rPr sz="1150" b="1" i="0">
                          <a:solidFill>
                            <a:srgbClr val="5A5A5A"/>
                          </a:solidFill>
                          <a:latin typeface="Segoe UI"/>
                          <a:ea typeface="Segoe UI"/>
                          <a:cs typeface="Segoe UI"/>
                        </a:rPr>
                        <a:t>Why not getline()?</a:t>
                      </a:r>
                      <a:endParaRPr/>
                    </a:p>
                  </a:txBody>
                  <a:tcPr marL="91440" marR="54864" marT="18288" marB="18288" anchor="ctr">
                    <a:solidFill>
                      <a:srgbClr val="FFFFFF"/>
                    </a:solidFill>
                  </a:tcPr>
                </a:tc>
                <a:tc>
                  <a:txBody>
                    <a:bodyPr/>
                    <a:p>
                      <a:pPr>
                        <a:defRPr/>
                      </a:pPr>
                      <a:r>
                        <a:rPr sz="1150" b="0" i="0">
                          <a:solidFill>
                            <a:srgbClr val="5A5A5A"/>
                          </a:solidFill>
                          <a:latin typeface="Segoe UI"/>
                          <a:ea typeface="Segoe UI"/>
                          <a:cs typeface="Segoe UI"/>
                        </a:rPr>
                        <a:t>A hand-written lr_next() strips \r\n while reading, truncates over-long lines, and avoids per-line allocation; memchr scanning beats reading char by char.</a:t>
                      </a:r>
                      <a:endParaRPr/>
                    </a:p>
                  </a:txBody>
                  <a:tcPr marL="91440" marR="54864" marT="18288" marB="18288" anchor="ctr">
                    <a:solidFill>
                      <a:srgbClr val="FFFFFF"/>
                    </a:solidFill>
                  </a:tcPr>
                </a:tc>
              </a:tr>
              <a:tr h="530352">
                <a:tc>
                  <a:txBody>
                    <a:bodyPr/>
                    <a:p>
                      <a:pPr>
                        <a:defRPr/>
                      </a:pPr>
                      <a:r>
                        <a:rPr sz="1150" b="1" i="0">
                          <a:solidFill>
                            <a:srgbClr val="5A5A5A"/>
                          </a:solidFill>
                          <a:latin typeface="Segoe UI"/>
                          <a:ea typeface="Segoe UI"/>
                          <a:cs typeface="Segoe UI"/>
                        </a:rPr>
                        <a:t>Why is k 512?</a:t>
                      </a:r>
                      <a:endParaRPr/>
                    </a:p>
                  </a:txBody>
                  <a:tcPr marL="91440" marR="54864" marT="18288" marB="18288" anchor="ctr">
                    <a:solidFill>
                      <a:srgbClr val="F2F5F8"/>
                    </a:solidFill>
                  </a:tcPr>
                </a:tc>
                <a:tc>
                  <a:txBody>
                    <a:bodyPr/>
                    <a:p>
                      <a:pPr>
                        <a:defRPr/>
                      </a:pPr>
                      <a:r>
                        <a:rPr sz="1150" b="0" i="0">
                          <a:solidFill>
                            <a:srgbClr val="5A5A5A"/>
                          </a:solidFill>
                          <a:latin typeface="Segoe UI"/>
                          <a:ea typeface="Segoe UI"/>
                          <a:cs typeface="Segoe UI"/>
                        </a:rPr>
                        <a:t>A conservative value for FOPEN_MAX / ulimit -n, and the balance point between memory and I/O count. Tunable via MAX_MERGE_FANIN.</a:t>
                      </a:r>
                      <a:endParaRPr/>
                    </a:p>
                  </a:txBody>
                  <a:tcPr marL="91440" marR="54864" marT="18288" marB="18288" anchor="ctr">
                    <a:solidFill>
                      <a:srgbClr val="F2F5F8"/>
                    </a:solidFill>
                  </a:tcPr>
                </a:tc>
              </a:tr>
              <a:tr h="530352">
                <a:tc>
                  <a:txBody>
                    <a:bodyPr/>
                    <a:p>
                      <a:pPr>
                        <a:defRPr/>
                      </a:pPr>
                      <a:r>
                        <a:rPr sz="1150" b="1" i="0">
                          <a:solidFill>
                            <a:srgbClr val="5A5A5A"/>
                          </a:solidFill>
                          <a:latin typeface="Segoe UI"/>
                          <a:ea typeface="Segoe UI"/>
                          <a:cs typeface="Segoe UI"/>
                        </a:rPr>
                        <a:t>Is memory really O(1)?</a:t>
                      </a:r>
                      <a:endParaRPr/>
                    </a:p>
                  </a:txBody>
                  <a:tcPr marL="91440" marR="54864" marT="18288" marB="18288" anchor="ctr">
                    <a:solidFill>
                      <a:srgbClr val="FFFFFF"/>
                    </a:solidFill>
                  </a:tcPr>
                </a:tc>
                <a:tc>
                  <a:txBody>
                    <a:bodyPr/>
                    <a:p>
                      <a:pPr>
                        <a:defRPr/>
                      </a:pPr>
                      <a:r>
                        <a:rPr sz="1150" b="0" i="0">
                          <a:solidFill>
                            <a:srgbClr val="5A5A5A"/>
                          </a:solidFill>
                          <a:latin typeface="Segoe UI"/>
                          <a:ea typeface="Segoe UI"/>
                          <a:cs typeface="Segoe UI"/>
                        </a:rPr>
                        <a:t>It depends on -m: with -m fixed, memory is independent of file size — but temp file DISK space is O(N).</a:t>
                      </a:r>
                      <a:endParaRPr/>
                    </a:p>
                  </a:txBody>
                  <a:tcPr marL="91440" marR="54864" marT="18288" marB="18288" anchor="ctr">
                    <a:solidFill>
                      <a:srgbClr val="FFFFFF"/>
                    </a:solidFill>
                  </a:tcPr>
                </a:tc>
              </a:tr>
              <a:tr h="530352">
                <a:tc>
                  <a:txBody>
                    <a:bodyPr/>
                    <a:p>
                      <a:pPr>
                        <a:defRPr/>
                      </a:pPr>
                      <a:r>
                        <a:rPr sz="1150" b="1" i="0">
                          <a:solidFill>
                            <a:srgbClr val="5A5A5A"/>
                          </a:solidFill>
                          <a:latin typeface="Segoe UI"/>
                          <a:ea typeface="Segoe UI"/>
                          <a:cs typeface="Segoe UI"/>
                        </a:rPr>
                        <a:t>Must the sort be stable?</a:t>
                      </a:r>
                      <a:endParaRPr/>
                    </a:p>
                  </a:txBody>
                  <a:tcPr marL="91440" marR="54864" marT="18288" marB="18288" anchor="ctr">
                    <a:solidFill>
                      <a:srgbClr val="F2F5F8"/>
                    </a:solidFill>
                  </a:tcPr>
                </a:tc>
                <a:tc>
                  <a:txBody>
                    <a:bodyPr/>
                    <a:p>
                      <a:pPr>
                        <a:defRPr/>
                      </a:pPr>
                      <a:r>
                        <a:rPr sz="1150" b="0" i="0">
                          <a:solidFill>
                            <a:srgbClr val="5A5A5A"/>
                          </a:solidFill>
                          <a:latin typeface="Segoe UI"/>
                          <a:ea typeface="Segoe UI"/>
                          <a:cs typeface="Segoe UI"/>
                        </a:rPr>
                        <a:t>No. qsort() does not guarantee stability; the test data uses unique values to avoid ambiguity.</a:t>
                      </a:r>
                      <a:endParaRPr/>
                    </a:p>
                  </a:txBody>
                  <a:tcPr marL="91440" marR="54864" marT="18288" marB="18288" anchor="ctr">
                    <a:solidFill>
                      <a:srgbClr val="F2F5F8"/>
                    </a:solidFill>
                  </a:tcPr>
                </a:tc>
              </a:tr>
              <a:tr h="530352">
                <a:tc>
                  <a:txBody>
                    <a:bodyPr/>
                    <a:p>
                      <a:pPr>
                        <a:defRPr/>
                      </a:pPr>
                      <a:r>
                        <a:rPr sz="1150" b="1" i="0">
                          <a:solidFill>
                            <a:srgbClr val="5A5A5A"/>
                          </a:solidFill>
                          <a:latin typeface="Segoe UI"/>
                          <a:ea typeface="Segoe UI"/>
                          <a:cs typeface="Segoe UI"/>
                        </a:rPr>
                        <a:t>How is the input protected?</a:t>
                      </a:r>
                      <a:endParaRPr/>
                    </a:p>
                  </a:txBody>
                  <a:tcPr marL="91440" marR="54864" marT="18288" marB="18288" anchor="ctr">
                    <a:solidFill>
                      <a:srgbClr val="FFFFFF"/>
                    </a:solidFill>
                  </a:tcPr>
                </a:tc>
                <a:tc>
                  <a:txBody>
                    <a:bodyPr/>
                    <a:p>
                      <a:pPr>
                        <a:defRPr/>
                      </a:pPr>
                      <a:r>
                        <a:rPr sz="1150" b="0" i="0">
                          <a:solidFill>
                            <a:srgbClr val="5A5A5A"/>
                          </a:solidFill>
                          <a:latin typeface="Segoe UI"/>
                          <a:ea typeface="Segoe UI"/>
                          <a:cs typeface="Segoe UI"/>
                        </a:rPr>
                        <a:t>stat() compares st_dev / st_ino; if identical, write to a temporary output first and overwrite afterwards.</a:t>
                      </a:r>
                      <a:endParaRPr/>
                    </a:p>
                  </a:txBody>
                  <a:tcPr marL="91440" marR="54864" marT="18288" marB="18288" anchor="ctr">
                    <a:solidFill>
                      <a:srgbClr val="FFFFFF"/>
                    </a:solidFill>
                  </a:tcPr>
                </a:tc>
              </a:tr>
              <a:tr h="530352">
                <a:tc>
                  <a:txBody>
                    <a:bodyPr/>
                    <a:p>
                      <a:pPr>
                        <a:defRPr/>
                      </a:pPr>
                      <a:r>
                        <a:rPr sz="1150" b="1" i="0">
                          <a:solidFill>
                            <a:srgbClr val="5A5A5A"/>
                          </a:solidFill>
                          <a:latin typeface="Segoe UI"/>
                          <a:ea typeface="Segoe UI"/>
                          <a:cs typeface="Segoe UI"/>
                        </a:rPr>
                        <a:t>Does multi-pass merging blow up disk usage?</a:t>
                      </a:r>
                      <a:endParaRPr/>
                    </a:p>
                  </a:txBody>
                  <a:tcPr marL="91440" marR="54864" marT="18288" marB="18288" anchor="ctr">
                    <a:solidFill>
                      <a:srgbClr val="F2F5F8"/>
                    </a:solidFill>
                  </a:tcPr>
                </a:tc>
                <a:tc>
                  <a:txBody>
                    <a:bodyPr/>
                    <a:p>
                      <a:pPr>
                        <a:defRPr/>
                      </a:pPr>
                      <a:r>
                        <a:rPr sz="1150" b="0" i="0">
                          <a:solidFill>
                            <a:srgbClr val="5A5A5A"/>
                          </a:solidFill>
                          <a:latin typeface="Segoe UI"/>
                          <a:ea typeface="Segoe UI"/>
                          <a:cs typeface="Segoe UI"/>
                        </a:rPr>
                        <a:t>Each round unlinks its source runs immediately, so peak temp space stays O(N).</a:t>
                      </a:r>
                      <a:endParaRPr/>
                    </a:p>
                  </a:txBody>
                  <a:tcPr marL="91440" marR="54864" marT="18288" marB="18288" anchor="ctr">
                    <a:solidFill>
                      <a:srgbClr val="F2F5F8"/>
                    </a:solidFill>
                  </a:tcPr>
                </a:tc>
              </a:tr>
              <a:tr h="530352">
                <a:tc>
                  <a:txBody>
                    <a:bodyPr/>
                    <a:p>
                      <a:pPr>
                        <a:defRPr/>
                      </a:pPr>
                      <a:r>
                        <a:rPr sz="1150" b="1" i="0">
                          <a:solidFill>
                            <a:srgbClr val="5A5A5A"/>
                          </a:solidFill>
                          <a:latin typeface="Segoe UI"/>
                          <a:ea typeface="Segoe UI"/>
                          <a:cs typeface="Segoe UI"/>
                        </a:rPr>
                        <a:t>What if -m cannot hold one line?</a:t>
                      </a:r>
                      <a:endParaRPr/>
                    </a:p>
                  </a:txBody>
                  <a:tcPr marL="91440" marR="54864" marT="18288" marB="18288" anchor="ctr">
                    <a:solidFill>
                      <a:srgbClr val="FFFFFF"/>
                    </a:solidFill>
                  </a:tcPr>
                </a:tc>
                <a:tc>
                  <a:txBody>
                    <a:bodyPr/>
                    <a:p>
                      <a:pPr>
                        <a:defRPr/>
                      </a:pPr>
                      <a:r>
                        <a:rPr sz="1150" b="0" i="0">
                          <a:solidFill>
                            <a:srgbClr val="5A5A5A"/>
                          </a:solidFill>
                          <a:latin typeface="Segoe UI"/>
                          <a:ea typeface="Segoe UI"/>
                          <a:cs typeface="Segoe UI"/>
                        </a:rPr>
                        <a:t>MIN_CHUNK_BUDGET guarantees one line plus 256 pointers; otherwise a clear error and a non-zero exit status.</a:t>
                      </a:r>
                      <a:endParaRPr/>
                    </a:p>
                  </a:txBody>
                  <a:tcPr marL="91440" marR="54864" marT="18288" marB="18288" anchor="ctr">
                    <a:solidFill>
                      <a:srgbClr val="FFFFFF"/>
                    </a:solidFill>
                  </a:tcPr>
                </a:tc>
              </a:tr>
            </a:tbl>
          </a:graphicData>
        </a:graphic>
      </p:graphicFrame>
      <p:sp>
        <p:nvSpPr>
          <p:cNvPr id="1364449824" name="TextBox 6"/>
          <p:cNvSpPr txBox="1"/>
          <p:nvPr/>
        </p:nvSpPr>
        <p:spPr bwMode="auto">
          <a:xfrm>
            <a:off x="502920" y="6446520"/>
            <a:ext cx="7315200" cy="274320"/>
          </a:xfrm>
          <a:prstGeom prst="rect">
            <a:avLst/>
          </a:prstGeom>
          <a:noFill/>
        </p:spPr>
        <p:txBody>
          <a:bodyPr wrap="square" lIns="0" tIns="0" rIns="0" bIns="0">
            <a:spAutoFit/>
          </a:bodyPr>
          <a:lstStyle/>
          <a:p>
            <a:pPr>
              <a:lnSpc>
                <a:spcPct val="135000"/>
              </a:lnSpc>
              <a:spcBef>
                <a:spcPts val="0"/>
              </a:spcBef>
              <a:spcAft>
                <a:spcPts val="0"/>
              </a:spcAft>
              <a:defRPr/>
            </a:pPr>
            <a:r>
              <a:rPr sz="1000" b="0" i="0">
                <a:solidFill>
                  <a:srgbClr val="9AA3AD"/>
                </a:solidFill>
                <a:latin typeface="Segoe UI"/>
                <a:ea typeface="Segoe UI"/>
                <a:cs typeface="Segoe UI"/>
              </a:rPr>
              <a:t>esort — External Sort: Design and Implementation</a:t>
            </a:r>
            <a:endParaRPr/>
          </a:p>
        </p:txBody>
      </p:sp>
      <p:sp>
        <p:nvSpPr>
          <p:cNvPr id="1193966314" name="TextBox 7"/>
          <p:cNvSpPr txBox="1"/>
          <p:nvPr/>
        </p:nvSpPr>
        <p:spPr bwMode="auto">
          <a:xfrm>
            <a:off x="10881360" y="6446520"/>
            <a:ext cx="822960" cy="274320"/>
          </a:xfrm>
          <a:prstGeom prst="rect">
            <a:avLst/>
          </a:prstGeom>
          <a:noFill/>
        </p:spPr>
        <p:txBody>
          <a:bodyPr wrap="square" lIns="0" tIns="0" rIns="0" bIns="0">
            <a:spAutoFit/>
          </a:bodyPr>
          <a:lstStyle/>
          <a:p>
            <a:pPr algn="r">
              <a:lnSpc>
                <a:spcPct val="135000"/>
              </a:lnSpc>
              <a:spcBef>
                <a:spcPts val="0"/>
              </a:spcBef>
              <a:spcAft>
                <a:spcPts val="0"/>
              </a:spcAft>
              <a:defRPr/>
            </a:pPr>
            <a:r>
              <a:rPr sz="1000" b="0" i="0">
                <a:solidFill>
                  <a:srgbClr val="9AA3AD"/>
                </a:solidFill>
                <a:latin typeface="Segoe UI"/>
                <a:ea typeface="Segoe UI"/>
                <a:cs typeface="Segoe UI"/>
              </a:rPr>
              <a:t>19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19</Slides>
  <Notes>19</Notes>
  <HiddenSlides>0</HiddenSlides>
  <MMClips>2</MMClips>
  <ScaleCrop>0</ScaleCrop>
  <HeadingPairs>
    <vt:vector size="4" baseType="variant">
      <vt:variant>
        <vt:lpstr>Theme</vt:lpstr>
      </vt:variant>
      <vt:variant>
        <vt:i4>1</vt:i4>
      </vt:variant>
      <vt:variant>
        <vt:lpstr>Slide Titles</vt:lpstr>
      </vt:variant>
      <vt:variant>
        <vt:i4>19</vt:i4>
      </vt:variant>
    </vt:vector>
  </HeadingPairs>
  <TitlesOfParts>
    <vt:vector size="20"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2</cp:revision>
  <dcterms:created xsi:type="dcterms:W3CDTF">2013-01-27T09:14:16Z</dcterms:created>
  <dcterms:modified xsi:type="dcterms:W3CDTF">2026-10-14T18:21:13Z</dcterms:modified>
  <cp:category/>
</cp:coreProperties>
</file>